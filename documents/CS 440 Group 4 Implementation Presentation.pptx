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blation" pitchFamily="2" charset="0"/>
      <p:regular r:id="rId10"/>
    </p:embeddedFont>
    <p:embeddedFont>
      <p:font typeface="Glacial Indifference" pitchFamily="2" charset="0"/>
      <p:regular r:id="rId11"/>
    </p:embeddedFont>
    <p:embeddedFont>
      <p:font typeface="Open Sauce" pitchFamily="2" charset="77"/>
      <p:regular r:id="rId12"/>
    </p:embeddedFont>
    <p:embeddedFont>
      <p:font typeface="Open Sauce Bold" pitchFamily="2" charset="77"/>
      <p:regular r:id="rId13"/>
      <p:bold r:id="rId14"/>
    </p:embeddedFont>
    <p:embeddedFont>
      <p:font typeface="Open Sauce Italics" pitchFamily="2" charset="77"/>
      <p:regular r:id="rId15"/>
      <p: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autoAdjust="0"/>
    <p:restoredTop sz="94576" autoAdjust="0"/>
  </p:normalViewPr>
  <p:slideViewPr>
    <p:cSldViewPr>
      <p:cViewPr varScale="1">
        <p:scale>
          <a:sx n="63" d="100"/>
          <a:sy n="63" d="100"/>
        </p:scale>
        <p:origin x="224" y="6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Lena:</a:t>
            </a:r>
          </a:p>
          <a:p>
            <a:r>
              <a:rPr lang="en-US"/>
              <a:t>Hello everyone! Today we will be introducing you to SubterraView.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Wildlife conservation is facing a serious crisis. Poaching alone kills tens of thousands of animals every year, and it's a problem that's only getting harder to fight. The tools conservationists and researchers currently rely on — things like stationary cameras and manual patrols — are slow, expensive, and can only react after something has already gone wrong. On top of that, researchers trying to study animal behavior have no efficient way to monitor large areas in real time. There's simply no single system that brings together live monitoring, AI-powered detection, and threat response. That's the gap Hawkeye was built to fill.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what is Hawkeye? At its core, Hawkeye is a drone-mounted AI system that detects and identifies animal species in real time as the drone flies over an area. It streams live video directly from a Raspberry Pi camera to a web dashboard that anyone on the same network can access. Every detection gets automatically logged to the cloud with the species name, confidence score, and timestamp — no manual entry needed. The result is one unified platform where researchers and conservationists can monitor wildlife live and dive into historical data all in one place.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Hawkeye runs across two devices. The Raspberry Pi is mounted on the drone and streams live video over Wi-Fi using Flask. That stream is picked up by a laptop, which runs our YOLOv8n convolutional neural network on every incoming frame to detect and identify animals in real time. The model also assigns each detected animal a unique tracking ID across frames, so the same animal is never counted twice. Only detections that hit our 85% confidence threshold get logged — keeping our data clean and minimizing false positives. Those confirmed detections get pushed instantly to our Supabase cloud database with the species name, confidence score, and timestamp. Two devices, one seamless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Hawkeye in action. On the left is the live feed streaming directly from the drone. As detections come in, the dashboard updates automatically in real time — no refresh needed. You can see we're tracking 16 total detections across 6 different species with an average confidence of 94%. The bar chart breaks down detections by species, and the line chart shows activity trends over time. Below that, the heatmap shows when detections are most frequent by hour and day. Every detection is also logged in the bottom right with its species, confidence score, and timestamp — fully filterable and exportable as a CSV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Building Hawkeye taught us a lot. Getting a real-time AI pipeline working across hardware, a cloud database, and a live dashboard was honestly more challenging than we anticipated. One thing that really helped was designing the system modularly from the start — keeping each layer separate made everything easier to build and debug. We did achieve human detection, which is a meaningful first step toward the anti-poaching vision we outlined in our design. Given more time, we'd build on that foundation to trigger real-time alerts to authorities when humans are detected in protected areas. Overall Hawkeye is a proof of concept that shows how accessible drone and AI technology can make a genuine difference in wildlife conservation.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Freeform 2"/>
          <p:cNvSpPr/>
          <p:nvPr/>
        </p:nvSpPr>
        <p:spPr>
          <a:xfrm>
            <a:off x="6622827" y="5525153"/>
            <a:ext cx="5042347" cy="2505800"/>
          </a:xfrm>
          <a:custGeom>
            <a:avLst/>
            <a:gdLst/>
            <a:ahLst/>
            <a:cxnLst/>
            <a:rect l="l" t="t" r="r" b="b"/>
            <a:pathLst>
              <a:path w="5042347" h="2505800">
                <a:moveTo>
                  <a:pt x="0" y="0"/>
                </a:moveTo>
                <a:lnTo>
                  <a:pt x="5042346" y="0"/>
                </a:lnTo>
                <a:lnTo>
                  <a:pt x="5042346" y="2505801"/>
                </a:lnTo>
                <a:lnTo>
                  <a:pt x="0" y="2505801"/>
                </a:lnTo>
                <a:lnTo>
                  <a:pt x="0" y="0"/>
                </a:lnTo>
                <a:close/>
              </a:path>
            </a:pathLst>
          </a:custGeom>
          <a:blipFill>
            <a:blip r:embed="rId3"/>
            <a:stretch>
              <a:fillRect l="-46554" t="-129816" r="-42651" b="-150917"/>
            </a:stretch>
          </a:blipFill>
        </p:spPr>
        <p:txBody>
          <a:bodyPr/>
          <a:lstStyle/>
          <a:p>
            <a:endParaRPr lang="en-US"/>
          </a:p>
        </p:txBody>
      </p:sp>
      <p:sp>
        <p:nvSpPr>
          <p:cNvPr id="3" name="TextBox 3"/>
          <p:cNvSpPr txBox="1"/>
          <p:nvPr/>
        </p:nvSpPr>
        <p:spPr>
          <a:xfrm>
            <a:off x="4319191" y="1891833"/>
            <a:ext cx="9725819" cy="2463198"/>
          </a:xfrm>
          <a:prstGeom prst="rect">
            <a:avLst/>
          </a:prstGeom>
        </p:spPr>
        <p:txBody>
          <a:bodyPr lIns="0" tIns="0" rIns="0" bIns="0" rtlCol="0" anchor="t">
            <a:spAutoFit/>
          </a:bodyPr>
          <a:lstStyle/>
          <a:p>
            <a:pPr algn="ctr">
              <a:lnSpc>
                <a:spcPts val="20160"/>
              </a:lnSpc>
            </a:pPr>
            <a:r>
              <a:rPr lang="en-US" sz="14400" spc="-863">
                <a:solidFill>
                  <a:srgbClr val="545454"/>
                </a:solidFill>
                <a:latin typeface="Glacial Indifference"/>
                <a:ea typeface="Glacial Indifference"/>
                <a:cs typeface="Glacial Indifference"/>
                <a:sym typeface="Glacial Indifference"/>
              </a:rPr>
              <a:t>HawkEye</a:t>
            </a:r>
          </a:p>
        </p:txBody>
      </p:sp>
      <p:sp>
        <p:nvSpPr>
          <p:cNvPr id="4" name="TextBox 4"/>
          <p:cNvSpPr txBox="1"/>
          <p:nvPr/>
        </p:nvSpPr>
        <p:spPr>
          <a:xfrm>
            <a:off x="3577281" y="4452705"/>
            <a:ext cx="11133439" cy="405699"/>
          </a:xfrm>
          <a:prstGeom prst="rect">
            <a:avLst/>
          </a:prstGeom>
        </p:spPr>
        <p:txBody>
          <a:bodyPr lIns="0" tIns="0" rIns="0" bIns="0" rtlCol="0" anchor="t">
            <a:spAutoFit/>
          </a:bodyPr>
          <a:lstStyle/>
          <a:p>
            <a:pPr algn="ctr">
              <a:lnSpc>
                <a:spcPts val="3359"/>
              </a:lnSpc>
            </a:pPr>
            <a:r>
              <a:rPr lang="en-US" sz="2400" b="1" spc="384">
                <a:solidFill>
                  <a:srgbClr val="000000"/>
                </a:solidFill>
                <a:latin typeface="Open Sauce Bold"/>
                <a:ea typeface="Open Sauce Bold"/>
                <a:cs typeface="Open Sauce Bold"/>
                <a:sym typeface="Open Sauce Bold"/>
              </a:rPr>
              <a:t>YOUR HUNT ENDS HERE</a:t>
            </a:r>
          </a:p>
        </p:txBody>
      </p:sp>
      <p:sp>
        <p:nvSpPr>
          <p:cNvPr id="5" name="TextBox 5"/>
          <p:cNvSpPr txBox="1"/>
          <p:nvPr/>
        </p:nvSpPr>
        <p:spPr>
          <a:xfrm>
            <a:off x="4281091" y="1929933"/>
            <a:ext cx="9725819" cy="2463198"/>
          </a:xfrm>
          <a:prstGeom prst="rect">
            <a:avLst/>
          </a:prstGeom>
        </p:spPr>
        <p:txBody>
          <a:bodyPr lIns="0" tIns="0" rIns="0" bIns="0" rtlCol="0" anchor="t">
            <a:spAutoFit/>
          </a:bodyPr>
          <a:lstStyle/>
          <a:p>
            <a:pPr algn="ctr">
              <a:lnSpc>
                <a:spcPts val="20160"/>
              </a:lnSpc>
            </a:pPr>
            <a:r>
              <a:rPr lang="en-US" sz="14400" spc="-863" dirty="0" err="1">
                <a:solidFill>
                  <a:srgbClr val="000000"/>
                </a:solidFill>
                <a:latin typeface="Glacial Indifference"/>
                <a:ea typeface="Glacial Indifference"/>
                <a:cs typeface="Glacial Indifference"/>
                <a:sym typeface="Glacial Indifference"/>
              </a:rPr>
              <a:t>HawkEye</a:t>
            </a:r>
            <a:endParaRPr lang="en-US" sz="14400" spc="-863" dirty="0">
              <a:solidFill>
                <a:srgbClr val="000000"/>
              </a:solidFill>
              <a:latin typeface="Glacial Indifference"/>
              <a:ea typeface="Glacial Indifference"/>
              <a:cs typeface="Glacial Indifference"/>
              <a:sym typeface="Glacial Indifference"/>
            </a:endParaRPr>
          </a:p>
        </p:txBody>
      </p:sp>
      <p:sp>
        <p:nvSpPr>
          <p:cNvPr id="6" name="TextBox 6"/>
          <p:cNvSpPr txBox="1"/>
          <p:nvPr/>
        </p:nvSpPr>
        <p:spPr>
          <a:xfrm>
            <a:off x="327966" y="8970047"/>
            <a:ext cx="17632069" cy="500380"/>
          </a:xfrm>
          <a:prstGeom prst="rect">
            <a:avLst/>
          </a:prstGeom>
        </p:spPr>
        <p:txBody>
          <a:bodyPr lIns="0" tIns="0" rIns="0" bIns="0" rtlCol="0" anchor="t">
            <a:spAutoFit/>
          </a:bodyPr>
          <a:lstStyle/>
          <a:p>
            <a:pPr algn="ctr">
              <a:lnSpc>
                <a:spcPts val="3919"/>
              </a:lnSpc>
            </a:pPr>
            <a:r>
              <a:rPr lang="en-US" sz="2799" spc="55">
                <a:solidFill>
                  <a:srgbClr val="000000"/>
                </a:solidFill>
                <a:latin typeface="Ablation"/>
                <a:ea typeface="Ablation"/>
                <a:cs typeface="Ablation"/>
                <a:sym typeface="Ablation"/>
              </a:rPr>
              <a:t>Ashton Edakkunnathu, Jay Patel, Manan Patel,. Lena Tran</a:t>
            </a:r>
          </a:p>
        </p:txBody>
      </p:sp>
      <p:sp>
        <p:nvSpPr>
          <p:cNvPr id="7" name="TextBox 7"/>
          <p:cNvSpPr txBox="1"/>
          <p:nvPr/>
        </p:nvSpPr>
        <p:spPr>
          <a:xfrm>
            <a:off x="4633648" y="1039061"/>
            <a:ext cx="9411362" cy="500347"/>
          </a:xfrm>
          <a:prstGeom prst="rect">
            <a:avLst/>
          </a:prstGeom>
        </p:spPr>
        <p:txBody>
          <a:bodyPr lIns="0" tIns="0" rIns="0" bIns="0" rtlCol="0" anchor="t">
            <a:spAutoFit/>
          </a:bodyPr>
          <a:lstStyle/>
          <a:p>
            <a:pPr algn="ctr">
              <a:lnSpc>
                <a:spcPts val="3919"/>
              </a:lnSpc>
            </a:pPr>
            <a:r>
              <a:rPr lang="en-US" sz="2799" spc="55" dirty="0">
                <a:solidFill>
                  <a:srgbClr val="000000"/>
                </a:solidFill>
                <a:latin typeface="Ablation"/>
                <a:ea typeface="Ablation"/>
                <a:cs typeface="Ablation"/>
                <a:sym typeface="Ablation"/>
              </a:rPr>
              <a:t>CS 440 (Group 4) - Implementation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73"/>
            <a:ext cx="639328" cy="345416"/>
          </a:xfrm>
          <a:prstGeom prst="rect">
            <a:avLst/>
          </a:prstGeom>
        </p:spPr>
        <p:txBody>
          <a:bodyPr lIns="0" tIns="0" rIns="0" bIns="0" rtlCol="0" anchor="t">
            <a:spAutoFit/>
          </a:bodyPr>
          <a:lstStyle/>
          <a:p>
            <a:pPr algn="r">
              <a:lnSpc>
                <a:spcPts val="2940"/>
              </a:lnSpc>
            </a:pPr>
            <a:r>
              <a:rPr lang="en-US" sz="2100" spc="42" dirty="0">
                <a:solidFill>
                  <a:srgbClr val="000000"/>
                </a:solidFill>
                <a:latin typeface="Ablation"/>
                <a:ea typeface="Ablation"/>
                <a:cs typeface="Ablation"/>
                <a:sym typeface="Ablation"/>
              </a:rPr>
              <a:t>2</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028700" y="3194818"/>
            <a:ext cx="11818000" cy="1179234"/>
          </a:xfrm>
          <a:prstGeom prst="rect">
            <a:avLst/>
          </a:prstGeom>
        </p:spPr>
        <p:txBody>
          <a:bodyPr lIns="0" tIns="0" rIns="0" bIns="0" rtlCol="0" anchor="t">
            <a:spAutoFit/>
          </a:bodyPr>
          <a:lstStyle/>
          <a:p>
            <a:pPr marL="582928" lvl="1" indent="-291464" algn="l">
              <a:lnSpc>
                <a:spcPts val="4859"/>
              </a:lnSpc>
              <a:buFont typeface="Arial"/>
              <a:buChar char="•"/>
            </a:pPr>
            <a:r>
              <a:rPr lang="en-US" sz="2699" spc="161" dirty="0">
                <a:solidFill>
                  <a:srgbClr val="000000"/>
                </a:solidFill>
                <a:latin typeface="Open Sauce"/>
                <a:ea typeface="Open Sauce"/>
                <a:cs typeface="Open Sauce"/>
                <a:sym typeface="Open Sauce"/>
              </a:rPr>
              <a:t>Poaching is a billion-dollar industry that kills tens of thousands of animals every year</a:t>
            </a:r>
          </a:p>
        </p:txBody>
      </p:sp>
      <p:sp>
        <p:nvSpPr>
          <p:cNvPr id="5" name="TextBox 5"/>
          <p:cNvSpPr txBox="1"/>
          <p:nvPr/>
        </p:nvSpPr>
        <p:spPr>
          <a:xfrm>
            <a:off x="1028700" y="4718363"/>
            <a:ext cx="11818000" cy="1165861"/>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Manual wildlife tracking is costly, slow, and limited in coverage for researchers + conservationalists</a:t>
            </a:r>
          </a:p>
        </p:txBody>
      </p:sp>
      <p:sp>
        <p:nvSpPr>
          <p:cNvPr id="6" name="TextBox 6"/>
          <p:cNvSpPr txBox="1"/>
          <p:nvPr/>
        </p:nvSpPr>
        <p:spPr>
          <a:xfrm>
            <a:off x="1028700" y="1424025"/>
            <a:ext cx="8850514" cy="971517"/>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The Problem</a:t>
            </a:r>
          </a:p>
        </p:txBody>
      </p:sp>
      <p:grpSp>
        <p:nvGrpSpPr>
          <p:cNvPr id="7" name="Group 7"/>
          <p:cNvGrpSpPr/>
          <p:nvPr/>
        </p:nvGrpSpPr>
        <p:grpSpPr>
          <a:xfrm>
            <a:off x="12823281" y="2315656"/>
            <a:ext cx="4116355" cy="5655688"/>
            <a:chOff x="0" y="0"/>
            <a:chExt cx="5488474" cy="7540918"/>
          </a:xfrm>
        </p:grpSpPr>
        <p:sp>
          <p:nvSpPr>
            <p:cNvPr id="8" name="Freeform 8"/>
            <p:cNvSpPr/>
            <p:nvPr/>
          </p:nvSpPr>
          <p:spPr>
            <a:xfrm>
              <a:off x="0" y="0"/>
              <a:ext cx="5488474" cy="6553402"/>
            </a:xfrm>
            <a:custGeom>
              <a:avLst/>
              <a:gdLst/>
              <a:ahLst/>
              <a:cxnLst/>
              <a:rect l="l" t="t" r="r" b="b"/>
              <a:pathLst>
                <a:path w="5488474" h="6553402">
                  <a:moveTo>
                    <a:pt x="0" y="0"/>
                  </a:moveTo>
                  <a:lnTo>
                    <a:pt x="5488474" y="0"/>
                  </a:lnTo>
                  <a:lnTo>
                    <a:pt x="5488474" y="6553402"/>
                  </a:lnTo>
                  <a:lnTo>
                    <a:pt x="0" y="6553402"/>
                  </a:lnTo>
                  <a:lnTo>
                    <a:pt x="0" y="0"/>
                  </a:lnTo>
                  <a:close/>
                </a:path>
              </a:pathLst>
            </a:custGeom>
            <a:blipFill>
              <a:blip r:embed="rId3"/>
              <a:stretch>
                <a:fillRect/>
              </a:stretch>
            </a:blipFill>
          </p:spPr>
          <p:txBody>
            <a:bodyPr/>
            <a:lstStyle/>
            <a:p>
              <a:endParaRPr lang="en-US"/>
            </a:p>
          </p:txBody>
        </p:sp>
        <p:sp>
          <p:nvSpPr>
            <p:cNvPr id="9" name="TextBox 9"/>
            <p:cNvSpPr txBox="1"/>
            <p:nvPr/>
          </p:nvSpPr>
          <p:spPr>
            <a:xfrm>
              <a:off x="0" y="6693019"/>
              <a:ext cx="5488474" cy="847899"/>
            </a:xfrm>
            <a:prstGeom prst="rect">
              <a:avLst/>
            </a:prstGeom>
          </p:spPr>
          <p:txBody>
            <a:bodyPr lIns="0" tIns="0" rIns="0" bIns="0" rtlCol="0" anchor="t">
              <a:spAutoFit/>
            </a:bodyPr>
            <a:lstStyle/>
            <a:p>
              <a:pPr algn="l">
                <a:lnSpc>
                  <a:spcPts val="2700"/>
                </a:lnSpc>
              </a:pPr>
              <a:r>
                <a:rPr lang="en-US" sz="1500" i="1" spc="90">
                  <a:solidFill>
                    <a:srgbClr val="000000"/>
                  </a:solidFill>
                  <a:latin typeface="Open Sauce Italics"/>
                  <a:ea typeface="Open Sauce Italics"/>
                  <a:cs typeface="Open Sauce Italics"/>
                  <a:sym typeface="Open Sauce Italics"/>
                </a:rPr>
                <a:t>Kenyan anti-poaching ranger with confescated ivory</a:t>
              </a:r>
            </a:p>
          </p:txBody>
        </p:sp>
      </p:grpSp>
      <p:sp>
        <p:nvSpPr>
          <p:cNvPr id="10" name="TextBox 10"/>
          <p:cNvSpPr txBox="1"/>
          <p:nvPr/>
        </p:nvSpPr>
        <p:spPr>
          <a:xfrm>
            <a:off x="1123950" y="6246173"/>
            <a:ext cx="11818000" cy="1165861"/>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No existing solution combines real-time monitoring, AI detection, and threat response in one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73"/>
            <a:ext cx="639328" cy="345416"/>
          </a:xfrm>
          <a:prstGeom prst="rect">
            <a:avLst/>
          </a:prstGeom>
        </p:spPr>
        <p:txBody>
          <a:bodyPr lIns="0" tIns="0" rIns="0" bIns="0" rtlCol="0" anchor="t">
            <a:spAutoFit/>
          </a:bodyPr>
          <a:lstStyle/>
          <a:p>
            <a:pPr algn="r">
              <a:lnSpc>
                <a:spcPts val="2940"/>
              </a:lnSpc>
            </a:pPr>
            <a:r>
              <a:rPr lang="en-US" sz="2100" spc="42" dirty="0">
                <a:solidFill>
                  <a:srgbClr val="000000"/>
                </a:solidFill>
                <a:latin typeface="Ablation"/>
                <a:ea typeface="Ablation"/>
                <a:cs typeface="Ablation"/>
                <a:sym typeface="Ablation"/>
              </a:rPr>
              <a:t>3</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10911164" y="3138285"/>
            <a:ext cx="6608854" cy="3700958"/>
          </a:xfrm>
          <a:custGeom>
            <a:avLst/>
            <a:gdLst/>
            <a:ahLst/>
            <a:cxnLst/>
            <a:rect l="l" t="t" r="r" b="b"/>
            <a:pathLst>
              <a:path w="6608854" h="3700958">
                <a:moveTo>
                  <a:pt x="0" y="0"/>
                </a:moveTo>
                <a:lnTo>
                  <a:pt x="6608855" y="0"/>
                </a:lnTo>
                <a:lnTo>
                  <a:pt x="6608855" y="3700959"/>
                </a:lnTo>
                <a:lnTo>
                  <a:pt x="0" y="3700959"/>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28700" y="1424025"/>
            <a:ext cx="8850514" cy="971517"/>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HawkEye Overview</a:t>
            </a:r>
          </a:p>
        </p:txBody>
      </p:sp>
      <p:sp>
        <p:nvSpPr>
          <p:cNvPr id="6" name="TextBox 6"/>
          <p:cNvSpPr txBox="1"/>
          <p:nvPr/>
        </p:nvSpPr>
        <p:spPr>
          <a:xfrm>
            <a:off x="1028700" y="2744777"/>
            <a:ext cx="9261579" cy="1165861"/>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A drone system that uses AI to detect and identify animal species in real time</a:t>
            </a:r>
          </a:p>
        </p:txBody>
      </p:sp>
      <p:sp>
        <p:nvSpPr>
          <p:cNvPr id="7" name="TextBox 7"/>
          <p:cNvSpPr txBox="1"/>
          <p:nvPr/>
        </p:nvSpPr>
        <p:spPr>
          <a:xfrm>
            <a:off x="1028700" y="4259872"/>
            <a:ext cx="9261579" cy="1165861"/>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Streams live video from a Raspberry Pi camera to a web dashboard</a:t>
            </a:r>
          </a:p>
        </p:txBody>
      </p:sp>
      <p:sp>
        <p:nvSpPr>
          <p:cNvPr id="8" name="TextBox 8"/>
          <p:cNvSpPr txBox="1"/>
          <p:nvPr/>
        </p:nvSpPr>
        <p:spPr>
          <a:xfrm>
            <a:off x="1028700" y="5673383"/>
            <a:ext cx="9261579" cy="1165861"/>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Logs every detection with species, confidence score, and timestamp to the cloud</a:t>
            </a:r>
          </a:p>
        </p:txBody>
      </p:sp>
      <p:sp>
        <p:nvSpPr>
          <p:cNvPr id="9" name="TextBox 9"/>
          <p:cNvSpPr txBox="1"/>
          <p:nvPr/>
        </p:nvSpPr>
        <p:spPr>
          <a:xfrm>
            <a:off x="1028700" y="7286919"/>
            <a:ext cx="9649153" cy="1165861"/>
          </a:xfrm>
          <a:prstGeom prst="rect">
            <a:avLst/>
          </a:prstGeom>
        </p:spPr>
        <p:txBody>
          <a:bodyPr lIns="0" tIns="0" rIns="0" bIns="0" rtlCol="0" anchor="t">
            <a:spAutoFit/>
          </a:bodyPr>
          <a:lstStyle/>
          <a:p>
            <a:pPr marL="582928" lvl="1" indent="-291464" algn="l">
              <a:lnSpc>
                <a:spcPts val="4859"/>
              </a:lnSpc>
              <a:buFont typeface="Arial"/>
              <a:buChar char="•"/>
            </a:pPr>
            <a:r>
              <a:rPr lang="en-US" sz="2699" spc="161">
                <a:solidFill>
                  <a:srgbClr val="000000"/>
                </a:solidFill>
                <a:latin typeface="Open Sauce"/>
                <a:ea typeface="Open Sauce"/>
                <a:cs typeface="Open Sauce"/>
                <a:sym typeface="Open Sauce"/>
              </a:rPr>
              <a:t>One unified platform for live monitoring and historical data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73"/>
            <a:ext cx="639328" cy="345416"/>
          </a:xfrm>
          <a:prstGeom prst="rect">
            <a:avLst/>
          </a:prstGeom>
        </p:spPr>
        <p:txBody>
          <a:bodyPr lIns="0" tIns="0" rIns="0" bIns="0" rtlCol="0" anchor="t">
            <a:spAutoFit/>
          </a:bodyPr>
          <a:lstStyle/>
          <a:p>
            <a:pPr algn="r">
              <a:lnSpc>
                <a:spcPts val="2940"/>
              </a:lnSpc>
            </a:pPr>
            <a:r>
              <a:rPr lang="en-US" sz="2100" spc="42" dirty="0">
                <a:solidFill>
                  <a:srgbClr val="000000"/>
                </a:solidFill>
                <a:latin typeface="Ablation"/>
                <a:ea typeface="Ablation"/>
                <a:cs typeface="Ablation"/>
                <a:sym typeface="Ablation"/>
              </a:rPr>
              <a:t>4</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AutoShape 4"/>
          <p:cNvSpPr/>
          <p:nvPr/>
        </p:nvSpPr>
        <p:spPr>
          <a:xfrm>
            <a:off x="4525865" y="5195888"/>
            <a:ext cx="1167526" cy="0"/>
          </a:xfrm>
          <a:prstGeom prst="line">
            <a:avLst/>
          </a:prstGeom>
          <a:ln w="104775" cap="rnd">
            <a:solidFill>
              <a:srgbClr val="000000"/>
            </a:solidFill>
            <a:prstDash val="solid"/>
            <a:headEnd type="none" w="sm" len="sm"/>
            <a:tailEnd type="arrow" w="med" len="sm"/>
          </a:ln>
        </p:spPr>
        <p:txBody>
          <a:bodyPr/>
          <a:lstStyle/>
          <a:p>
            <a:endParaRPr lang="en-US"/>
          </a:p>
        </p:txBody>
      </p:sp>
      <p:pic>
        <p:nvPicPr>
          <p:cNvPr id="5" name="Picture 5"/>
          <p:cNvPicPr>
            <a:picLocks noChangeAspect="1"/>
          </p:cNvPicPr>
          <p:nvPr/>
        </p:nvPicPr>
        <p:blipFill>
          <a:blip r:embed="rId3"/>
          <a:stretch>
            <a:fillRect/>
          </a:stretch>
        </p:blipFill>
        <p:spPr>
          <a:xfrm>
            <a:off x="5516261" y="3549342"/>
            <a:ext cx="4549801" cy="3188315"/>
          </a:xfrm>
          <a:prstGeom prst="rect">
            <a:avLst/>
          </a:prstGeom>
        </p:spPr>
      </p:pic>
      <p:sp>
        <p:nvSpPr>
          <p:cNvPr id="6" name="Freeform 6"/>
          <p:cNvSpPr/>
          <p:nvPr/>
        </p:nvSpPr>
        <p:spPr>
          <a:xfrm>
            <a:off x="617147" y="3737816"/>
            <a:ext cx="3699168" cy="2811368"/>
          </a:xfrm>
          <a:custGeom>
            <a:avLst/>
            <a:gdLst/>
            <a:ahLst/>
            <a:cxnLst/>
            <a:rect l="l" t="t" r="r" b="b"/>
            <a:pathLst>
              <a:path w="3699168" h="2811368">
                <a:moveTo>
                  <a:pt x="0" y="0"/>
                </a:moveTo>
                <a:lnTo>
                  <a:pt x="3699168" y="0"/>
                </a:lnTo>
                <a:lnTo>
                  <a:pt x="3699168" y="2811368"/>
                </a:lnTo>
                <a:lnTo>
                  <a:pt x="0" y="2811368"/>
                </a:lnTo>
                <a:lnTo>
                  <a:pt x="0" y="0"/>
                </a:lnTo>
                <a:close/>
              </a:path>
            </a:pathLst>
          </a:custGeom>
          <a:blipFill>
            <a:blip r:embed="rId4"/>
            <a:stretch>
              <a:fillRect/>
            </a:stretch>
          </a:blipFill>
        </p:spPr>
        <p:txBody>
          <a:bodyPr/>
          <a:lstStyle/>
          <a:p>
            <a:endParaRPr lang="en-US"/>
          </a:p>
        </p:txBody>
      </p:sp>
      <p:sp>
        <p:nvSpPr>
          <p:cNvPr id="7" name="AutoShape 7"/>
          <p:cNvSpPr/>
          <p:nvPr/>
        </p:nvSpPr>
        <p:spPr>
          <a:xfrm>
            <a:off x="9686913" y="5195888"/>
            <a:ext cx="1167526" cy="0"/>
          </a:xfrm>
          <a:prstGeom prst="line">
            <a:avLst/>
          </a:prstGeom>
          <a:ln w="104775" cap="rnd">
            <a:solidFill>
              <a:srgbClr val="000000"/>
            </a:solidFill>
            <a:prstDash val="solid"/>
            <a:headEnd type="none" w="sm" len="sm"/>
            <a:tailEnd type="arrow" w="med" len="sm"/>
          </a:ln>
        </p:spPr>
        <p:txBody>
          <a:bodyPr/>
          <a:lstStyle/>
          <a:p>
            <a:endParaRPr lang="en-US"/>
          </a:p>
        </p:txBody>
      </p:sp>
      <p:sp>
        <p:nvSpPr>
          <p:cNvPr id="8" name="Freeform 8"/>
          <p:cNvSpPr/>
          <p:nvPr/>
        </p:nvSpPr>
        <p:spPr>
          <a:xfrm>
            <a:off x="11492613" y="3332351"/>
            <a:ext cx="4541254" cy="3032879"/>
          </a:xfrm>
          <a:custGeom>
            <a:avLst/>
            <a:gdLst/>
            <a:ahLst/>
            <a:cxnLst/>
            <a:rect l="l" t="t" r="r" b="b"/>
            <a:pathLst>
              <a:path w="4541254" h="3032879">
                <a:moveTo>
                  <a:pt x="0" y="0"/>
                </a:moveTo>
                <a:lnTo>
                  <a:pt x="4541254" y="0"/>
                </a:lnTo>
                <a:lnTo>
                  <a:pt x="4541254" y="3032878"/>
                </a:lnTo>
                <a:lnTo>
                  <a:pt x="0" y="3032878"/>
                </a:lnTo>
                <a:lnTo>
                  <a:pt x="0" y="0"/>
                </a:lnTo>
                <a:close/>
              </a:path>
            </a:pathLst>
          </a:custGeom>
          <a:blipFill>
            <a:blip r:embed="rId5"/>
            <a:stretch>
              <a:fillRect r="-36252" b="-1753"/>
            </a:stretch>
          </a:blipFill>
          <a:ln w="38100" cap="sq">
            <a:solidFill>
              <a:srgbClr val="000000"/>
            </a:solidFill>
            <a:prstDash val="solid"/>
            <a:miter/>
          </a:ln>
        </p:spPr>
        <p:txBody>
          <a:bodyPr/>
          <a:lstStyle/>
          <a:p>
            <a:endParaRPr lang="en-US"/>
          </a:p>
        </p:txBody>
      </p:sp>
      <p:sp>
        <p:nvSpPr>
          <p:cNvPr id="9" name="Freeform 9"/>
          <p:cNvSpPr/>
          <p:nvPr/>
        </p:nvSpPr>
        <p:spPr>
          <a:xfrm>
            <a:off x="15454230" y="5322007"/>
            <a:ext cx="1497952" cy="1497952"/>
          </a:xfrm>
          <a:custGeom>
            <a:avLst/>
            <a:gdLst/>
            <a:ahLst/>
            <a:cxnLst/>
            <a:rect l="l" t="t" r="r" b="b"/>
            <a:pathLst>
              <a:path w="1497952" h="1497952">
                <a:moveTo>
                  <a:pt x="0" y="0"/>
                </a:moveTo>
                <a:lnTo>
                  <a:pt x="1497952" y="0"/>
                </a:lnTo>
                <a:lnTo>
                  <a:pt x="1497952" y="1497953"/>
                </a:lnTo>
                <a:lnTo>
                  <a:pt x="0" y="14979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TextBox 10"/>
          <p:cNvSpPr txBox="1"/>
          <p:nvPr/>
        </p:nvSpPr>
        <p:spPr>
          <a:xfrm>
            <a:off x="1028700" y="1423992"/>
            <a:ext cx="10768619"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System Architecture</a:t>
            </a:r>
          </a:p>
        </p:txBody>
      </p:sp>
      <p:sp>
        <p:nvSpPr>
          <p:cNvPr id="11" name="TextBox 11"/>
          <p:cNvSpPr txBox="1"/>
          <p:nvPr/>
        </p:nvSpPr>
        <p:spPr>
          <a:xfrm>
            <a:off x="1048648" y="6667560"/>
            <a:ext cx="2836166" cy="1000125"/>
          </a:xfrm>
          <a:prstGeom prst="rect">
            <a:avLst/>
          </a:prstGeom>
        </p:spPr>
        <p:txBody>
          <a:bodyPr lIns="0" tIns="0" rIns="0" bIns="0" rtlCol="0" anchor="t">
            <a:spAutoFit/>
          </a:bodyPr>
          <a:lstStyle/>
          <a:p>
            <a:pPr algn="ctr">
              <a:lnSpc>
                <a:spcPts val="4859"/>
              </a:lnSpc>
            </a:pPr>
            <a:r>
              <a:rPr lang="en-US" sz="2699" spc="161" dirty="0">
                <a:solidFill>
                  <a:srgbClr val="000000"/>
                </a:solidFill>
                <a:latin typeface="Open Sauce"/>
                <a:ea typeface="Open Sauce"/>
                <a:cs typeface="Open Sauce"/>
                <a:sym typeface="Open Sauce"/>
              </a:rPr>
              <a:t>Raspberry Pi</a:t>
            </a:r>
          </a:p>
          <a:p>
            <a:pPr algn="ctr">
              <a:lnSpc>
                <a:spcPts val="3240"/>
              </a:lnSpc>
            </a:pPr>
            <a:r>
              <a:rPr lang="en-US" sz="1800" i="1" spc="107" dirty="0">
                <a:solidFill>
                  <a:srgbClr val="000000"/>
                </a:solidFill>
                <a:latin typeface="Open Sauce Italics"/>
                <a:ea typeface="Open Sauce Italics"/>
                <a:cs typeface="Open Sauce Italics"/>
                <a:sym typeface="Open Sauce Italics"/>
              </a:rPr>
              <a:t>Camera Stream</a:t>
            </a:r>
          </a:p>
        </p:txBody>
      </p:sp>
      <p:sp>
        <p:nvSpPr>
          <p:cNvPr id="12" name="TextBox 12"/>
          <p:cNvSpPr txBox="1"/>
          <p:nvPr/>
        </p:nvSpPr>
        <p:spPr>
          <a:xfrm>
            <a:off x="5904871" y="6667560"/>
            <a:ext cx="3772582" cy="1000125"/>
          </a:xfrm>
          <a:prstGeom prst="rect">
            <a:avLst/>
          </a:prstGeom>
        </p:spPr>
        <p:txBody>
          <a:bodyPr lIns="0" tIns="0" rIns="0" bIns="0" rtlCol="0" anchor="t">
            <a:spAutoFit/>
          </a:bodyPr>
          <a:lstStyle/>
          <a:p>
            <a:pPr algn="ctr">
              <a:lnSpc>
                <a:spcPts val="4859"/>
              </a:lnSpc>
            </a:pPr>
            <a:r>
              <a:rPr lang="en-US" sz="2699" spc="161">
                <a:solidFill>
                  <a:srgbClr val="000000"/>
                </a:solidFill>
                <a:latin typeface="Open Sauce"/>
                <a:ea typeface="Open Sauce"/>
                <a:cs typeface="Open Sauce"/>
                <a:sym typeface="Open Sauce"/>
              </a:rPr>
              <a:t>Laptop</a:t>
            </a:r>
          </a:p>
          <a:p>
            <a:pPr algn="ctr">
              <a:lnSpc>
                <a:spcPts val="3240"/>
              </a:lnSpc>
            </a:pPr>
            <a:r>
              <a:rPr lang="en-US" sz="1800" i="1" spc="107">
                <a:solidFill>
                  <a:srgbClr val="000000"/>
                </a:solidFill>
                <a:latin typeface="Open Sauce Italics"/>
                <a:ea typeface="Open Sauce Italics"/>
                <a:cs typeface="Open Sauce Italics"/>
                <a:sym typeface="Open Sauce Italics"/>
              </a:rPr>
              <a:t>AI Detection + Dashboard</a:t>
            </a:r>
          </a:p>
        </p:txBody>
      </p:sp>
      <p:sp>
        <p:nvSpPr>
          <p:cNvPr id="13" name="TextBox 13"/>
          <p:cNvSpPr txBox="1"/>
          <p:nvPr/>
        </p:nvSpPr>
        <p:spPr>
          <a:xfrm>
            <a:off x="11876949" y="6667560"/>
            <a:ext cx="3772582" cy="1000125"/>
          </a:xfrm>
          <a:prstGeom prst="rect">
            <a:avLst/>
          </a:prstGeom>
        </p:spPr>
        <p:txBody>
          <a:bodyPr lIns="0" tIns="0" rIns="0" bIns="0" rtlCol="0" anchor="t">
            <a:spAutoFit/>
          </a:bodyPr>
          <a:lstStyle/>
          <a:p>
            <a:pPr algn="ctr">
              <a:lnSpc>
                <a:spcPts val="4859"/>
              </a:lnSpc>
            </a:pPr>
            <a:r>
              <a:rPr lang="en-US" sz="2699" spc="161">
                <a:solidFill>
                  <a:srgbClr val="000000"/>
                </a:solidFill>
                <a:latin typeface="Open Sauce"/>
                <a:ea typeface="Open Sauce"/>
                <a:cs typeface="Open Sauce"/>
                <a:sym typeface="Open Sauce"/>
              </a:rPr>
              <a:t>Supabase</a:t>
            </a:r>
          </a:p>
          <a:p>
            <a:pPr algn="ctr">
              <a:lnSpc>
                <a:spcPts val="3240"/>
              </a:lnSpc>
            </a:pPr>
            <a:r>
              <a:rPr lang="en-US" sz="1800" i="1" spc="107">
                <a:solidFill>
                  <a:srgbClr val="000000"/>
                </a:solidFill>
                <a:latin typeface="Open Sauce Italics"/>
                <a:ea typeface="Open Sauce Italics"/>
                <a:cs typeface="Open Sauce Italics"/>
                <a:sym typeface="Open Sauce Italics"/>
              </a:rPr>
              <a:t>Cloud DB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73"/>
            <a:ext cx="639328" cy="345416"/>
          </a:xfrm>
          <a:prstGeom prst="rect">
            <a:avLst/>
          </a:prstGeom>
        </p:spPr>
        <p:txBody>
          <a:bodyPr lIns="0" tIns="0" rIns="0" bIns="0" rtlCol="0" anchor="t">
            <a:spAutoFit/>
          </a:bodyPr>
          <a:lstStyle/>
          <a:p>
            <a:pPr algn="r">
              <a:lnSpc>
                <a:spcPts val="2940"/>
              </a:lnSpc>
            </a:pPr>
            <a:r>
              <a:rPr lang="en-US" sz="2100" spc="42" dirty="0">
                <a:solidFill>
                  <a:srgbClr val="000000"/>
                </a:solidFill>
                <a:latin typeface="Ablation"/>
                <a:ea typeface="Ablation"/>
                <a:cs typeface="Ablation"/>
                <a:sym typeface="Ablation"/>
              </a:rPr>
              <a:t>5</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028700" y="1423992"/>
            <a:ext cx="10768619"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Demo</a:t>
            </a:r>
          </a:p>
        </p:txBody>
      </p:sp>
      <p:pic>
        <p:nvPicPr>
          <p:cNvPr id="5" name="Picture 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3588" b="3588"/>
          <a:stretch>
            <a:fillRect/>
          </a:stretch>
        </p:blipFill>
        <p:spPr>
          <a:xfrm>
            <a:off x="4041244" y="1028700"/>
            <a:ext cx="13218056" cy="7968682"/>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5"/>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16619972" y="9083073"/>
            <a:ext cx="639328" cy="365694"/>
          </a:xfrm>
          <a:prstGeom prst="rect">
            <a:avLst/>
          </a:prstGeom>
        </p:spPr>
        <p:txBody>
          <a:bodyPr lIns="0" tIns="0" rIns="0" bIns="0" rtlCol="0" anchor="t">
            <a:spAutoFit/>
          </a:bodyPr>
          <a:lstStyle/>
          <a:p>
            <a:pPr algn="r">
              <a:lnSpc>
                <a:spcPts val="2940"/>
              </a:lnSpc>
            </a:pPr>
            <a:r>
              <a:rPr lang="en-US" sz="2100" spc="42">
                <a:solidFill>
                  <a:srgbClr val="000000"/>
                </a:solidFill>
                <a:latin typeface="Ablation"/>
                <a:ea typeface="Ablation"/>
                <a:cs typeface="Ablation"/>
                <a:sym typeface="Ablation"/>
              </a:rPr>
              <a:t>6</a:t>
            </a:r>
          </a:p>
        </p:txBody>
      </p:sp>
      <p:sp>
        <p:nvSpPr>
          <p:cNvPr id="3" name="AutoShape 3"/>
          <p:cNvSpPr/>
          <p:nvPr/>
        </p:nvSpPr>
        <p:spPr>
          <a:xfrm>
            <a:off x="933450" y="9289732"/>
            <a:ext cx="15781772" cy="1905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028700" y="1423992"/>
            <a:ext cx="10768619" cy="971550"/>
          </a:xfrm>
          <a:prstGeom prst="rect">
            <a:avLst/>
          </a:prstGeom>
        </p:spPr>
        <p:txBody>
          <a:bodyPr lIns="0" tIns="0" rIns="0" bIns="0" rtlCol="0" anchor="t">
            <a:spAutoFit/>
          </a:bodyPr>
          <a:lstStyle/>
          <a:p>
            <a:pPr algn="l">
              <a:lnSpc>
                <a:spcPts val="7679"/>
              </a:lnSpc>
            </a:pPr>
            <a:r>
              <a:rPr lang="en-US" sz="6399" b="1" spc="-255">
                <a:solidFill>
                  <a:srgbClr val="000000"/>
                </a:solidFill>
                <a:latin typeface="Open Sauce Bold"/>
                <a:ea typeface="Open Sauce Bold"/>
                <a:cs typeface="Open Sauce Bold"/>
                <a:sym typeface="Open Sauce Bold"/>
              </a:rPr>
              <a:t>Closing Thoughts</a:t>
            </a:r>
          </a:p>
        </p:txBody>
      </p:sp>
      <p:sp>
        <p:nvSpPr>
          <p:cNvPr id="5" name="TextBox 5"/>
          <p:cNvSpPr txBox="1"/>
          <p:nvPr/>
        </p:nvSpPr>
        <p:spPr>
          <a:xfrm>
            <a:off x="1518344" y="3047526"/>
            <a:ext cx="14045669" cy="5433061"/>
          </a:xfrm>
          <a:prstGeom prst="rect">
            <a:avLst/>
          </a:prstGeom>
        </p:spPr>
        <p:txBody>
          <a:bodyPr lIns="0" tIns="0" rIns="0" bIns="0" rtlCol="0" anchor="t">
            <a:spAutoFit/>
          </a:bodyPr>
          <a:lstStyle/>
          <a:p>
            <a:pPr marL="582928" lvl="1" indent="-291464" algn="l">
              <a:lnSpc>
                <a:spcPts val="4859"/>
              </a:lnSpc>
              <a:spcBef>
                <a:spcPct val="0"/>
              </a:spcBef>
              <a:buFont typeface="Arial"/>
              <a:buChar char="•"/>
            </a:pPr>
            <a:r>
              <a:rPr lang="en-US" sz="2699" spc="161">
                <a:solidFill>
                  <a:srgbClr val="000000"/>
                </a:solidFill>
                <a:latin typeface="Open Sauce"/>
                <a:ea typeface="Open Sauce"/>
                <a:cs typeface="Open Sauce"/>
                <a:sym typeface="Open Sauce"/>
              </a:rPr>
              <a:t>A real-time AI pipeline across hardware, cloud, and dashboard was our biggest challenge</a:t>
            </a:r>
          </a:p>
          <a:p>
            <a:pPr algn="l">
              <a:lnSpc>
                <a:spcPts val="4859"/>
              </a:lnSpc>
              <a:spcBef>
                <a:spcPct val="0"/>
              </a:spcBef>
            </a:pPr>
            <a:endParaRPr lang="en-US" sz="2699" spc="161">
              <a:solidFill>
                <a:srgbClr val="000000"/>
              </a:solidFill>
              <a:latin typeface="Open Sauce"/>
              <a:ea typeface="Open Sauce"/>
              <a:cs typeface="Open Sauce"/>
              <a:sym typeface="Open Sauce"/>
            </a:endParaRPr>
          </a:p>
          <a:p>
            <a:pPr marL="582928" lvl="1" indent="-291464" algn="l">
              <a:lnSpc>
                <a:spcPts val="4859"/>
              </a:lnSpc>
              <a:spcBef>
                <a:spcPct val="0"/>
              </a:spcBef>
              <a:buFont typeface="Arial"/>
              <a:buChar char="•"/>
            </a:pPr>
            <a:r>
              <a:rPr lang="en-US" sz="2699" spc="161">
                <a:solidFill>
                  <a:srgbClr val="000000"/>
                </a:solidFill>
                <a:latin typeface="Open Sauce"/>
                <a:ea typeface="Open Sauce"/>
                <a:cs typeface="Open Sauce"/>
                <a:sym typeface="Open Sauce"/>
              </a:rPr>
              <a:t>We achieved human detection as a first step toward our anti-poaching vision</a:t>
            </a:r>
          </a:p>
          <a:p>
            <a:pPr algn="l">
              <a:lnSpc>
                <a:spcPts val="4859"/>
              </a:lnSpc>
              <a:spcBef>
                <a:spcPct val="0"/>
              </a:spcBef>
            </a:pPr>
            <a:endParaRPr lang="en-US" sz="2699" spc="161">
              <a:solidFill>
                <a:srgbClr val="000000"/>
              </a:solidFill>
              <a:latin typeface="Open Sauce"/>
              <a:ea typeface="Open Sauce"/>
              <a:cs typeface="Open Sauce"/>
              <a:sym typeface="Open Sauce"/>
            </a:endParaRPr>
          </a:p>
          <a:p>
            <a:pPr marL="582928" lvl="1" indent="-291464" algn="l">
              <a:lnSpc>
                <a:spcPts val="4859"/>
              </a:lnSpc>
              <a:spcBef>
                <a:spcPct val="0"/>
              </a:spcBef>
              <a:buFont typeface="Arial"/>
              <a:buChar char="•"/>
            </a:pPr>
            <a:r>
              <a:rPr lang="en-US" sz="2699" spc="161">
                <a:solidFill>
                  <a:srgbClr val="000000"/>
                </a:solidFill>
                <a:latin typeface="Open Sauce"/>
                <a:ea typeface="Open Sauce"/>
                <a:cs typeface="Open Sauce"/>
                <a:sym typeface="Open Sauce"/>
              </a:rPr>
              <a:t>Next step would be triggering real-time alerts to authorities when humans are detected</a:t>
            </a:r>
          </a:p>
          <a:p>
            <a:pPr algn="l">
              <a:lnSpc>
                <a:spcPts val="4859"/>
              </a:lnSpc>
              <a:spcBef>
                <a:spcPct val="0"/>
              </a:spcBef>
            </a:pPr>
            <a:endParaRPr lang="en-US" sz="2699" spc="161">
              <a:solidFill>
                <a:srgbClr val="000000"/>
              </a:solidFill>
              <a:latin typeface="Open Sauce"/>
              <a:ea typeface="Open Sauce"/>
              <a:cs typeface="Open Sauce"/>
              <a:sym typeface="Open Sauc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Box 2"/>
          <p:cNvSpPr txBox="1"/>
          <p:nvPr/>
        </p:nvSpPr>
        <p:spPr>
          <a:xfrm>
            <a:off x="2550637" y="2616382"/>
            <a:ext cx="13186719" cy="2472690"/>
          </a:xfrm>
          <a:prstGeom prst="rect">
            <a:avLst/>
          </a:prstGeom>
        </p:spPr>
        <p:txBody>
          <a:bodyPr wrap="square" lIns="0" tIns="0" rIns="0" bIns="0" rtlCol="0" anchor="t">
            <a:spAutoFit/>
          </a:bodyPr>
          <a:lstStyle/>
          <a:p>
            <a:pPr algn="ctr">
              <a:lnSpc>
                <a:spcPts val="20160"/>
              </a:lnSpc>
            </a:pPr>
            <a:r>
              <a:rPr lang="en-US" sz="14400" spc="-863" dirty="0">
                <a:solidFill>
                  <a:srgbClr val="000000"/>
                </a:solidFill>
                <a:latin typeface="Ablation"/>
                <a:ea typeface="Ablation"/>
                <a:cs typeface="Ablation"/>
                <a:sym typeface="Ablation"/>
              </a:rPr>
              <a:t>Thank You</a:t>
            </a:r>
          </a:p>
        </p:txBody>
      </p:sp>
      <p:sp>
        <p:nvSpPr>
          <p:cNvPr id="3" name="TextBox 3"/>
          <p:cNvSpPr txBox="1"/>
          <p:nvPr/>
        </p:nvSpPr>
        <p:spPr>
          <a:xfrm>
            <a:off x="3577278" y="5121729"/>
            <a:ext cx="11133439" cy="405765"/>
          </a:xfrm>
          <a:prstGeom prst="rect">
            <a:avLst/>
          </a:prstGeom>
        </p:spPr>
        <p:txBody>
          <a:bodyPr lIns="0" tIns="0" rIns="0" bIns="0" rtlCol="0" anchor="t">
            <a:spAutoFit/>
          </a:bodyPr>
          <a:lstStyle/>
          <a:p>
            <a:pPr algn="ctr">
              <a:lnSpc>
                <a:spcPts val="3359"/>
              </a:lnSpc>
            </a:pPr>
            <a:r>
              <a:rPr lang="en-US" sz="2400" b="1" spc="384" dirty="0">
                <a:solidFill>
                  <a:srgbClr val="000000"/>
                </a:solidFill>
                <a:latin typeface="Open Sauce Bold"/>
                <a:ea typeface="Open Sauce Bold"/>
                <a:cs typeface="Open Sauce Bold"/>
                <a:sym typeface="Open Sauce Bold"/>
              </a:rPr>
              <a:t>FOR LISTENING =)</a:t>
            </a:r>
          </a:p>
        </p:txBody>
      </p:sp>
      <p:sp>
        <p:nvSpPr>
          <p:cNvPr id="4" name="Freeform 4"/>
          <p:cNvSpPr/>
          <p:nvPr/>
        </p:nvSpPr>
        <p:spPr>
          <a:xfrm>
            <a:off x="6400800" y="6210300"/>
            <a:ext cx="5042347" cy="2505800"/>
          </a:xfrm>
          <a:custGeom>
            <a:avLst/>
            <a:gdLst/>
            <a:ahLst/>
            <a:cxnLst/>
            <a:rect l="l" t="t" r="r" b="b"/>
            <a:pathLst>
              <a:path w="5042347" h="2505800">
                <a:moveTo>
                  <a:pt x="0" y="0"/>
                </a:moveTo>
                <a:lnTo>
                  <a:pt x="5042346" y="0"/>
                </a:lnTo>
                <a:lnTo>
                  <a:pt x="5042346" y="2505800"/>
                </a:lnTo>
                <a:lnTo>
                  <a:pt x="0" y="2505800"/>
                </a:lnTo>
                <a:lnTo>
                  <a:pt x="0" y="0"/>
                </a:lnTo>
                <a:close/>
              </a:path>
            </a:pathLst>
          </a:custGeom>
          <a:blipFill>
            <a:blip r:embed="rId3"/>
            <a:stretch>
              <a:fillRect l="-46554" t="-129816" r="-42651" b="-150917"/>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813</Words>
  <Application>Microsoft Macintosh PowerPoint</Application>
  <PresentationFormat>Custom</PresentationFormat>
  <Paragraphs>58</Paragraphs>
  <Slides>7</Slides>
  <Notes>7</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Glacial Indifference</vt:lpstr>
      <vt:lpstr>Ablation</vt:lpstr>
      <vt:lpstr>Arial</vt:lpstr>
      <vt:lpstr>Calibri</vt:lpstr>
      <vt:lpstr>Open Sauce Italics</vt:lpstr>
      <vt:lpstr>Open Sauce</vt:lpstr>
      <vt:lpstr>Open Sauce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HawkEye Presentation</dc:title>
  <cp:lastModifiedBy>Tran, Lena</cp:lastModifiedBy>
  <cp:revision>2</cp:revision>
  <dcterms:created xsi:type="dcterms:W3CDTF">2006-08-16T00:00:00Z</dcterms:created>
  <dcterms:modified xsi:type="dcterms:W3CDTF">2026-04-27T02:07:39Z</dcterms:modified>
  <dc:identifier>DAHH6Xy-olQ</dc:identifier>
</cp:coreProperties>
</file>