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Open Sauce Bold" charset="1" panose="00000800000000000000"/>
      <p:regular r:id="rId27"/>
    </p:embeddedFont>
    <p:embeddedFont>
      <p:font typeface="Glacial Indifference" charset="1" panose="00000000000000000000"/>
      <p:regular r:id="rId28"/>
    </p:embeddedFont>
    <p:embeddedFont>
      <p:font typeface="Ablation" charset="1" panose="00000000000000000000"/>
      <p:regular r:id="rId29"/>
    </p:embeddedFont>
    <p:embeddedFont>
      <p:font typeface="Open Sauce" charset="1" panose="00000500000000000000"/>
      <p:regular r:id="rId32"/>
    </p:embeddedFont>
    <p:embeddedFont>
      <p:font typeface="Canva Sans" charset="1" panose="020B0503030501040103"/>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fonts/font32.fntdata" Type="http://schemas.openxmlformats.org/officeDocument/2006/relationships/font"/><Relationship Id="rId33" Target="notesSlides/notesSlide4.xml" Type="http://schemas.openxmlformats.org/officeDocument/2006/relationships/notesSlide"/><Relationship Id="rId34" Target="notesSlides/notesSlide5.xml" Type="http://schemas.openxmlformats.org/officeDocument/2006/relationships/notesSlide"/><Relationship Id="rId35" Target="fonts/font35.fntdata" Type="http://schemas.openxmlformats.org/officeDocument/2006/relationships/font"/><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Lena:</a:t>
            </a:r>
          </a:p>
          <a:p>
            <a:r>
              <a:rPr lang="en-US"/>
              <a:t>Hello everyone! Today we will be introducing you to SubterraView.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Lena:</a:t>
            </a:r>
          </a:p>
          <a:p>
            <a:r>
              <a:rPr lang="en-US"/>
              <a:t>To begin, we are going to explore what SubterraView actually 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Lena:</a:t>
            </a:r>
          </a:p>
          <a:p>
            <a:r>
              <a:rPr lang="en-US"/>
              <a:t/>
            </a:r>
          </a:p>
          <a:p>
            <a:r>
              <a:rPr lang="en-US"/>
              <a:t>Every year, construction crews strike underground utility lines that they are unaware of. This causes billions of dollars in damage and places workers' lives at risk. </a:t>
            </a:r>
          </a:p>
          <a:p>
            <a:r>
              <a:rPr lang="en-US"/>
              <a:t/>
            </a:r>
          </a:p>
          <a:p>
            <a:r>
              <a:rPr lang="en-US"/>
              <a:t>The current solution is calling 811, a service that sends someone out to physically mark where lines are buried. </a:t>
            </a:r>
          </a:p>
          <a:p>
            <a:r>
              <a:rPr lang="en-US"/>
              <a:t/>
            </a:r>
          </a:p>
          <a:p>
            <a:r>
              <a:rPr lang="en-US"/>
              <a:t>But with human capabilities and unexpected life events, this usually leads to the process being slow and the markings not being always accurate. </a:t>
            </a:r>
          </a:p>
          <a:p>
            <a:r>
              <a:rPr lang="en-US"/>
              <a:t/>
            </a:r>
          </a:p>
          <a:p>
            <a:r>
              <a:rPr lang="en-US"/>
              <a:t>This system is unreliable, and that's exactly what SubterraView is trying to improve.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Lena - </a:t>
            </a:r>
          </a:p>
          <a:p>
            <a:r>
              <a:rPr lang="en-US"/>
              <a:t>SubterraView is an AR and AI powered smartphone app that gives construction workers, utility crews, and emergency responders a real-time visual of what's buried beneath their feet. </a:t>
            </a:r>
          </a:p>
          <a:p>
            <a:r>
              <a:rPr lang="en-US"/>
              <a:t/>
            </a:r>
          </a:p>
          <a:p>
            <a:r>
              <a:rPr lang="en-US"/>
              <a:t>Instead of waiting days for 811 markings that may not even be accurate, workers can point their phone at the ground and instantly see verified utility lines. </a:t>
            </a:r>
          </a:p>
          <a:p>
            <a:r>
              <a:rPr lang="en-US"/>
              <a:t/>
            </a:r>
          </a:p>
          <a:p>
            <a:r>
              <a:rPr lang="en-US"/>
              <a:t>An AI engine continuously cross-references data sources to make sure what they're seeing is accurate and up to date. </a:t>
            </a:r>
          </a:p>
          <a:p>
            <a:r>
              <a:rPr lang="en-US"/>
              <a:t/>
            </a:r>
          </a:p>
          <a:p>
            <a:r>
              <a:rPr lang="en-US"/>
              <a:t>The system also sends real-time alerts for dangerous subsurface conditions like gas leaks, and field workers can report new findings or discrepancies directly from their phones, keeping the map up-to-date for everyone using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explains the technical implementation of SubterraView.</a:t>
            </a:r>
          </a:p>
          <a:p>
            <a:r>
              <a:rPr lang="en-US"/>
              <a:t/>
            </a:r>
          </a:p>
          <a:p>
            <a:r>
              <a:rPr lang="en-US"/>
              <a:t>It covers the technologies and system components needed to make our solution functional and reliable.</a:t>
            </a:r>
          </a:p>
          <a:p>
            <a:r>
              <a:rPr lang="en-US"/>
              <a:t/>
            </a:r>
          </a:p>
          <a:p>
            <a:r>
              <a:rPr lang="en-US"/>
              <a:t>The system uses a cloud-based architecture, such as Azure or GCP, to store and process underground infrastructure data, making it easier to maintain across users.</a:t>
            </a:r>
          </a:p>
          <a:p>
            <a:r>
              <a:rPr lang="en-US"/>
              <a:t/>
            </a:r>
          </a:p>
          <a:p>
            <a:r>
              <a:rPr lang="en-US"/>
              <a:t>A centralized backend handles AI processing, validation, and authentication.</a:t>
            </a:r>
          </a:p>
          <a:p>
            <a:r>
              <a:rPr lang="en-US"/>
              <a:t/>
            </a:r>
          </a:p>
          <a:p>
            <a:r>
              <a:rPr lang="en-US"/>
              <a:t>A mobile front-end application allows field workers to interact with the system.</a:t>
            </a:r>
          </a:p>
          <a:p>
            <a:r>
              <a:rPr lang="en-US"/>
              <a:t/>
            </a:r>
          </a:p>
          <a:p>
            <a:r>
              <a:rPr lang="en-US"/>
              <a:t>APIs connect our platform to external databases like city infrastructure and utility company records.</a:t>
            </a:r>
          </a:p>
          <a:p>
            <a:r>
              <a:rPr lang="en-US"/>
              <a:t/>
            </a:r>
          </a:p>
          <a:p>
            <a:r>
              <a:rPr lang="en-US"/>
              <a:t>AR frameworks, like ARCore or ARKit, are used to create the underground visualization experience.</a:t>
            </a:r>
          </a:p>
          <a:p>
            <a:r>
              <a:rPr lang="en-US"/>
              <a:t/>
            </a:r>
          </a:p>
          <a:p>
            <a:r>
              <a:rPr lang="en-US"/>
              <a:t>React Native allows cross-platform mobile development.</a:t>
            </a:r>
          </a:p>
          <a:p>
            <a:r>
              <a:rPr lang="en-US"/>
              <a:t/>
            </a:r>
          </a:p>
          <a:p>
            <a:r>
              <a:rPr lang="en-US"/>
              <a:t>Cloud platforms host system services and store infrastructure data.</a:t>
            </a:r>
          </a:p>
          <a:p>
            <a:r>
              <a:rPr lang="en-US"/>
              <a:t/>
            </a:r>
          </a:p>
          <a:p>
            <a:r>
              <a:rPr lang="en-US"/>
              <a:t>Database systems store infrastructure records and crowdsourced reports.</a:t>
            </a:r>
          </a:p>
          <a:p>
            <a:r>
              <a:rPr lang="en-US"/>
              <a:t/>
            </a:r>
          </a:p>
          <a:p>
            <a:r>
              <a:rPr lang="en-US"/>
              <a:t>GraphQL or similar communication tools transfer data efficiently between system components.</a:t>
            </a:r>
          </a:p>
          <a:p>
            <a:r>
              <a:rPr lang="en-US"/>
              <a:t/>
            </a:r>
          </a:p>
          <a:p>
            <a:r>
              <a:rPr lang="en-US"/>
              <a:t>AR mapping combines GPS data with depth modeling.</a:t>
            </a:r>
          </a:p>
          <a:p>
            <a:r>
              <a:rPr lang="en-US"/>
              <a:t/>
            </a:r>
          </a:p>
          <a:p>
            <a:r>
              <a:rPr lang="en-US"/>
              <a:t>GIS technology aligns infrastructure data with real-world locations.</a:t>
            </a:r>
          </a:p>
          <a:p>
            <a:r>
              <a:rPr lang="en-US"/>
              <a:t/>
            </a:r>
          </a:p>
          <a:p>
            <a:r>
              <a:rPr lang="en-US"/>
              <a:t>Users can visually see underground utilities through their smartphone camera.</a:t>
            </a:r>
          </a:p>
          <a:p>
            <a:r>
              <a:rPr lang="en-US"/>
              <a:t/>
            </a:r>
          </a:p>
          <a:p>
            <a:r>
              <a:rPr lang="en-US"/>
              <a:t>IoT sensor units detect hazards like gas leaks or structural instability.</a:t>
            </a:r>
          </a:p>
          <a:p>
            <a:r>
              <a:rPr lang="en-US"/>
              <a:t/>
            </a:r>
          </a:p>
          <a:p>
            <a:r>
              <a:rPr lang="en-US"/>
              <a:t>Sensors communicate through LTE or wireless networks.</a:t>
            </a:r>
          </a:p>
          <a:p>
            <a:r>
              <a:rPr lang="en-US"/>
              <a:t/>
            </a:r>
          </a:p>
          <a:p>
            <a:r>
              <a:rPr lang="en-US"/>
              <a:t>The system sends push notifications and displays real-time hazard alerts in AR.</a:t>
            </a:r>
          </a:p>
          <a:p>
            <a:r>
              <a:rPr lang="en-US"/>
              <a:t/>
            </a:r>
          </a:p>
          <a:p>
            <a:r>
              <a:rPr lang="en-US"/>
              <a:t>AI frameworks like TensorFlow or PyTorch validate infrastructure data.</a:t>
            </a:r>
          </a:p>
          <a:p>
            <a:r>
              <a:rPr lang="en-US"/>
              <a:t/>
            </a:r>
          </a:p>
          <a:p>
            <a:r>
              <a:rPr lang="en-US"/>
              <a:t>AI cross-references multiple data sources and assigns confidence scores.</a:t>
            </a:r>
          </a:p>
          <a:p>
            <a:r>
              <a:rPr lang="en-US"/>
              <a:t/>
            </a:r>
          </a:p>
          <a:p>
            <a:r>
              <a:rPr lang="en-US"/>
              <a:t>Continuous learning allows the system to improve accuracy over time.</a:t>
            </a:r>
          </a:p>
          <a:p>
            <a:r>
              <a:rPr lang="en-US"/>
              <a:t/>
            </a:r>
          </a:p>
          <a:p>
            <a:r>
              <a:rPr lang="en-US"/>
              <a:t>This combination of cloud computing, AR visualization, AI validation, and sensor monitoring creates a scalable and safety-focused underground mapping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learn about our stakeholders &amp; goals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Lena:</a:t>
            </a:r>
          </a:p>
          <a:p>
            <a:r>
              <a:rPr lang="en-US"/>
              <a:t>First, we want at least a 30 percent reduction in accidental utility strikes among users compared to the national average. </a:t>
            </a:r>
          </a:p>
          <a:p>
            <a:r>
              <a:rPr lang="en-US"/>
              <a:t/>
            </a:r>
          </a:p>
          <a:p>
            <a:r>
              <a:rPr lang="en-US"/>
              <a:t>Along with that, the time for pre-excavation preperation is reduced from several days to 24 hours or less. This in itself directly impacts project costs and timelines. </a:t>
            </a:r>
          </a:p>
          <a:p>
            <a:r>
              <a:rPr lang="en-US"/>
              <a:t/>
            </a:r>
          </a:p>
          <a:p>
            <a:r>
              <a:rPr lang="en-US"/>
              <a:t>The AI map needs to hit 90 percent accuracy against verified utility records, because if workers can't trust what they're seeing, they won't use it. </a:t>
            </a:r>
          </a:p>
          <a:p>
            <a:r>
              <a:rPr lang="en-US"/>
              <a:t/>
            </a:r>
          </a:p>
          <a:p>
            <a:r>
              <a:rPr lang="en-US"/>
              <a:t>And fourth, at least 85 percent of hazard alerts need to be acknowledged and acted on within 5 minutes of detection. </a:t>
            </a:r>
          </a:p>
          <a:p>
            <a:r>
              <a:rPr lang="en-US"/>
              <a:t/>
            </a:r>
          </a:p>
          <a:p>
            <a:r>
              <a:rPr lang="en-US"/>
              <a:t>We're using response rate as our measure here because tracking long-term injury reduction takes years of data, but how quickly workers respond to alerts tells us right away whether the system is actually keeping people safe.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talking about stakeholders, SubterraView will have a big range. Our primary clients are public works organizations that purchase and deploy the app. The end users include construction companies, utility field workers, and public works crews who use SubterraView on their devices in the field daily. Beyond these core groups, there can be others like: emergency responders or regular individuals who might want to use SubterraView for backyard projects like installing a pool or planting trees.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lets take a look at the scope.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scope of the work, we're describing the business environment our product lives in, not the product itself. SubterraView operates in underground infrastructure management and worker safety coordination. Today the workflow is usually something involving the crew submitting an 811 request, utilities respond and mark the ground, and crews rely on surface paint and static records while excavating. The problem is this process is slow and fragmented, data can be outdated or inconsistent which causes delays and increases the risk of striking utilities or missing hazards. So the work we focus on is the process of locating, validating, and monitoring underground utility information.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scenario diagram for SubterraView. On the left we have our primary human users. Construction workers use the AR map before and during excavation and can also submit field reports. Field workers do the same from a utility and maintenance perspective. System administrators oversee data accuracy reviews. On the right are the external systems the platform depends on. This includes the utility database, city infrastructure records, and the hazard sensor network that feeds real time alerts into the app. Emergency responders are also on the right since they access the system during incidents. Next we'll walk through a scenario involving a construction worker to show how it all comes together in practice.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this scenario, a construction worker uses SubterraView before excavation begins. Instead of relying solely on 811 markings, he visualizes underground utilities directly through AR. The system helps him adjust the excavation plan to avoid damage. When a hazard is detected, the app immediately alerts him and provides responders with accurate underground mapping. This scenario shows how the product improves safety and efficiency in real-world use.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 for our competition, there are existing solutions such as vGIS and 811 services, but neither provides a complete solution. vGIS focuses primarily on AR visualization using existing BIM and GIS data, but it relies on external records and does not include built-in AI validation, crowdsourced updated, and hazard alerts. As for 811 services, the process is manual and time consuming with no digital AR interface. SubterraView differentiates itself by combining AR visualization, crowdsourced reporting, and an active hazard monitoring system into a single platform.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primary constraint is that SubterraView cannot legally replace mandatory call requests. So to some extent SubterraView must operate as a supplementary tool that enhances efficiency and safety while still requiring to follow excavation laws.</a:t>
            </a:r>
          </a:p>
          <a:p>
            <a:r>
              <a:rPr lang="en-US"/>
              <a:t/>
            </a:r>
          </a:p>
          <a:p>
            <a:r>
              <a:rPr lang="en-US"/>
              <a:t>Even with AI validation, SubterraView cannot guarantee complete accuracy because municipal records are often outdated or incomplete. Our AI can only enhance and validate existing data.</a:t>
            </a:r>
          </a:p>
          <a:p>
            <a:r>
              <a:rPr lang="en-US"/>
              <a:t/>
            </a:r>
          </a:p>
          <a:p>
            <a:r>
              <a:rPr lang="en-US"/>
              <a:t>SubterraView must be compatible with iOS and Android smartphones equipped with GPS and camera capabilities. Additionally, the app requires hazard detection sensors, which may need external hardware integration since most consumer smartphones do not have built-in hazard detection capabilities.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assume users such as construction workers and emergency responders will receive training.</a:t>
            </a:r>
          </a:p>
          <a:p>
            <a:r>
              <a:rPr lang="en-US"/>
              <a:t/>
            </a:r>
          </a:p>
          <a:p>
            <a:r>
              <a:rPr lang="en-US"/>
              <a:t>This training ensures they understand how to use AR visualization, hazard alerts, and reporting tools safely and effectively.</a:t>
            </a:r>
          </a:p>
          <a:p>
            <a:r>
              <a:rPr lang="en-US"/>
              <a:t/>
            </a:r>
          </a:p>
          <a:p>
            <a:r>
              <a:rPr lang="en-US"/>
              <a:t>The system assumes reliable internet access during normal operation.</a:t>
            </a:r>
          </a:p>
          <a:p>
            <a:r>
              <a:rPr lang="en-US"/>
              <a:t/>
            </a:r>
          </a:p>
          <a:p>
            <a:r>
              <a:rPr lang="en-US"/>
              <a:t>Internet connectivity allows real-time infrastructure updates, hazard alerts, and data synchronization.</a:t>
            </a:r>
          </a:p>
          <a:p>
            <a:r>
              <a:rPr lang="en-US"/>
              <a:t/>
            </a:r>
          </a:p>
          <a:p>
            <a:r>
              <a:rPr lang="en-US"/>
              <a:t>We assume utility companies and municipal agencies will allow access to infrastructure data.</a:t>
            </a:r>
          </a:p>
          <a:p>
            <a:r>
              <a:rPr lang="en-US"/>
              <a:t/>
            </a:r>
          </a:p>
          <a:p>
            <a:r>
              <a:rPr lang="en-US"/>
              <a:t>This data is critical for maintaining accurate underground mapping and validation.</a:t>
            </a:r>
          </a:p>
          <a:p>
            <a:r>
              <a:rPr lang="en-US"/>
              <a:t/>
            </a:r>
          </a:p>
          <a:p>
            <a:r>
              <a:rPr lang="en-US"/>
              <a:t>Infrastructure repair, maintenance, and regulatory compliance remain the responsibility of outside organizations.</a:t>
            </a:r>
          </a:p>
          <a:p>
            <a:r>
              <a:rPr lang="en-US"/>
              <a:t/>
            </a:r>
          </a:p>
          <a:p>
            <a:r>
              <a:rPr lang="en-US"/>
              <a:t>SubterraView is designed to support planning, visualization, and safety, not physical infrastructure 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our references.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7.png" Type="http://schemas.openxmlformats.org/officeDocument/2006/relationships/image"/><Relationship Id="rId4"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0.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grpSp>
        <p:nvGrpSpPr>
          <p:cNvPr name="Group 2" id="2"/>
          <p:cNvGrpSpPr/>
          <p:nvPr/>
        </p:nvGrpSpPr>
        <p:grpSpPr>
          <a:xfrm rot="0">
            <a:off x="6477777" y="5489304"/>
            <a:ext cx="5202552" cy="2347518"/>
            <a:chOff x="0" y="0"/>
            <a:chExt cx="6936736" cy="3130023"/>
          </a:xfrm>
        </p:grpSpPr>
        <p:sp>
          <p:nvSpPr>
            <p:cNvPr name="Freeform 3" id="3"/>
            <p:cNvSpPr/>
            <p:nvPr/>
          </p:nvSpPr>
          <p:spPr>
            <a:xfrm flipH="false" flipV="false" rot="0">
              <a:off x="39236" y="837537"/>
              <a:ext cx="6897500" cy="1261668"/>
            </a:xfrm>
            <a:custGeom>
              <a:avLst/>
              <a:gdLst/>
              <a:ahLst/>
              <a:cxnLst/>
              <a:rect r="r" b="b" t="t" l="l"/>
              <a:pathLst>
                <a:path h="1261668" w="6897500">
                  <a:moveTo>
                    <a:pt x="0" y="0"/>
                  </a:moveTo>
                  <a:lnTo>
                    <a:pt x="6897500" y="0"/>
                  </a:lnTo>
                  <a:lnTo>
                    <a:pt x="6897500" y="1261668"/>
                  </a:lnTo>
                  <a:lnTo>
                    <a:pt x="0" y="12616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445427" y="2575659"/>
              <a:ext cx="2613892" cy="564"/>
            </a:xfrm>
            <a:prstGeom prst="line">
              <a:avLst/>
            </a:prstGeom>
            <a:ln cap="flat" w="50800">
              <a:solidFill>
                <a:srgbClr val="000000"/>
              </a:solidFill>
              <a:prstDash val="solid"/>
              <a:headEnd type="none" len="sm" w="sm"/>
              <a:tailEnd type="none" len="sm" w="sm"/>
            </a:ln>
          </p:spPr>
        </p:sp>
        <p:sp>
          <p:nvSpPr>
            <p:cNvPr name="AutoShape 5" id="5"/>
            <p:cNvSpPr/>
            <p:nvPr/>
          </p:nvSpPr>
          <p:spPr>
            <a:xfrm>
              <a:off x="2742005" y="2576224"/>
              <a:ext cx="634628" cy="0"/>
            </a:xfrm>
            <a:prstGeom prst="line">
              <a:avLst/>
            </a:prstGeom>
            <a:ln cap="flat" w="50800">
              <a:solidFill>
                <a:srgbClr val="000000"/>
              </a:solidFill>
              <a:prstDash val="solid"/>
              <a:headEnd type="none" len="sm" w="sm"/>
              <a:tailEnd type="none" len="sm" w="sm"/>
            </a:ln>
          </p:spPr>
        </p:sp>
        <p:sp>
          <p:nvSpPr>
            <p:cNvPr name="AutoShape 6" id="6"/>
            <p:cNvSpPr/>
            <p:nvPr/>
          </p:nvSpPr>
          <p:spPr>
            <a:xfrm flipH="true">
              <a:off x="3462586" y="2355745"/>
              <a:ext cx="0" cy="384430"/>
            </a:xfrm>
            <a:prstGeom prst="line">
              <a:avLst/>
            </a:prstGeom>
            <a:ln cap="flat" w="50800">
              <a:solidFill>
                <a:srgbClr val="000000"/>
              </a:solidFill>
              <a:prstDash val="solid"/>
              <a:headEnd type="none" len="sm" w="sm"/>
              <a:tailEnd type="none" len="sm" w="sm"/>
            </a:ln>
          </p:spPr>
        </p:sp>
        <p:sp>
          <p:nvSpPr>
            <p:cNvPr name="AutoShape 7" id="7"/>
            <p:cNvSpPr/>
            <p:nvPr/>
          </p:nvSpPr>
          <p:spPr>
            <a:xfrm>
              <a:off x="3564186" y="2576224"/>
              <a:ext cx="1649393" cy="0"/>
            </a:xfrm>
            <a:prstGeom prst="line">
              <a:avLst/>
            </a:prstGeom>
            <a:ln cap="flat" w="50800">
              <a:solidFill>
                <a:srgbClr val="000000"/>
              </a:solidFill>
              <a:prstDash val="solid"/>
              <a:headEnd type="none" len="sm" w="sm"/>
              <a:tailEnd type="none" len="sm" w="sm"/>
            </a:ln>
          </p:spPr>
        </p:sp>
        <p:sp>
          <p:nvSpPr>
            <p:cNvPr name="AutoShape 8" id="8"/>
            <p:cNvSpPr/>
            <p:nvPr/>
          </p:nvSpPr>
          <p:spPr>
            <a:xfrm>
              <a:off x="5315179" y="2135475"/>
              <a:ext cx="0" cy="604700"/>
            </a:xfrm>
            <a:prstGeom prst="line">
              <a:avLst/>
            </a:prstGeom>
            <a:ln cap="flat" w="50800">
              <a:solidFill>
                <a:srgbClr val="000000"/>
              </a:solidFill>
              <a:prstDash val="solid"/>
              <a:headEnd type="none" len="sm" w="sm"/>
              <a:tailEnd type="none" len="sm" w="sm"/>
            </a:ln>
          </p:spPr>
        </p:sp>
        <p:sp>
          <p:nvSpPr>
            <p:cNvPr name="AutoShape 9" id="9"/>
            <p:cNvSpPr/>
            <p:nvPr/>
          </p:nvSpPr>
          <p:spPr>
            <a:xfrm flipV="true">
              <a:off x="5416779" y="2576224"/>
              <a:ext cx="1519957" cy="0"/>
            </a:xfrm>
            <a:prstGeom prst="line">
              <a:avLst/>
            </a:prstGeom>
            <a:ln cap="flat" w="50800">
              <a:solidFill>
                <a:srgbClr val="000000"/>
              </a:solidFill>
              <a:prstDash val="solid"/>
              <a:headEnd type="none" len="sm" w="sm"/>
              <a:tailEnd type="none" len="sm" w="sm"/>
            </a:ln>
          </p:spPr>
        </p:sp>
        <p:sp>
          <p:nvSpPr>
            <p:cNvPr name="AutoShape 10" id="10"/>
            <p:cNvSpPr/>
            <p:nvPr/>
          </p:nvSpPr>
          <p:spPr>
            <a:xfrm flipH="true">
              <a:off x="1814905" y="2355745"/>
              <a:ext cx="0" cy="117374"/>
            </a:xfrm>
            <a:prstGeom prst="line">
              <a:avLst/>
            </a:prstGeom>
            <a:ln cap="flat" w="50800">
              <a:solidFill>
                <a:srgbClr val="000000"/>
              </a:solidFill>
              <a:prstDash val="solid"/>
              <a:headEnd type="none" len="sm" w="sm"/>
              <a:tailEnd type="none" len="sm" w="sm"/>
            </a:ln>
          </p:spPr>
        </p:sp>
        <p:sp>
          <p:nvSpPr>
            <p:cNvPr name="AutoShape 11" id="11"/>
            <p:cNvSpPr/>
            <p:nvPr/>
          </p:nvSpPr>
          <p:spPr>
            <a:xfrm flipH="true">
              <a:off x="1814905" y="2677824"/>
              <a:ext cx="0" cy="452200"/>
            </a:xfrm>
            <a:prstGeom prst="line">
              <a:avLst/>
            </a:prstGeom>
            <a:ln cap="flat" w="50800">
              <a:solidFill>
                <a:srgbClr val="000000"/>
              </a:solidFill>
              <a:prstDash val="solid"/>
              <a:headEnd type="none" len="sm" w="sm"/>
              <a:tailEnd type="none" len="sm" w="sm"/>
            </a:ln>
          </p:spPr>
        </p:sp>
        <p:sp>
          <p:nvSpPr>
            <p:cNvPr name="AutoShape 12" id="12"/>
            <p:cNvSpPr/>
            <p:nvPr/>
          </p:nvSpPr>
          <p:spPr>
            <a:xfrm>
              <a:off x="348523" y="2355745"/>
              <a:ext cx="0" cy="384430"/>
            </a:xfrm>
            <a:prstGeom prst="line">
              <a:avLst/>
            </a:prstGeom>
            <a:ln cap="flat" w="50800">
              <a:solidFill>
                <a:srgbClr val="000000"/>
              </a:solidFill>
              <a:prstDash val="solid"/>
              <a:headEnd type="none" len="sm" w="sm"/>
              <a:tailEnd type="none" len="sm" w="sm"/>
            </a:ln>
          </p:spPr>
        </p:sp>
        <p:sp>
          <p:nvSpPr>
            <p:cNvPr name="AutoShape 13" id="13"/>
            <p:cNvSpPr/>
            <p:nvPr/>
          </p:nvSpPr>
          <p:spPr>
            <a:xfrm>
              <a:off x="0" y="2576224"/>
              <a:ext cx="255424" cy="0"/>
            </a:xfrm>
            <a:prstGeom prst="line">
              <a:avLst/>
            </a:prstGeom>
            <a:ln cap="flat" w="50800">
              <a:solidFill>
                <a:srgbClr val="000000"/>
              </a:solidFill>
              <a:prstDash val="solid"/>
              <a:headEnd type="none" len="sm" w="sm"/>
              <a:tailEnd type="none" len="sm" w="sm"/>
            </a:ln>
          </p:spPr>
        </p:sp>
        <p:sp>
          <p:nvSpPr>
            <p:cNvPr name="AutoShape 14" id="14"/>
            <p:cNvSpPr/>
            <p:nvPr/>
          </p:nvSpPr>
          <p:spPr>
            <a:xfrm flipH="true">
              <a:off x="1374319" y="2135475"/>
              <a:ext cx="0" cy="337643"/>
            </a:xfrm>
            <a:prstGeom prst="line">
              <a:avLst/>
            </a:prstGeom>
            <a:ln cap="flat" w="50800">
              <a:solidFill>
                <a:srgbClr val="000000"/>
              </a:solidFill>
              <a:prstDash val="solid"/>
              <a:headEnd type="none" len="sm" w="sm"/>
              <a:tailEnd type="none" len="sm" w="sm"/>
            </a:ln>
          </p:spPr>
        </p:sp>
        <p:sp>
          <p:nvSpPr>
            <p:cNvPr name="AutoShape 15" id="15"/>
            <p:cNvSpPr/>
            <p:nvPr/>
          </p:nvSpPr>
          <p:spPr>
            <a:xfrm flipH="true">
              <a:off x="1374319" y="2677824"/>
              <a:ext cx="0" cy="452200"/>
            </a:xfrm>
            <a:prstGeom prst="line">
              <a:avLst/>
            </a:prstGeom>
            <a:ln cap="flat" w="50800">
              <a:solidFill>
                <a:srgbClr val="000000"/>
              </a:solidFill>
              <a:prstDash val="solid"/>
              <a:headEnd type="none" len="sm" w="sm"/>
              <a:tailEnd type="none" len="sm" w="sm"/>
            </a:ln>
          </p:spPr>
        </p:sp>
        <p:sp>
          <p:nvSpPr>
            <p:cNvPr name="AutoShape 16" id="16"/>
            <p:cNvSpPr/>
            <p:nvPr/>
          </p:nvSpPr>
          <p:spPr>
            <a:xfrm>
              <a:off x="4229151" y="2135475"/>
              <a:ext cx="0" cy="47024"/>
            </a:xfrm>
            <a:prstGeom prst="line">
              <a:avLst/>
            </a:prstGeom>
            <a:ln cap="flat" w="50800">
              <a:solidFill>
                <a:srgbClr val="000000"/>
              </a:solidFill>
              <a:prstDash val="solid"/>
              <a:headEnd type="none" len="sm" w="sm"/>
              <a:tailEnd type="none" len="sm" w="sm"/>
            </a:ln>
          </p:spPr>
        </p:sp>
        <p:sp>
          <p:nvSpPr>
            <p:cNvPr name="AutoShape 17" id="17"/>
            <p:cNvSpPr/>
            <p:nvPr/>
          </p:nvSpPr>
          <p:spPr>
            <a:xfrm>
              <a:off x="4229151" y="2646648"/>
              <a:ext cx="0" cy="483376"/>
            </a:xfrm>
            <a:prstGeom prst="line">
              <a:avLst/>
            </a:prstGeom>
            <a:ln cap="flat" w="50800">
              <a:solidFill>
                <a:srgbClr val="000000"/>
              </a:solidFill>
              <a:prstDash val="solid"/>
              <a:headEnd type="none" len="sm" w="sm"/>
              <a:tailEnd type="none" len="sm" w="sm"/>
            </a:ln>
          </p:spPr>
        </p:sp>
        <p:sp>
          <p:nvSpPr>
            <p:cNvPr name="AutoShape 18" id="18"/>
            <p:cNvSpPr/>
            <p:nvPr/>
          </p:nvSpPr>
          <p:spPr>
            <a:xfrm>
              <a:off x="5" y="2839282"/>
              <a:ext cx="1268067" cy="0"/>
            </a:xfrm>
            <a:prstGeom prst="line">
              <a:avLst/>
            </a:prstGeom>
            <a:ln cap="flat" w="50800">
              <a:solidFill>
                <a:srgbClr val="000000"/>
              </a:solidFill>
              <a:prstDash val="solid"/>
              <a:headEnd type="none" len="sm" w="sm"/>
              <a:tailEnd type="none" len="sm" w="sm"/>
            </a:ln>
          </p:spPr>
        </p:sp>
        <p:sp>
          <p:nvSpPr>
            <p:cNvPr name="AutoShape 19" id="19"/>
            <p:cNvSpPr/>
            <p:nvPr/>
          </p:nvSpPr>
          <p:spPr>
            <a:xfrm>
              <a:off x="348523" y="2941447"/>
              <a:ext cx="0" cy="188577"/>
            </a:xfrm>
            <a:prstGeom prst="line">
              <a:avLst/>
            </a:prstGeom>
            <a:ln cap="flat" w="50800">
              <a:solidFill>
                <a:srgbClr val="000000"/>
              </a:solidFill>
              <a:prstDash val="solid"/>
              <a:headEnd type="none" len="sm" w="sm"/>
              <a:tailEnd type="none" len="sm" w="sm"/>
            </a:ln>
          </p:spPr>
        </p:sp>
        <p:sp>
          <p:nvSpPr>
            <p:cNvPr name="AutoShape 20" id="20"/>
            <p:cNvSpPr/>
            <p:nvPr/>
          </p:nvSpPr>
          <p:spPr>
            <a:xfrm>
              <a:off x="1475919" y="2839282"/>
              <a:ext cx="232322" cy="0"/>
            </a:xfrm>
            <a:prstGeom prst="line">
              <a:avLst/>
            </a:prstGeom>
            <a:ln cap="flat" w="50800">
              <a:solidFill>
                <a:srgbClr val="000000"/>
              </a:solidFill>
              <a:prstDash val="solid"/>
              <a:headEnd type="none" len="sm" w="sm"/>
              <a:tailEnd type="none" len="sm" w="sm"/>
            </a:ln>
          </p:spPr>
        </p:sp>
        <p:sp>
          <p:nvSpPr>
            <p:cNvPr name="AutoShape 21" id="21"/>
            <p:cNvSpPr/>
            <p:nvPr/>
          </p:nvSpPr>
          <p:spPr>
            <a:xfrm>
              <a:off x="1916505" y="2839282"/>
              <a:ext cx="2207911" cy="0"/>
            </a:xfrm>
            <a:prstGeom prst="line">
              <a:avLst/>
            </a:prstGeom>
            <a:ln cap="flat" w="50800">
              <a:solidFill>
                <a:srgbClr val="000000"/>
              </a:solidFill>
              <a:prstDash val="solid"/>
              <a:headEnd type="none" len="sm" w="sm"/>
              <a:tailEnd type="none" len="sm" w="sm"/>
            </a:ln>
          </p:spPr>
        </p:sp>
        <p:sp>
          <p:nvSpPr>
            <p:cNvPr name="AutoShape 22" id="22"/>
            <p:cNvSpPr/>
            <p:nvPr/>
          </p:nvSpPr>
          <p:spPr>
            <a:xfrm>
              <a:off x="3462586" y="2940882"/>
              <a:ext cx="0" cy="189141"/>
            </a:xfrm>
            <a:prstGeom prst="line">
              <a:avLst/>
            </a:prstGeom>
            <a:ln cap="flat" w="50800">
              <a:solidFill>
                <a:srgbClr val="000000"/>
              </a:solidFill>
              <a:prstDash val="solid"/>
              <a:headEnd type="none" len="sm" w="sm"/>
              <a:tailEnd type="none" len="sm" w="sm"/>
            </a:ln>
          </p:spPr>
        </p:sp>
        <p:sp>
          <p:nvSpPr>
            <p:cNvPr name="AutoShape 23" id="23"/>
            <p:cNvSpPr/>
            <p:nvPr/>
          </p:nvSpPr>
          <p:spPr>
            <a:xfrm>
              <a:off x="4330751" y="2839282"/>
              <a:ext cx="2605985" cy="0"/>
            </a:xfrm>
            <a:prstGeom prst="line">
              <a:avLst/>
            </a:prstGeom>
            <a:ln cap="flat" w="50800">
              <a:solidFill>
                <a:srgbClr val="000000"/>
              </a:solidFill>
              <a:prstDash val="solid"/>
              <a:headEnd type="none" len="sm" w="sm"/>
              <a:tailEnd type="none" len="sm" w="sm"/>
            </a:ln>
          </p:spPr>
        </p:sp>
        <p:sp>
          <p:nvSpPr>
            <p:cNvPr name="AutoShape 24" id="24"/>
            <p:cNvSpPr/>
            <p:nvPr/>
          </p:nvSpPr>
          <p:spPr>
            <a:xfrm>
              <a:off x="5315179" y="2902782"/>
              <a:ext cx="0" cy="227241"/>
            </a:xfrm>
            <a:prstGeom prst="line">
              <a:avLst/>
            </a:prstGeom>
            <a:ln cap="flat" w="50800">
              <a:solidFill>
                <a:srgbClr val="000000"/>
              </a:solidFill>
              <a:prstDash val="solid"/>
              <a:headEnd type="none" len="sm" w="sm"/>
              <a:tailEnd type="none" len="sm" w="sm"/>
            </a:ln>
          </p:spPr>
        </p:sp>
        <p:sp>
          <p:nvSpPr>
            <p:cNvPr name="AutoShape 25" id="25"/>
            <p:cNvSpPr/>
            <p:nvPr/>
          </p:nvSpPr>
          <p:spPr>
            <a:xfrm>
              <a:off x="11" y="2271399"/>
              <a:ext cx="1268062" cy="0"/>
            </a:xfrm>
            <a:prstGeom prst="line">
              <a:avLst/>
            </a:prstGeom>
            <a:ln cap="flat" w="50800">
              <a:solidFill>
                <a:srgbClr val="000000"/>
              </a:solidFill>
              <a:prstDash val="solid"/>
              <a:headEnd type="none" len="sm" w="sm"/>
              <a:tailEnd type="none" len="sm" w="sm"/>
            </a:ln>
          </p:spPr>
        </p:sp>
        <p:sp>
          <p:nvSpPr>
            <p:cNvPr name="AutoShape 26" id="26"/>
            <p:cNvSpPr/>
            <p:nvPr/>
          </p:nvSpPr>
          <p:spPr>
            <a:xfrm>
              <a:off x="348523" y="2135475"/>
              <a:ext cx="0" cy="47024"/>
            </a:xfrm>
            <a:prstGeom prst="line">
              <a:avLst/>
            </a:prstGeom>
            <a:ln cap="flat" w="50800">
              <a:solidFill>
                <a:srgbClr val="000000"/>
              </a:solidFill>
              <a:prstDash val="solid"/>
              <a:headEnd type="none" len="sm" w="sm"/>
              <a:tailEnd type="none" len="sm" w="sm"/>
            </a:ln>
          </p:spPr>
        </p:sp>
        <p:sp>
          <p:nvSpPr>
            <p:cNvPr name="AutoShape 27" id="27"/>
            <p:cNvSpPr/>
            <p:nvPr/>
          </p:nvSpPr>
          <p:spPr>
            <a:xfrm>
              <a:off x="1478451" y="2271399"/>
              <a:ext cx="3735128" cy="0"/>
            </a:xfrm>
            <a:prstGeom prst="line">
              <a:avLst/>
            </a:prstGeom>
            <a:ln cap="flat" w="50800">
              <a:solidFill>
                <a:srgbClr val="000000"/>
              </a:solidFill>
              <a:prstDash val="solid"/>
              <a:headEnd type="none" len="sm" w="sm"/>
              <a:tailEnd type="none" len="sm" w="sm"/>
            </a:ln>
          </p:spPr>
        </p:sp>
        <p:sp>
          <p:nvSpPr>
            <p:cNvPr name="AutoShape 28" id="28"/>
            <p:cNvSpPr/>
            <p:nvPr/>
          </p:nvSpPr>
          <p:spPr>
            <a:xfrm>
              <a:off x="1814905" y="2135475"/>
              <a:ext cx="0" cy="47024"/>
            </a:xfrm>
            <a:prstGeom prst="line">
              <a:avLst/>
            </a:prstGeom>
            <a:ln cap="flat" w="50800">
              <a:solidFill>
                <a:srgbClr val="000000"/>
              </a:solidFill>
              <a:prstDash val="solid"/>
              <a:headEnd type="none" len="sm" w="sm"/>
              <a:tailEnd type="none" len="sm" w="sm"/>
            </a:ln>
          </p:spPr>
        </p:sp>
        <p:sp>
          <p:nvSpPr>
            <p:cNvPr name="AutoShape 29" id="29"/>
            <p:cNvSpPr/>
            <p:nvPr/>
          </p:nvSpPr>
          <p:spPr>
            <a:xfrm>
              <a:off x="4229151" y="2355745"/>
              <a:ext cx="0" cy="117374"/>
            </a:xfrm>
            <a:prstGeom prst="line">
              <a:avLst/>
            </a:prstGeom>
            <a:ln cap="flat" w="50800">
              <a:solidFill>
                <a:srgbClr val="000000"/>
              </a:solidFill>
              <a:prstDash val="solid"/>
              <a:headEnd type="none" len="sm" w="sm"/>
              <a:tailEnd type="none" len="sm" w="sm"/>
            </a:ln>
          </p:spPr>
        </p:sp>
        <p:sp>
          <p:nvSpPr>
            <p:cNvPr name="AutoShape 30" id="30"/>
            <p:cNvSpPr/>
            <p:nvPr/>
          </p:nvSpPr>
          <p:spPr>
            <a:xfrm>
              <a:off x="5416779" y="2271399"/>
              <a:ext cx="604520" cy="0"/>
            </a:xfrm>
            <a:prstGeom prst="line">
              <a:avLst/>
            </a:prstGeom>
            <a:ln cap="flat" w="50800">
              <a:solidFill>
                <a:srgbClr val="000000"/>
              </a:solidFill>
              <a:prstDash val="solid"/>
              <a:headEnd type="none" len="sm" w="sm"/>
              <a:tailEnd type="none" len="sm" w="sm"/>
            </a:ln>
          </p:spPr>
        </p:sp>
        <p:sp>
          <p:nvSpPr>
            <p:cNvPr name="AutoShape 31" id="31"/>
            <p:cNvSpPr/>
            <p:nvPr/>
          </p:nvSpPr>
          <p:spPr>
            <a:xfrm>
              <a:off x="3462586" y="2135475"/>
              <a:ext cx="0" cy="47024"/>
            </a:xfrm>
            <a:prstGeom prst="line">
              <a:avLst/>
            </a:prstGeom>
            <a:ln cap="flat" w="50800">
              <a:solidFill>
                <a:srgbClr val="000000"/>
              </a:solidFill>
              <a:prstDash val="solid"/>
              <a:headEnd type="none" len="sm" w="sm"/>
              <a:tailEnd type="none" len="sm" w="sm"/>
            </a:ln>
          </p:spPr>
        </p:sp>
        <p:sp>
          <p:nvSpPr>
            <p:cNvPr name="AutoShape 32" id="32"/>
            <p:cNvSpPr/>
            <p:nvPr/>
          </p:nvSpPr>
          <p:spPr>
            <a:xfrm flipH="true">
              <a:off x="6122899" y="2646648"/>
              <a:ext cx="0" cy="93528"/>
            </a:xfrm>
            <a:prstGeom prst="line">
              <a:avLst/>
            </a:prstGeom>
            <a:ln cap="flat" w="50800">
              <a:solidFill>
                <a:srgbClr val="000000"/>
              </a:solidFill>
              <a:prstDash val="solid"/>
              <a:headEnd type="none" len="sm" w="sm"/>
              <a:tailEnd type="none" len="sm" w="sm"/>
            </a:ln>
          </p:spPr>
        </p:sp>
        <p:sp>
          <p:nvSpPr>
            <p:cNvPr name="AutoShape 33" id="33"/>
            <p:cNvSpPr/>
            <p:nvPr/>
          </p:nvSpPr>
          <p:spPr>
            <a:xfrm>
              <a:off x="6122899" y="2135475"/>
              <a:ext cx="0" cy="337643"/>
            </a:xfrm>
            <a:prstGeom prst="line">
              <a:avLst/>
            </a:prstGeom>
            <a:ln cap="flat" w="50800">
              <a:solidFill>
                <a:srgbClr val="000000"/>
              </a:solidFill>
              <a:prstDash val="solid"/>
              <a:headEnd type="none" len="sm" w="sm"/>
              <a:tailEnd type="none" len="sm" w="sm"/>
            </a:ln>
          </p:spPr>
        </p:sp>
        <p:sp>
          <p:nvSpPr>
            <p:cNvPr name="AutoShape 34" id="34"/>
            <p:cNvSpPr/>
            <p:nvPr/>
          </p:nvSpPr>
          <p:spPr>
            <a:xfrm>
              <a:off x="6224499" y="2271399"/>
              <a:ext cx="712237" cy="0"/>
            </a:xfrm>
            <a:prstGeom prst="line">
              <a:avLst/>
            </a:prstGeom>
            <a:ln cap="flat" w="50800">
              <a:solidFill>
                <a:srgbClr val="000000"/>
              </a:solidFill>
              <a:prstDash val="solid"/>
              <a:headEnd type="none" len="sm" w="sm"/>
              <a:tailEnd type="none" len="sm" w="sm"/>
            </a:ln>
          </p:spPr>
        </p:sp>
        <p:sp>
          <p:nvSpPr>
            <p:cNvPr name="AutoShape 35" id="35"/>
            <p:cNvSpPr/>
            <p:nvPr/>
          </p:nvSpPr>
          <p:spPr>
            <a:xfrm>
              <a:off x="6122899" y="2902782"/>
              <a:ext cx="0" cy="227241"/>
            </a:xfrm>
            <a:prstGeom prst="line">
              <a:avLst/>
            </a:prstGeom>
            <a:ln cap="flat" w="50800">
              <a:solidFill>
                <a:srgbClr val="000000"/>
              </a:solidFill>
              <a:prstDash val="solid"/>
              <a:headEnd type="none" len="sm" w="sm"/>
              <a:tailEnd type="none" len="sm" w="sm"/>
            </a:ln>
          </p:spPr>
        </p:sp>
        <p:sp>
          <p:nvSpPr>
            <p:cNvPr name="Freeform 36" id="36"/>
            <p:cNvSpPr/>
            <p:nvPr/>
          </p:nvSpPr>
          <p:spPr>
            <a:xfrm flipH="false" flipV="false" rot="0">
              <a:off x="2099108" y="0"/>
              <a:ext cx="426825" cy="1042783"/>
            </a:xfrm>
            <a:custGeom>
              <a:avLst/>
              <a:gdLst/>
              <a:ahLst/>
              <a:cxnLst/>
              <a:rect r="r" b="b" t="t" l="l"/>
              <a:pathLst>
                <a:path h="1042783" w="426825">
                  <a:moveTo>
                    <a:pt x="0" y="0"/>
                  </a:moveTo>
                  <a:lnTo>
                    <a:pt x="426825" y="0"/>
                  </a:lnTo>
                  <a:lnTo>
                    <a:pt x="426825" y="1042783"/>
                  </a:lnTo>
                  <a:lnTo>
                    <a:pt x="0" y="1042783"/>
                  </a:lnTo>
                  <a:lnTo>
                    <a:pt x="0" y="0"/>
                  </a:lnTo>
                  <a:close/>
                </a:path>
              </a:pathLst>
            </a:custGeom>
            <a:blipFill>
              <a:blip r:embed="rId5">
                <a:extLst>
                  <a:ext uri="{96DAC541-7B7A-43D3-8B79-37D633B846F1}">
                    <asvg:svgBlip xmlns:asvg="http://schemas.microsoft.com/office/drawing/2016/SVG/main" r:embed="rId6"/>
                  </a:ext>
                </a:extLst>
              </a:blip>
              <a:stretch>
                <a:fillRect l="0" t="-33086" r="-225146" b="0"/>
              </a:stretch>
            </a:blipFill>
          </p:spPr>
        </p:sp>
        <p:sp>
          <p:nvSpPr>
            <p:cNvPr name="Freeform 37" id="37"/>
            <p:cNvSpPr/>
            <p:nvPr/>
          </p:nvSpPr>
          <p:spPr>
            <a:xfrm flipH="false" flipV="false" rot="0">
              <a:off x="687053" y="242091"/>
              <a:ext cx="826348" cy="1190893"/>
            </a:xfrm>
            <a:custGeom>
              <a:avLst/>
              <a:gdLst/>
              <a:ahLst/>
              <a:cxnLst/>
              <a:rect r="r" b="b" t="t" l="l"/>
              <a:pathLst>
                <a:path h="1190893" w="826348">
                  <a:moveTo>
                    <a:pt x="0" y="0"/>
                  </a:moveTo>
                  <a:lnTo>
                    <a:pt x="826347" y="0"/>
                  </a:lnTo>
                  <a:lnTo>
                    <a:pt x="826347" y="1190893"/>
                  </a:lnTo>
                  <a:lnTo>
                    <a:pt x="0" y="1190893"/>
                  </a:lnTo>
                  <a:lnTo>
                    <a:pt x="0" y="0"/>
                  </a:lnTo>
                  <a:close/>
                </a:path>
              </a:pathLst>
            </a:custGeom>
            <a:blipFill>
              <a:blip r:embed="rId7"/>
              <a:stretch>
                <a:fillRect l="-49730" t="0" r="0" b="0"/>
              </a:stretch>
            </a:blipFill>
          </p:spPr>
        </p:sp>
        <p:sp>
          <p:nvSpPr>
            <p:cNvPr name="Freeform 38" id="38"/>
            <p:cNvSpPr/>
            <p:nvPr/>
          </p:nvSpPr>
          <p:spPr>
            <a:xfrm flipH="false" flipV="false" rot="0">
              <a:off x="1635901" y="0"/>
              <a:ext cx="425647" cy="1387807"/>
            </a:xfrm>
            <a:custGeom>
              <a:avLst/>
              <a:gdLst/>
              <a:ahLst/>
              <a:cxnLst/>
              <a:rect r="r" b="b" t="t" l="l"/>
              <a:pathLst>
                <a:path h="1387807" w="425647">
                  <a:moveTo>
                    <a:pt x="0" y="0"/>
                  </a:moveTo>
                  <a:lnTo>
                    <a:pt x="425647" y="0"/>
                  </a:lnTo>
                  <a:lnTo>
                    <a:pt x="425647" y="1387807"/>
                  </a:lnTo>
                  <a:lnTo>
                    <a:pt x="0" y="1387807"/>
                  </a:lnTo>
                  <a:lnTo>
                    <a:pt x="0" y="0"/>
                  </a:lnTo>
                  <a:close/>
                </a:path>
              </a:pathLst>
            </a:custGeom>
            <a:blipFill>
              <a:blip r:embed="rId5">
                <a:extLst>
                  <a:ext uri="{96DAC541-7B7A-43D3-8B79-37D633B846F1}">
                    <asvg:svgBlip xmlns:asvg="http://schemas.microsoft.com/office/drawing/2016/SVG/main" r:embed="rId6"/>
                  </a:ext>
                </a:extLst>
              </a:blip>
              <a:stretch>
                <a:fillRect l="-226046" t="0" r="0" b="0"/>
              </a:stretch>
            </a:blipFill>
          </p:spPr>
        </p:sp>
        <p:sp>
          <p:nvSpPr>
            <p:cNvPr name="Freeform 39" id="39"/>
            <p:cNvSpPr/>
            <p:nvPr/>
          </p:nvSpPr>
          <p:spPr>
            <a:xfrm flipH="false" flipV="false" rot="0">
              <a:off x="5027928" y="277651"/>
              <a:ext cx="383635" cy="918250"/>
            </a:xfrm>
            <a:custGeom>
              <a:avLst/>
              <a:gdLst/>
              <a:ahLst/>
              <a:cxnLst/>
              <a:rect r="r" b="b" t="t" l="l"/>
              <a:pathLst>
                <a:path h="918250" w="383635">
                  <a:moveTo>
                    <a:pt x="0" y="0"/>
                  </a:moveTo>
                  <a:lnTo>
                    <a:pt x="383635" y="0"/>
                  </a:lnTo>
                  <a:lnTo>
                    <a:pt x="383635" y="918250"/>
                  </a:lnTo>
                  <a:lnTo>
                    <a:pt x="0" y="918250"/>
                  </a:lnTo>
                  <a:lnTo>
                    <a:pt x="0" y="0"/>
                  </a:lnTo>
                  <a:close/>
                </a:path>
              </a:pathLst>
            </a:custGeom>
            <a:blipFill>
              <a:blip r:embed="rId8">
                <a:extLst>
                  <a:ext uri="{96DAC541-7B7A-43D3-8B79-37D633B846F1}">
                    <asvg:svgBlip xmlns:asvg="http://schemas.microsoft.com/office/drawing/2016/SVG/main" r:embed="rId9"/>
                  </a:ext>
                </a:extLst>
              </a:blip>
              <a:stretch>
                <a:fillRect l="0" t="0" r="-229938" b="0"/>
              </a:stretch>
            </a:blipFill>
          </p:spPr>
        </p:sp>
        <p:sp>
          <p:nvSpPr>
            <p:cNvPr name="Freeform 40" id="40"/>
            <p:cNvSpPr/>
            <p:nvPr/>
          </p:nvSpPr>
          <p:spPr>
            <a:xfrm flipH="false" flipV="false" rot="0">
              <a:off x="4933948" y="277651"/>
              <a:ext cx="374123" cy="918250"/>
            </a:xfrm>
            <a:custGeom>
              <a:avLst/>
              <a:gdLst/>
              <a:ahLst/>
              <a:cxnLst/>
              <a:rect r="r" b="b" t="t" l="l"/>
              <a:pathLst>
                <a:path h="918250" w="374123">
                  <a:moveTo>
                    <a:pt x="0" y="0"/>
                  </a:moveTo>
                  <a:lnTo>
                    <a:pt x="374123" y="0"/>
                  </a:lnTo>
                  <a:lnTo>
                    <a:pt x="374123" y="918250"/>
                  </a:lnTo>
                  <a:lnTo>
                    <a:pt x="0" y="918250"/>
                  </a:lnTo>
                  <a:lnTo>
                    <a:pt x="0" y="0"/>
                  </a:lnTo>
                  <a:close/>
                </a:path>
              </a:pathLst>
            </a:custGeom>
            <a:blipFill>
              <a:blip r:embed="rId8">
                <a:extLst>
                  <a:ext uri="{96DAC541-7B7A-43D3-8B79-37D633B846F1}">
                    <asvg:svgBlip xmlns:asvg="http://schemas.microsoft.com/office/drawing/2016/SVG/main" r:embed="rId9"/>
                  </a:ext>
                </a:extLst>
              </a:blip>
              <a:stretch>
                <a:fillRect l="-238326" t="0" r="0" b="0"/>
              </a:stretch>
            </a:blipFill>
          </p:spPr>
        </p:sp>
        <p:sp>
          <p:nvSpPr>
            <p:cNvPr name="Freeform 41" id="41"/>
            <p:cNvSpPr/>
            <p:nvPr/>
          </p:nvSpPr>
          <p:spPr>
            <a:xfrm flipH="false" flipV="false" rot="0">
              <a:off x="3698030" y="477549"/>
              <a:ext cx="777372" cy="819070"/>
            </a:xfrm>
            <a:custGeom>
              <a:avLst/>
              <a:gdLst/>
              <a:ahLst/>
              <a:cxnLst/>
              <a:rect r="r" b="b" t="t" l="l"/>
              <a:pathLst>
                <a:path h="819070" w="777372">
                  <a:moveTo>
                    <a:pt x="0" y="0"/>
                  </a:moveTo>
                  <a:lnTo>
                    <a:pt x="777373" y="0"/>
                  </a:lnTo>
                  <a:lnTo>
                    <a:pt x="777373" y="819070"/>
                  </a:lnTo>
                  <a:lnTo>
                    <a:pt x="0" y="8190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2" id="42"/>
            <p:cNvSpPr/>
            <p:nvPr/>
          </p:nvSpPr>
          <p:spPr>
            <a:xfrm flipH="false" flipV="false" rot="0">
              <a:off x="4488103" y="587210"/>
              <a:ext cx="426720" cy="918250"/>
            </a:xfrm>
            <a:custGeom>
              <a:avLst/>
              <a:gdLst/>
              <a:ahLst/>
              <a:cxnLst/>
              <a:rect r="r" b="b" t="t" l="l"/>
              <a:pathLst>
                <a:path h="918250" w="426720">
                  <a:moveTo>
                    <a:pt x="0" y="0"/>
                  </a:moveTo>
                  <a:lnTo>
                    <a:pt x="426720" y="0"/>
                  </a:lnTo>
                  <a:lnTo>
                    <a:pt x="426720" y="918250"/>
                  </a:lnTo>
                  <a:lnTo>
                    <a:pt x="0" y="918250"/>
                  </a:lnTo>
                  <a:lnTo>
                    <a:pt x="0" y="0"/>
                  </a:lnTo>
                  <a:close/>
                </a:path>
              </a:pathLst>
            </a:custGeom>
            <a:blipFill>
              <a:blip r:embed="rId8">
                <a:extLst>
                  <a:ext uri="{96DAC541-7B7A-43D3-8B79-37D633B846F1}">
                    <asvg:svgBlip xmlns:asvg="http://schemas.microsoft.com/office/drawing/2016/SVG/main" r:embed="rId9"/>
                  </a:ext>
                </a:extLst>
              </a:blip>
              <a:stretch>
                <a:fillRect l="-98236" t="0" r="-98388" b="0"/>
              </a:stretch>
            </a:blipFill>
          </p:spPr>
        </p:sp>
      </p:grpSp>
      <p:sp>
        <p:nvSpPr>
          <p:cNvPr name="TextBox 43" id="43"/>
          <p:cNvSpPr txBox="true"/>
          <p:nvPr/>
        </p:nvSpPr>
        <p:spPr>
          <a:xfrm rot="0">
            <a:off x="3577281" y="4452705"/>
            <a:ext cx="11133439" cy="405765"/>
          </a:xfrm>
          <a:prstGeom prst="rect">
            <a:avLst/>
          </a:prstGeom>
        </p:spPr>
        <p:txBody>
          <a:bodyPr anchor="t" rtlCol="false" tIns="0" lIns="0" bIns="0" rIns="0">
            <a:spAutoFit/>
          </a:bodyPr>
          <a:lstStyle/>
          <a:p>
            <a:pPr algn="ctr">
              <a:lnSpc>
                <a:spcPts val="3359"/>
              </a:lnSpc>
            </a:pPr>
            <a:r>
              <a:rPr lang="en-US" b="true" sz="2400" spc="384">
                <a:solidFill>
                  <a:srgbClr val="000000"/>
                </a:solidFill>
                <a:latin typeface="Open Sauce Bold"/>
                <a:ea typeface="Open Sauce Bold"/>
                <a:cs typeface="Open Sauce Bold"/>
                <a:sym typeface="Open Sauce Bold"/>
              </a:rPr>
              <a:t>MAPP</a:t>
            </a:r>
            <a:r>
              <a:rPr lang="en-US" b="true" sz="2400" spc="384">
                <a:solidFill>
                  <a:srgbClr val="000000"/>
                </a:solidFill>
                <a:latin typeface="Open Sauce Bold"/>
                <a:ea typeface="Open Sauce Bold"/>
                <a:cs typeface="Open Sauce Bold"/>
                <a:sym typeface="Open Sauce Bold"/>
              </a:rPr>
              <a:t>ING THE UNDERGROUND WORLD</a:t>
            </a:r>
          </a:p>
        </p:txBody>
      </p:sp>
      <p:sp>
        <p:nvSpPr>
          <p:cNvPr name="TextBox 44" id="44"/>
          <p:cNvSpPr txBox="true"/>
          <p:nvPr/>
        </p:nvSpPr>
        <p:spPr>
          <a:xfrm rot="0">
            <a:off x="4319191" y="1891833"/>
            <a:ext cx="9725819" cy="2463165"/>
          </a:xfrm>
          <a:prstGeom prst="rect">
            <a:avLst/>
          </a:prstGeom>
        </p:spPr>
        <p:txBody>
          <a:bodyPr anchor="t" rtlCol="false" tIns="0" lIns="0" bIns="0" rIns="0">
            <a:spAutoFit/>
          </a:bodyPr>
          <a:lstStyle/>
          <a:p>
            <a:pPr algn="ctr">
              <a:lnSpc>
                <a:spcPts val="20160"/>
              </a:lnSpc>
            </a:pPr>
            <a:r>
              <a:rPr lang="en-US" sz="14400" spc="-863">
                <a:solidFill>
                  <a:srgbClr val="545454"/>
                </a:solidFill>
                <a:latin typeface="Glacial Indifference"/>
                <a:ea typeface="Glacial Indifference"/>
                <a:cs typeface="Glacial Indifference"/>
                <a:sym typeface="Glacial Indifference"/>
              </a:rPr>
              <a:t>SubterraView</a:t>
            </a:r>
          </a:p>
        </p:txBody>
      </p:sp>
      <p:sp>
        <p:nvSpPr>
          <p:cNvPr name="TextBox 45" id="45"/>
          <p:cNvSpPr txBox="true"/>
          <p:nvPr/>
        </p:nvSpPr>
        <p:spPr>
          <a:xfrm rot="0">
            <a:off x="4281091" y="1929933"/>
            <a:ext cx="9725819" cy="2463165"/>
          </a:xfrm>
          <a:prstGeom prst="rect">
            <a:avLst/>
          </a:prstGeom>
        </p:spPr>
        <p:txBody>
          <a:bodyPr anchor="t" rtlCol="false" tIns="0" lIns="0" bIns="0" rIns="0">
            <a:spAutoFit/>
          </a:bodyPr>
          <a:lstStyle/>
          <a:p>
            <a:pPr algn="ctr">
              <a:lnSpc>
                <a:spcPts val="20160"/>
              </a:lnSpc>
            </a:pPr>
            <a:r>
              <a:rPr lang="en-US" sz="14400" spc="-863">
                <a:solidFill>
                  <a:srgbClr val="000000"/>
                </a:solidFill>
                <a:latin typeface="Glacial Indifference"/>
                <a:ea typeface="Glacial Indifference"/>
                <a:cs typeface="Glacial Indifference"/>
                <a:sym typeface="Glacial Indifference"/>
              </a:rPr>
              <a:t>SubterraView</a:t>
            </a:r>
          </a:p>
        </p:txBody>
      </p:sp>
      <p:sp>
        <p:nvSpPr>
          <p:cNvPr name="TextBox 46" id="46"/>
          <p:cNvSpPr txBox="true"/>
          <p:nvPr/>
        </p:nvSpPr>
        <p:spPr>
          <a:xfrm rot="0">
            <a:off x="327966" y="8970047"/>
            <a:ext cx="17632069" cy="500306"/>
          </a:xfrm>
          <a:prstGeom prst="rect">
            <a:avLst/>
          </a:prstGeom>
        </p:spPr>
        <p:txBody>
          <a:bodyPr anchor="t" rtlCol="false" tIns="0" lIns="0" bIns="0" rIns="0">
            <a:spAutoFit/>
          </a:bodyPr>
          <a:lstStyle/>
          <a:p>
            <a:pPr algn="ctr">
              <a:lnSpc>
                <a:spcPts val="3919"/>
              </a:lnSpc>
            </a:pPr>
            <a:r>
              <a:rPr lang="en-US" sz="2799" spc="55">
                <a:solidFill>
                  <a:srgbClr val="000000"/>
                </a:solidFill>
                <a:latin typeface="Ablation"/>
                <a:ea typeface="Ablation"/>
                <a:cs typeface="Ablation"/>
                <a:sym typeface="Ablation"/>
              </a:rPr>
              <a:t>Ashton Edakkunnathu, Jay Patel, Manan Patel,. Lena Tran</a:t>
            </a:r>
          </a:p>
        </p:txBody>
      </p:sp>
      <p:sp>
        <p:nvSpPr>
          <p:cNvPr name="TextBox 47" id="47"/>
          <p:cNvSpPr txBox="true"/>
          <p:nvPr/>
        </p:nvSpPr>
        <p:spPr>
          <a:xfrm rot="0">
            <a:off x="4633648" y="1039028"/>
            <a:ext cx="9096905" cy="500380"/>
          </a:xfrm>
          <a:prstGeom prst="rect">
            <a:avLst/>
          </a:prstGeom>
        </p:spPr>
        <p:txBody>
          <a:bodyPr anchor="t" rtlCol="false" tIns="0" lIns="0" bIns="0" rIns="0">
            <a:spAutoFit/>
          </a:bodyPr>
          <a:lstStyle/>
          <a:p>
            <a:pPr algn="ctr">
              <a:lnSpc>
                <a:spcPts val="3919"/>
              </a:lnSpc>
            </a:pPr>
            <a:r>
              <a:rPr lang="en-US" sz="2799" spc="55">
                <a:solidFill>
                  <a:srgbClr val="000000"/>
                </a:solidFill>
                <a:latin typeface="Ablation"/>
                <a:ea typeface="Ablation"/>
                <a:cs typeface="Ablation"/>
                <a:sym typeface="Ablation"/>
              </a:rPr>
              <a:t>CS 440 (Group 4) - Design Project Part 1</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583233" y="4996654"/>
            <a:ext cx="10452483" cy="1620176"/>
          </a:xfrm>
          <a:prstGeom prst="rect">
            <a:avLst/>
          </a:prstGeom>
        </p:spPr>
        <p:txBody>
          <a:bodyPr anchor="t" rtlCol="false" tIns="0" lIns="0" bIns="0" rIns="0">
            <a:spAutoFit/>
          </a:bodyPr>
          <a:lstStyle/>
          <a:p>
            <a:pPr algn="l">
              <a:lnSpc>
                <a:spcPts val="13839"/>
              </a:lnSpc>
            </a:pPr>
            <a:r>
              <a:rPr lang="en-US" b="true" sz="8649" spc="518">
                <a:solidFill>
                  <a:srgbClr val="000000"/>
                </a:solidFill>
                <a:latin typeface="Open Sauce Bold"/>
                <a:ea typeface="Open Sauce Bold"/>
                <a:cs typeface="Open Sauce Bold"/>
                <a:sym typeface="Open Sauce Bold"/>
              </a:rPr>
              <a:t>PROJECT BRIEF</a:t>
            </a:r>
          </a:p>
        </p:txBody>
      </p:sp>
      <p:sp>
        <p:nvSpPr>
          <p:cNvPr name="TextBox 3" id="3"/>
          <p:cNvSpPr txBox="true"/>
          <p:nvPr/>
        </p:nvSpPr>
        <p:spPr>
          <a:xfrm rot="0">
            <a:off x="1583233" y="2503269"/>
            <a:ext cx="10452483" cy="1889177"/>
          </a:xfrm>
          <a:prstGeom prst="rect">
            <a:avLst/>
          </a:prstGeom>
        </p:spPr>
        <p:txBody>
          <a:bodyPr anchor="t" rtlCol="false" tIns="0" lIns="0" bIns="0" rIns="0">
            <a:spAutoFit/>
          </a:bodyPr>
          <a:lstStyle/>
          <a:p>
            <a:pPr algn="l">
              <a:lnSpc>
                <a:spcPts val="15816"/>
              </a:lnSpc>
            </a:pPr>
            <a:r>
              <a:rPr lang="en-US" sz="9885">
                <a:solidFill>
                  <a:srgbClr val="000000"/>
                </a:solidFill>
                <a:latin typeface="Ablation"/>
                <a:ea typeface="Ablation"/>
                <a:cs typeface="Ablation"/>
                <a:sym typeface="Ablation"/>
              </a:rPr>
              <a:t>1</a:t>
            </a:r>
          </a:p>
        </p:txBody>
      </p:sp>
      <p:sp>
        <p:nvSpPr>
          <p:cNvPr name="TextBox 4" id="4"/>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2</a:t>
            </a:r>
          </a:p>
        </p:txBody>
      </p:sp>
      <p:sp>
        <p:nvSpPr>
          <p:cNvPr name="AutoShape 5" id="5"/>
          <p:cNvSpPr/>
          <p:nvPr/>
        </p:nvSpPr>
        <p:spPr>
          <a:xfrm>
            <a:off x="933450" y="9289732"/>
            <a:ext cx="15781772" cy="19050"/>
          </a:xfrm>
          <a:prstGeom prst="line">
            <a:avLst/>
          </a:prstGeom>
          <a:ln cap="flat" w="9525">
            <a:solidFill>
              <a:srgbClr val="000000"/>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3</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Freeform 4" id="4"/>
          <p:cNvSpPr/>
          <p:nvPr/>
        </p:nvSpPr>
        <p:spPr>
          <a:xfrm flipH="false" flipV="false" rot="0">
            <a:off x="8683759" y="4880274"/>
            <a:ext cx="5121771" cy="3841329"/>
          </a:xfrm>
          <a:custGeom>
            <a:avLst/>
            <a:gdLst/>
            <a:ahLst/>
            <a:cxnLst/>
            <a:rect r="r" b="b" t="t" l="l"/>
            <a:pathLst>
              <a:path h="3841329" w="5121771">
                <a:moveTo>
                  <a:pt x="0" y="0"/>
                </a:moveTo>
                <a:lnTo>
                  <a:pt x="5121772" y="0"/>
                </a:lnTo>
                <a:lnTo>
                  <a:pt x="5121772" y="3841328"/>
                </a:lnTo>
                <a:lnTo>
                  <a:pt x="0" y="3841328"/>
                </a:lnTo>
                <a:lnTo>
                  <a:pt x="0" y="0"/>
                </a:lnTo>
                <a:close/>
              </a:path>
            </a:pathLst>
          </a:custGeom>
          <a:blipFill>
            <a:blip r:embed="rId3"/>
            <a:stretch>
              <a:fillRect l="0" t="0" r="0" b="0"/>
            </a:stretch>
          </a:blipFill>
        </p:spPr>
      </p:sp>
      <p:sp>
        <p:nvSpPr>
          <p:cNvPr name="Freeform 5" id="5"/>
          <p:cNvSpPr/>
          <p:nvPr/>
        </p:nvSpPr>
        <p:spPr>
          <a:xfrm flipH="false" flipV="false" rot="0">
            <a:off x="11817865" y="1452015"/>
            <a:ext cx="5121771" cy="3841329"/>
          </a:xfrm>
          <a:custGeom>
            <a:avLst/>
            <a:gdLst/>
            <a:ahLst/>
            <a:cxnLst/>
            <a:rect r="r" b="b" t="t" l="l"/>
            <a:pathLst>
              <a:path h="3841329" w="5121771">
                <a:moveTo>
                  <a:pt x="0" y="0"/>
                </a:moveTo>
                <a:lnTo>
                  <a:pt x="5121771" y="0"/>
                </a:lnTo>
                <a:lnTo>
                  <a:pt x="5121771" y="3841329"/>
                </a:lnTo>
                <a:lnTo>
                  <a:pt x="0" y="3841329"/>
                </a:lnTo>
                <a:lnTo>
                  <a:pt x="0" y="0"/>
                </a:lnTo>
                <a:close/>
              </a:path>
            </a:pathLst>
          </a:custGeom>
          <a:blipFill>
            <a:blip r:embed="rId4"/>
            <a:stretch>
              <a:fillRect l="0" t="0" r="0" b="0"/>
            </a:stretch>
          </a:blipFill>
        </p:spPr>
      </p:sp>
      <p:sp>
        <p:nvSpPr>
          <p:cNvPr name="TextBox 6" id="6"/>
          <p:cNvSpPr txBox="true"/>
          <p:nvPr/>
        </p:nvSpPr>
        <p:spPr>
          <a:xfrm rot="0">
            <a:off x="1028700" y="1423992"/>
            <a:ext cx="6133199"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The Problem</a:t>
            </a:r>
          </a:p>
        </p:txBody>
      </p:sp>
      <p:sp>
        <p:nvSpPr>
          <p:cNvPr name="TextBox 7" id="7"/>
          <p:cNvSpPr txBox="true"/>
          <p:nvPr/>
        </p:nvSpPr>
        <p:spPr>
          <a:xfrm rot="0">
            <a:off x="1177581" y="6832151"/>
            <a:ext cx="7506178" cy="1078251"/>
          </a:xfrm>
          <a:prstGeom prst="rect">
            <a:avLst/>
          </a:prstGeom>
        </p:spPr>
        <p:txBody>
          <a:bodyPr anchor="t" rtlCol="false" tIns="0" lIns="0" bIns="0" rIns="0">
            <a:spAutoFit/>
          </a:bodyPr>
          <a:lstStyle/>
          <a:p>
            <a:pPr algn="l" marL="534294" indent="-267147" lvl="1">
              <a:lnSpc>
                <a:spcPts val="4454"/>
              </a:lnSpc>
              <a:buFont typeface="Arial"/>
              <a:buChar char="•"/>
            </a:pPr>
            <a:r>
              <a:rPr lang="en-US" b="true" sz="2474" spc="148">
                <a:solidFill>
                  <a:srgbClr val="000000"/>
                </a:solidFill>
                <a:latin typeface="Open Sauce Bold"/>
                <a:ea typeface="Open Sauce Bold"/>
                <a:cs typeface="Open Sauce Bold"/>
                <a:sym typeface="Open Sauce Bold"/>
              </a:rPr>
              <a:t>73%</a:t>
            </a:r>
            <a:r>
              <a:rPr lang="en-US" sz="2474" spc="148">
                <a:solidFill>
                  <a:srgbClr val="000000"/>
                </a:solidFill>
                <a:latin typeface="Open Sauce"/>
                <a:ea typeface="Open Sauce"/>
                <a:cs typeface="Open Sauce"/>
                <a:sym typeface="Open Sauce"/>
              </a:rPr>
              <a:t> of contractors report significant weaknesses in the 811 process [2]</a:t>
            </a:r>
          </a:p>
        </p:txBody>
      </p:sp>
      <p:sp>
        <p:nvSpPr>
          <p:cNvPr name="TextBox 8" id="8"/>
          <p:cNvSpPr txBox="true"/>
          <p:nvPr/>
        </p:nvSpPr>
        <p:spPr>
          <a:xfrm rot="0">
            <a:off x="1028700" y="2898765"/>
            <a:ext cx="6821140" cy="1078251"/>
          </a:xfrm>
          <a:prstGeom prst="rect">
            <a:avLst/>
          </a:prstGeom>
        </p:spPr>
        <p:txBody>
          <a:bodyPr anchor="t" rtlCol="false" tIns="0" lIns="0" bIns="0" rIns="0">
            <a:spAutoFit/>
          </a:bodyPr>
          <a:lstStyle/>
          <a:p>
            <a:pPr algn="l" marL="534294" indent="-267147" lvl="1">
              <a:lnSpc>
                <a:spcPts val="4454"/>
              </a:lnSpc>
              <a:buFont typeface="Arial"/>
              <a:buChar char="•"/>
            </a:pPr>
            <a:r>
              <a:rPr lang="en-US" b="true" sz="2474" spc="148">
                <a:solidFill>
                  <a:srgbClr val="000000"/>
                </a:solidFill>
                <a:latin typeface="Open Sauce Bold"/>
                <a:ea typeface="Open Sauce Bold"/>
                <a:cs typeface="Open Sauce Bold"/>
                <a:sym typeface="Open Sauce Bold"/>
              </a:rPr>
              <a:t>197,000+</a:t>
            </a:r>
            <a:r>
              <a:rPr lang="en-US" sz="2474" spc="148">
                <a:solidFill>
                  <a:srgbClr val="000000"/>
                </a:solidFill>
                <a:latin typeface="Open Sauce"/>
                <a:ea typeface="Open Sauce"/>
                <a:cs typeface="Open Sauce"/>
                <a:sym typeface="Open Sauce"/>
              </a:rPr>
              <a:t> utility damage incidents recorded in 2024 alone [1]</a:t>
            </a:r>
          </a:p>
        </p:txBody>
      </p:sp>
      <p:sp>
        <p:nvSpPr>
          <p:cNvPr name="TextBox 9" id="9"/>
          <p:cNvSpPr txBox="true"/>
          <p:nvPr/>
        </p:nvSpPr>
        <p:spPr>
          <a:xfrm rot="0">
            <a:off x="1028700" y="4582325"/>
            <a:ext cx="6821140" cy="1640226"/>
          </a:xfrm>
          <a:prstGeom prst="rect">
            <a:avLst/>
          </a:prstGeom>
        </p:spPr>
        <p:txBody>
          <a:bodyPr anchor="t" rtlCol="false" tIns="0" lIns="0" bIns="0" rIns="0">
            <a:spAutoFit/>
          </a:bodyPr>
          <a:lstStyle/>
          <a:p>
            <a:pPr algn="l" marL="534294" indent="-267147" lvl="1">
              <a:lnSpc>
                <a:spcPts val="4454"/>
              </a:lnSpc>
              <a:buFont typeface="Arial"/>
              <a:buChar char="•"/>
            </a:pPr>
            <a:r>
              <a:rPr lang="en-US" sz="2474" spc="148">
                <a:solidFill>
                  <a:srgbClr val="000000"/>
                </a:solidFill>
                <a:latin typeface="Open Sauce"/>
                <a:ea typeface="Open Sauce"/>
                <a:cs typeface="Open Sauce"/>
                <a:sym typeface="Open Sauce"/>
              </a:rPr>
              <a:t>Utility strikes cost the US an estimated </a:t>
            </a:r>
            <a:r>
              <a:rPr lang="en-US" b="true" sz="2474" spc="148">
                <a:solidFill>
                  <a:srgbClr val="000000"/>
                </a:solidFill>
                <a:latin typeface="Open Sauce Bold"/>
                <a:ea typeface="Open Sauce Bold"/>
                <a:cs typeface="Open Sauce Bold"/>
                <a:sym typeface="Open Sauce Bold"/>
              </a:rPr>
              <a:t>$30 billion</a:t>
            </a:r>
            <a:r>
              <a:rPr lang="en-US" sz="2474" spc="148">
                <a:solidFill>
                  <a:srgbClr val="000000"/>
                </a:solidFill>
                <a:latin typeface="Open Sauce"/>
                <a:ea typeface="Open Sauce"/>
                <a:cs typeface="Open Sauce"/>
                <a:sym typeface="Open Sauce"/>
              </a:rPr>
              <a:t> in societal costs annually [1]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4</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TextBox 4" id="4"/>
          <p:cNvSpPr txBox="true"/>
          <p:nvPr/>
        </p:nvSpPr>
        <p:spPr>
          <a:xfrm rot="0">
            <a:off x="933450" y="2960826"/>
            <a:ext cx="10704121" cy="1165861"/>
          </a:xfrm>
          <a:prstGeom prst="rect">
            <a:avLst/>
          </a:prstGeom>
        </p:spPr>
        <p:txBody>
          <a:bodyPr anchor="t" rtlCol="false" tIns="0" lIns="0" bIns="0" rIns="0">
            <a:spAutoFit/>
          </a:bodyPr>
          <a:lstStyle/>
          <a:p>
            <a:pPr algn="l" marL="582928" indent="-291464" lvl="1">
              <a:lnSpc>
                <a:spcPts val="4859"/>
              </a:lnSpc>
              <a:buFont typeface="Arial"/>
              <a:buChar char="•"/>
            </a:pPr>
            <a:r>
              <a:rPr lang="en-US" sz="2699" spc="161">
                <a:solidFill>
                  <a:srgbClr val="000000"/>
                </a:solidFill>
                <a:latin typeface="Open Sauce"/>
                <a:ea typeface="Open Sauce"/>
                <a:cs typeface="Open Sauce"/>
                <a:sym typeface="Open Sauce"/>
              </a:rPr>
              <a:t>Real-time AR map of underground infrastructure</a:t>
            </a:r>
          </a:p>
          <a:p>
            <a:pPr algn="l" marL="1165857" indent="-388619" lvl="2">
              <a:lnSpc>
                <a:spcPts val="4859"/>
              </a:lnSpc>
              <a:buFont typeface="Arial"/>
              <a:buChar char="⚬"/>
            </a:pPr>
            <a:r>
              <a:rPr lang="en-US" sz="2699" spc="161">
                <a:solidFill>
                  <a:srgbClr val="000000"/>
                </a:solidFill>
                <a:latin typeface="Open Sauce"/>
                <a:ea typeface="Open Sauce"/>
                <a:cs typeface="Open Sauce"/>
                <a:sym typeface="Open Sauce"/>
              </a:rPr>
              <a:t>accessible from any smartphone</a:t>
            </a:r>
          </a:p>
        </p:txBody>
      </p:sp>
      <p:sp>
        <p:nvSpPr>
          <p:cNvPr name="TextBox 5" id="5"/>
          <p:cNvSpPr txBox="true"/>
          <p:nvPr/>
        </p:nvSpPr>
        <p:spPr>
          <a:xfrm rot="0">
            <a:off x="933450" y="4552008"/>
            <a:ext cx="13170256" cy="556261"/>
          </a:xfrm>
          <a:prstGeom prst="rect">
            <a:avLst/>
          </a:prstGeom>
        </p:spPr>
        <p:txBody>
          <a:bodyPr anchor="t" rtlCol="false" tIns="0" lIns="0" bIns="0" rIns="0">
            <a:spAutoFit/>
          </a:bodyPr>
          <a:lstStyle/>
          <a:p>
            <a:pPr algn="l" marL="582928" indent="-291464" lvl="1">
              <a:lnSpc>
                <a:spcPts val="4859"/>
              </a:lnSpc>
              <a:buFont typeface="Arial"/>
              <a:buChar char="•"/>
            </a:pPr>
            <a:r>
              <a:rPr lang="en-US" sz="2699" spc="161">
                <a:solidFill>
                  <a:srgbClr val="000000"/>
                </a:solidFill>
                <a:latin typeface="Open Sauce"/>
                <a:ea typeface="Open Sauce"/>
                <a:cs typeface="Open Sauce"/>
                <a:sym typeface="Open Sauce"/>
              </a:rPr>
              <a:t>AI engine validates and cross-references data for accuracy</a:t>
            </a:r>
          </a:p>
        </p:txBody>
      </p:sp>
      <p:sp>
        <p:nvSpPr>
          <p:cNvPr name="TextBox 6" id="6"/>
          <p:cNvSpPr txBox="true"/>
          <p:nvPr/>
        </p:nvSpPr>
        <p:spPr>
          <a:xfrm rot="0">
            <a:off x="933450" y="5682715"/>
            <a:ext cx="12736399" cy="556261"/>
          </a:xfrm>
          <a:prstGeom prst="rect">
            <a:avLst/>
          </a:prstGeom>
        </p:spPr>
        <p:txBody>
          <a:bodyPr anchor="t" rtlCol="false" tIns="0" lIns="0" bIns="0" rIns="0">
            <a:spAutoFit/>
          </a:bodyPr>
          <a:lstStyle/>
          <a:p>
            <a:pPr algn="l" marL="582928" indent="-291464" lvl="1">
              <a:lnSpc>
                <a:spcPts val="4859"/>
              </a:lnSpc>
              <a:buFont typeface="Arial"/>
              <a:buChar char="•"/>
            </a:pPr>
            <a:r>
              <a:rPr lang="en-US" sz="2699" spc="161">
                <a:solidFill>
                  <a:srgbClr val="000000"/>
                </a:solidFill>
                <a:latin typeface="Open Sauce"/>
                <a:ea typeface="Open Sauce"/>
                <a:cs typeface="Open Sauce"/>
                <a:sym typeface="Open Sauce"/>
              </a:rPr>
              <a:t>Instant hazard alerts for gas leaks, structural instabilities, etc.</a:t>
            </a:r>
          </a:p>
        </p:txBody>
      </p:sp>
      <p:sp>
        <p:nvSpPr>
          <p:cNvPr name="TextBox 7" id="7"/>
          <p:cNvSpPr txBox="true"/>
          <p:nvPr/>
        </p:nvSpPr>
        <p:spPr>
          <a:xfrm rot="0">
            <a:off x="933450" y="6931127"/>
            <a:ext cx="12395433" cy="1165861"/>
          </a:xfrm>
          <a:prstGeom prst="rect">
            <a:avLst/>
          </a:prstGeom>
        </p:spPr>
        <p:txBody>
          <a:bodyPr anchor="t" rtlCol="false" tIns="0" lIns="0" bIns="0" rIns="0">
            <a:spAutoFit/>
          </a:bodyPr>
          <a:lstStyle/>
          <a:p>
            <a:pPr algn="l" marL="582928" indent="-291464" lvl="1">
              <a:lnSpc>
                <a:spcPts val="4859"/>
              </a:lnSpc>
              <a:buFont typeface="Arial"/>
              <a:buChar char="•"/>
            </a:pPr>
            <a:r>
              <a:rPr lang="en-US" sz="2699" spc="161">
                <a:solidFill>
                  <a:srgbClr val="000000"/>
                </a:solidFill>
                <a:latin typeface="Open Sauce"/>
                <a:ea typeface="Open Sauce"/>
                <a:cs typeface="Open Sauce"/>
                <a:sym typeface="Open Sauce"/>
              </a:rPr>
              <a:t>Field workers can report and update infrastructure directly from the field</a:t>
            </a:r>
          </a:p>
        </p:txBody>
      </p:sp>
      <p:sp>
        <p:nvSpPr>
          <p:cNvPr name="TextBox 8" id="8"/>
          <p:cNvSpPr txBox="true"/>
          <p:nvPr/>
        </p:nvSpPr>
        <p:spPr>
          <a:xfrm rot="0">
            <a:off x="1028700" y="1423992"/>
            <a:ext cx="8850514"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SubterraView Overview</a:t>
            </a:r>
          </a:p>
        </p:txBody>
      </p:sp>
      <p:sp>
        <p:nvSpPr>
          <p:cNvPr name="Freeform 9" id="9"/>
          <p:cNvSpPr/>
          <p:nvPr/>
        </p:nvSpPr>
        <p:spPr>
          <a:xfrm flipH="false" flipV="false" rot="0">
            <a:off x="13424133" y="3619956"/>
            <a:ext cx="5206203" cy="3463571"/>
          </a:xfrm>
          <a:custGeom>
            <a:avLst/>
            <a:gdLst/>
            <a:ahLst/>
            <a:cxnLst/>
            <a:rect r="r" b="b" t="t" l="l"/>
            <a:pathLst>
              <a:path h="3463571" w="5206203">
                <a:moveTo>
                  <a:pt x="0" y="0"/>
                </a:moveTo>
                <a:lnTo>
                  <a:pt x="5206203" y="0"/>
                </a:lnTo>
                <a:lnTo>
                  <a:pt x="5206203" y="3463571"/>
                </a:lnTo>
                <a:lnTo>
                  <a:pt x="0" y="3463571"/>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5</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Freeform 4" id="4"/>
          <p:cNvSpPr/>
          <p:nvPr/>
        </p:nvSpPr>
        <p:spPr>
          <a:xfrm flipH="false" flipV="false" rot="0">
            <a:off x="1267988" y="5563395"/>
            <a:ext cx="2046669" cy="2046669"/>
          </a:xfrm>
          <a:custGeom>
            <a:avLst/>
            <a:gdLst/>
            <a:ahLst/>
            <a:cxnLst/>
            <a:rect r="r" b="b" t="t" l="l"/>
            <a:pathLst>
              <a:path h="2046669" w="2046669">
                <a:moveTo>
                  <a:pt x="0" y="0"/>
                </a:moveTo>
                <a:lnTo>
                  <a:pt x="2046669" y="0"/>
                </a:lnTo>
                <a:lnTo>
                  <a:pt x="2046669" y="2046669"/>
                </a:lnTo>
                <a:lnTo>
                  <a:pt x="0" y="2046669"/>
                </a:lnTo>
                <a:lnTo>
                  <a:pt x="0" y="0"/>
                </a:lnTo>
                <a:close/>
              </a:path>
            </a:pathLst>
          </a:custGeom>
          <a:blipFill>
            <a:blip r:embed="rId3"/>
            <a:stretch>
              <a:fillRect l="0" t="0" r="0" b="0"/>
            </a:stretch>
          </a:blipFill>
        </p:spPr>
      </p:sp>
      <p:sp>
        <p:nvSpPr>
          <p:cNvPr name="Freeform 5" id="5"/>
          <p:cNvSpPr/>
          <p:nvPr/>
        </p:nvSpPr>
        <p:spPr>
          <a:xfrm flipH="false" flipV="false" rot="0">
            <a:off x="4491073" y="3168033"/>
            <a:ext cx="1829820" cy="1632199"/>
          </a:xfrm>
          <a:custGeom>
            <a:avLst/>
            <a:gdLst/>
            <a:ahLst/>
            <a:cxnLst/>
            <a:rect r="r" b="b" t="t" l="l"/>
            <a:pathLst>
              <a:path h="1632199" w="1829820">
                <a:moveTo>
                  <a:pt x="0" y="0"/>
                </a:moveTo>
                <a:lnTo>
                  <a:pt x="1829820" y="0"/>
                </a:lnTo>
                <a:lnTo>
                  <a:pt x="1829820" y="1632199"/>
                </a:lnTo>
                <a:lnTo>
                  <a:pt x="0" y="1632199"/>
                </a:lnTo>
                <a:lnTo>
                  <a:pt x="0" y="0"/>
                </a:lnTo>
                <a:close/>
              </a:path>
            </a:pathLst>
          </a:custGeom>
          <a:blipFill>
            <a:blip r:embed="rId4"/>
            <a:stretch>
              <a:fillRect l="0" t="0" r="0" b="0"/>
            </a:stretch>
          </a:blipFill>
        </p:spPr>
      </p:sp>
      <p:sp>
        <p:nvSpPr>
          <p:cNvPr name="Freeform 6" id="6"/>
          <p:cNvSpPr/>
          <p:nvPr/>
        </p:nvSpPr>
        <p:spPr>
          <a:xfrm flipH="false" flipV="false" rot="0">
            <a:off x="7782439" y="5496001"/>
            <a:ext cx="1958641" cy="2114063"/>
          </a:xfrm>
          <a:custGeom>
            <a:avLst/>
            <a:gdLst/>
            <a:ahLst/>
            <a:cxnLst/>
            <a:rect r="r" b="b" t="t" l="l"/>
            <a:pathLst>
              <a:path h="2114063" w="1958641">
                <a:moveTo>
                  <a:pt x="0" y="0"/>
                </a:moveTo>
                <a:lnTo>
                  <a:pt x="1958640" y="0"/>
                </a:lnTo>
                <a:lnTo>
                  <a:pt x="1958640" y="2114063"/>
                </a:lnTo>
                <a:lnTo>
                  <a:pt x="0" y="2114063"/>
                </a:lnTo>
                <a:lnTo>
                  <a:pt x="0" y="0"/>
                </a:lnTo>
                <a:close/>
              </a:path>
            </a:pathLst>
          </a:custGeom>
          <a:blipFill>
            <a:blip r:embed="rId5"/>
            <a:stretch>
              <a:fillRect l="0" t="0" r="-7935" b="0"/>
            </a:stretch>
          </a:blipFill>
        </p:spPr>
      </p:sp>
      <p:sp>
        <p:nvSpPr>
          <p:cNvPr name="Freeform 7" id="7"/>
          <p:cNvSpPr/>
          <p:nvPr/>
        </p:nvSpPr>
        <p:spPr>
          <a:xfrm flipH="false" flipV="false" rot="0">
            <a:off x="11503988" y="3206943"/>
            <a:ext cx="1475184" cy="1554378"/>
          </a:xfrm>
          <a:custGeom>
            <a:avLst/>
            <a:gdLst/>
            <a:ahLst/>
            <a:cxnLst/>
            <a:rect r="r" b="b" t="t" l="l"/>
            <a:pathLst>
              <a:path h="1554378" w="1475184">
                <a:moveTo>
                  <a:pt x="0" y="0"/>
                </a:moveTo>
                <a:lnTo>
                  <a:pt x="1475184" y="0"/>
                </a:lnTo>
                <a:lnTo>
                  <a:pt x="1475184" y="1554379"/>
                </a:lnTo>
                <a:lnTo>
                  <a:pt x="0" y="1554379"/>
                </a:lnTo>
                <a:lnTo>
                  <a:pt x="0" y="0"/>
                </a:lnTo>
                <a:close/>
              </a:path>
            </a:pathLst>
          </a:custGeom>
          <a:blipFill>
            <a:blip r:embed="rId6"/>
            <a:stretch>
              <a:fillRect l="-214707" t="0" r="-16257" b="0"/>
            </a:stretch>
          </a:blipFill>
        </p:spPr>
      </p:sp>
      <p:sp>
        <p:nvSpPr>
          <p:cNvPr name="Freeform 8" id="8"/>
          <p:cNvSpPr/>
          <p:nvPr/>
        </p:nvSpPr>
        <p:spPr>
          <a:xfrm flipH="false" flipV="false" rot="0">
            <a:off x="14561352" y="5550493"/>
            <a:ext cx="1892257" cy="2072472"/>
          </a:xfrm>
          <a:custGeom>
            <a:avLst/>
            <a:gdLst/>
            <a:ahLst/>
            <a:cxnLst/>
            <a:rect r="r" b="b" t="t" l="l"/>
            <a:pathLst>
              <a:path h="2072472" w="1892257">
                <a:moveTo>
                  <a:pt x="0" y="0"/>
                </a:moveTo>
                <a:lnTo>
                  <a:pt x="1892257" y="0"/>
                </a:lnTo>
                <a:lnTo>
                  <a:pt x="1892257" y="2072473"/>
                </a:lnTo>
                <a:lnTo>
                  <a:pt x="0" y="2072473"/>
                </a:lnTo>
                <a:lnTo>
                  <a:pt x="0" y="0"/>
                </a:lnTo>
                <a:close/>
              </a:path>
            </a:pathLst>
          </a:custGeom>
          <a:blipFill>
            <a:blip r:embed="rId7"/>
            <a:stretch>
              <a:fillRect l="-187977" t="-49603" r="-189136" b="-129196"/>
            </a:stretch>
          </a:blipFill>
        </p:spPr>
      </p:sp>
      <p:sp>
        <p:nvSpPr>
          <p:cNvPr name="TextBox 9" id="9"/>
          <p:cNvSpPr txBox="true"/>
          <p:nvPr/>
        </p:nvSpPr>
        <p:spPr>
          <a:xfrm rot="0">
            <a:off x="1028700" y="1423992"/>
            <a:ext cx="10768619"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Technical Implementation</a:t>
            </a:r>
          </a:p>
        </p:txBody>
      </p:sp>
      <p:sp>
        <p:nvSpPr>
          <p:cNvPr name="TextBox 10" id="10"/>
          <p:cNvSpPr txBox="true"/>
          <p:nvPr/>
        </p:nvSpPr>
        <p:spPr>
          <a:xfrm rot="0">
            <a:off x="1267988" y="2842199"/>
            <a:ext cx="2383205" cy="596266"/>
          </a:xfrm>
          <a:prstGeom prst="rect">
            <a:avLst/>
          </a:prstGeom>
        </p:spPr>
        <p:txBody>
          <a:bodyPr anchor="t" rtlCol="false" tIns="0" lIns="0" bIns="0" rIns="0">
            <a:spAutoFit/>
          </a:bodyPr>
          <a:lstStyle/>
          <a:p>
            <a:pPr algn="l">
              <a:lnSpc>
                <a:spcPts val="5039"/>
              </a:lnSpc>
            </a:pPr>
            <a:r>
              <a:rPr lang="en-US" sz="2799" spc="167">
                <a:solidFill>
                  <a:srgbClr val="000000"/>
                </a:solidFill>
                <a:latin typeface="Open Sauce"/>
                <a:ea typeface="Open Sauce"/>
                <a:cs typeface="Open Sauce"/>
                <a:sym typeface="Open Sauce"/>
              </a:rPr>
              <a:t>Architecture</a:t>
            </a:r>
          </a:p>
        </p:txBody>
      </p:sp>
      <p:sp>
        <p:nvSpPr>
          <p:cNvPr name="TextBox 11" id="11"/>
          <p:cNvSpPr txBox="true"/>
          <p:nvPr/>
        </p:nvSpPr>
        <p:spPr>
          <a:xfrm rot="0">
            <a:off x="4364956" y="5112143"/>
            <a:ext cx="2383205" cy="596266"/>
          </a:xfrm>
          <a:prstGeom prst="rect">
            <a:avLst/>
          </a:prstGeom>
        </p:spPr>
        <p:txBody>
          <a:bodyPr anchor="t" rtlCol="false" tIns="0" lIns="0" bIns="0" rIns="0">
            <a:spAutoFit/>
          </a:bodyPr>
          <a:lstStyle/>
          <a:p>
            <a:pPr algn="l">
              <a:lnSpc>
                <a:spcPts val="5039"/>
              </a:lnSpc>
            </a:pPr>
            <a:r>
              <a:rPr lang="en-US" sz="2799" spc="167">
                <a:solidFill>
                  <a:srgbClr val="000000"/>
                </a:solidFill>
                <a:latin typeface="Open Sauce"/>
                <a:ea typeface="Open Sauce"/>
                <a:cs typeface="Open Sauce"/>
                <a:sym typeface="Open Sauce"/>
              </a:rPr>
              <a:t>Technolgies</a:t>
            </a:r>
          </a:p>
        </p:txBody>
      </p:sp>
      <p:sp>
        <p:nvSpPr>
          <p:cNvPr name="TextBox 12" id="12"/>
          <p:cNvSpPr txBox="true"/>
          <p:nvPr/>
        </p:nvSpPr>
        <p:spPr>
          <a:xfrm rot="0">
            <a:off x="10560116" y="5112143"/>
            <a:ext cx="3362928" cy="596266"/>
          </a:xfrm>
          <a:prstGeom prst="rect">
            <a:avLst/>
          </a:prstGeom>
        </p:spPr>
        <p:txBody>
          <a:bodyPr anchor="t" rtlCol="false" tIns="0" lIns="0" bIns="0" rIns="0">
            <a:spAutoFit/>
          </a:bodyPr>
          <a:lstStyle/>
          <a:p>
            <a:pPr algn="l">
              <a:lnSpc>
                <a:spcPts val="5039"/>
              </a:lnSpc>
            </a:pPr>
            <a:r>
              <a:rPr lang="en-US" sz="2799" spc="167">
                <a:solidFill>
                  <a:srgbClr val="000000"/>
                </a:solidFill>
                <a:latin typeface="Open Sauce"/>
                <a:ea typeface="Open Sauce"/>
                <a:cs typeface="Open Sauce"/>
                <a:sym typeface="Open Sauce"/>
              </a:rPr>
              <a:t>Senor Integration</a:t>
            </a:r>
          </a:p>
        </p:txBody>
      </p:sp>
      <p:sp>
        <p:nvSpPr>
          <p:cNvPr name="TextBox 13" id="13"/>
          <p:cNvSpPr txBox="true"/>
          <p:nvPr/>
        </p:nvSpPr>
        <p:spPr>
          <a:xfrm rot="0">
            <a:off x="7461923" y="2842199"/>
            <a:ext cx="2383205" cy="596266"/>
          </a:xfrm>
          <a:prstGeom prst="rect">
            <a:avLst/>
          </a:prstGeom>
        </p:spPr>
        <p:txBody>
          <a:bodyPr anchor="t" rtlCol="false" tIns="0" lIns="0" bIns="0" rIns="0">
            <a:spAutoFit/>
          </a:bodyPr>
          <a:lstStyle/>
          <a:p>
            <a:pPr algn="l">
              <a:lnSpc>
                <a:spcPts val="5039"/>
              </a:lnSpc>
            </a:pPr>
            <a:r>
              <a:rPr lang="en-US" sz="2799" spc="167">
                <a:solidFill>
                  <a:srgbClr val="000000"/>
                </a:solidFill>
                <a:latin typeface="Open Sauce"/>
                <a:ea typeface="Open Sauce"/>
                <a:cs typeface="Open Sauce"/>
                <a:sym typeface="Open Sauce"/>
              </a:rPr>
              <a:t>AR Mapping</a:t>
            </a:r>
          </a:p>
        </p:txBody>
      </p:sp>
      <p:sp>
        <p:nvSpPr>
          <p:cNvPr name="TextBox 14" id="14"/>
          <p:cNvSpPr txBox="true"/>
          <p:nvPr/>
        </p:nvSpPr>
        <p:spPr>
          <a:xfrm rot="0">
            <a:off x="14636806" y="2842199"/>
            <a:ext cx="1816803" cy="596266"/>
          </a:xfrm>
          <a:prstGeom prst="rect">
            <a:avLst/>
          </a:prstGeom>
        </p:spPr>
        <p:txBody>
          <a:bodyPr anchor="t" rtlCol="false" tIns="0" lIns="0" bIns="0" rIns="0">
            <a:spAutoFit/>
          </a:bodyPr>
          <a:lstStyle/>
          <a:p>
            <a:pPr algn="l">
              <a:lnSpc>
                <a:spcPts val="5039"/>
              </a:lnSpc>
            </a:pPr>
            <a:r>
              <a:rPr lang="en-US" sz="2799" spc="167">
                <a:solidFill>
                  <a:srgbClr val="000000"/>
                </a:solidFill>
                <a:latin typeface="Open Sauce"/>
                <a:ea typeface="Open Sauce"/>
                <a:cs typeface="Open Sauce"/>
                <a:sym typeface="Open Sauce"/>
              </a:rPr>
              <a:t>AI Engine</a:t>
            </a:r>
          </a:p>
        </p:txBody>
      </p:sp>
      <p:sp>
        <p:nvSpPr>
          <p:cNvPr name="TextBox 15" id="15"/>
          <p:cNvSpPr txBox="true"/>
          <p:nvPr/>
        </p:nvSpPr>
        <p:spPr>
          <a:xfrm rot="0">
            <a:off x="1267988" y="3628173"/>
            <a:ext cx="2381979" cy="1656279"/>
          </a:xfrm>
          <a:prstGeom prst="rect">
            <a:avLst/>
          </a:prstGeom>
        </p:spPr>
        <p:txBody>
          <a:bodyPr anchor="t" rtlCol="false" tIns="0" lIns="0" bIns="0" rIns="0">
            <a:spAutoFit/>
          </a:bodyPr>
          <a:lstStyle/>
          <a:p>
            <a:pPr algn="l" marL="413914" indent="-206957" lvl="1">
              <a:lnSpc>
                <a:spcPts val="2684"/>
              </a:lnSpc>
              <a:buFont typeface="Arial"/>
              <a:buChar char="•"/>
            </a:pPr>
            <a:r>
              <a:rPr lang="en-US" sz="1917">
                <a:solidFill>
                  <a:srgbClr val="000000"/>
                </a:solidFill>
                <a:latin typeface="Canva Sans"/>
                <a:ea typeface="Canva Sans"/>
                <a:cs typeface="Canva Sans"/>
                <a:sym typeface="Canva Sans"/>
              </a:rPr>
              <a:t>Cloud</a:t>
            </a:r>
          </a:p>
          <a:p>
            <a:pPr algn="l" marL="413914" indent="-206957" lvl="1">
              <a:lnSpc>
                <a:spcPts val="2684"/>
              </a:lnSpc>
              <a:buFont typeface="Arial"/>
              <a:buChar char="•"/>
            </a:pPr>
            <a:r>
              <a:rPr lang="en-US" sz="1917">
                <a:solidFill>
                  <a:srgbClr val="000000"/>
                </a:solidFill>
                <a:latin typeface="Canva Sans"/>
                <a:ea typeface="Canva Sans"/>
                <a:cs typeface="Canva Sans"/>
                <a:sym typeface="Canva Sans"/>
              </a:rPr>
              <a:t>Centralized backend</a:t>
            </a:r>
          </a:p>
          <a:p>
            <a:pPr algn="l" marL="413914" indent="-206957" lvl="1">
              <a:lnSpc>
                <a:spcPts val="2684"/>
              </a:lnSpc>
              <a:buFont typeface="Arial"/>
              <a:buChar char="•"/>
            </a:pPr>
            <a:r>
              <a:rPr lang="en-US" sz="1917">
                <a:solidFill>
                  <a:srgbClr val="000000"/>
                </a:solidFill>
                <a:latin typeface="Canva Sans"/>
                <a:ea typeface="Canva Sans"/>
                <a:cs typeface="Canva Sans"/>
                <a:sym typeface="Canva Sans"/>
              </a:rPr>
              <a:t>Mobile front end</a:t>
            </a:r>
          </a:p>
          <a:p>
            <a:pPr algn="l" marL="413914" indent="-206957" lvl="1">
              <a:lnSpc>
                <a:spcPts val="2684"/>
              </a:lnSpc>
              <a:buFont typeface="Arial"/>
              <a:buChar char="•"/>
            </a:pPr>
            <a:r>
              <a:rPr lang="en-US" sz="1917">
                <a:solidFill>
                  <a:srgbClr val="000000"/>
                </a:solidFill>
                <a:latin typeface="Canva Sans"/>
                <a:ea typeface="Canva Sans"/>
                <a:cs typeface="Canva Sans"/>
                <a:sym typeface="Canva Sans"/>
              </a:rPr>
              <a:t>APIs</a:t>
            </a:r>
          </a:p>
        </p:txBody>
      </p:sp>
      <p:sp>
        <p:nvSpPr>
          <p:cNvPr name="TextBox 16" id="16"/>
          <p:cNvSpPr txBox="true"/>
          <p:nvPr/>
        </p:nvSpPr>
        <p:spPr>
          <a:xfrm rot="0">
            <a:off x="4364956" y="5740275"/>
            <a:ext cx="2383205" cy="2323003"/>
          </a:xfrm>
          <a:prstGeom prst="rect">
            <a:avLst/>
          </a:prstGeom>
        </p:spPr>
        <p:txBody>
          <a:bodyPr anchor="t" rtlCol="false" tIns="0" lIns="0" bIns="0" rIns="0">
            <a:spAutoFit/>
          </a:bodyPr>
          <a:lstStyle/>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AR frameworks </a:t>
            </a:r>
          </a:p>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React Native</a:t>
            </a:r>
          </a:p>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Cloud platforms</a:t>
            </a:r>
          </a:p>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Database Systems </a:t>
            </a:r>
          </a:p>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 GraphQL for communications</a:t>
            </a:r>
          </a:p>
        </p:txBody>
      </p:sp>
      <p:sp>
        <p:nvSpPr>
          <p:cNvPr name="TextBox 17" id="17"/>
          <p:cNvSpPr txBox="true"/>
          <p:nvPr/>
        </p:nvSpPr>
        <p:spPr>
          <a:xfrm rot="0">
            <a:off x="7461923" y="3470331"/>
            <a:ext cx="2383205" cy="989503"/>
          </a:xfrm>
          <a:prstGeom prst="rect">
            <a:avLst/>
          </a:prstGeom>
        </p:spPr>
        <p:txBody>
          <a:bodyPr anchor="t" rtlCol="false" tIns="0" lIns="0" bIns="0" rIns="0">
            <a:spAutoFit/>
          </a:bodyPr>
          <a:lstStyle/>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 GPS data + depth modeling</a:t>
            </a:r>
          </a:p>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GIS </a:t>
            </a:r>
          </a:p>
        </p:txBody>
      </p:sp>
      <p:sp>
        <p:nvSpPr>
          <p:cNvPr name="TextBox 18" id="18"/>
          <p:cNvSpPr txBox="true"/>
          <p:nvPr/>
        </p:nvSpPr>
        <p:spPr>
          <a:xfrm rot="0">
            <a:off x="11049978" y="5740275"/>
            <a:ext cx="2383205" cy="1322878"/>
          </a:xfrm>
          <a:prstGeom prst="rect">
            <a:avLst/>
          </a:prstGeom>
        </p:spPr>
        <p:txBody>
          <a:bodyPr anchor="t" rtlCol="false" tIns="0" lIns="0" bIns="0" rIns="0">
            <a:spAutoFit/>
          </a:bodyPr>
          <a:lstStyle/>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IoT sensor units </a:t>
            </a:r>
          </a:p>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 LTE </a:t>
            </a:r>
          </a:p>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 Push notifications</a:t>
            </a:r>
          </a:p>
        </p:txBody>
      </p:sp>
      <p:sp>
        <p:nvSpPr>
          <p:cNvPr name="TextBox 19" id="19"/>
          <p:cNvSpPr txBox="true"/>
          <p:nvPr/>
        </p:nvSpPr>
        <p:spPr>
          <a:xfrm rot="0">
            <a:off x="14353605" y="3470331"/>
            <a:ext cx="2383205" cy="1656253"/>
          </a:xfrm>
          <a:prstGeom prst="rect">
            <a:avLst/>
          </a:prstGeom>
        </p:spPr>
        <p:txBody>
          <a:bodyPr anchor="t" rtlCol="false" tIns="0" lIns="0" bIns="0" rIns="0">
            <a:spAutoFit/>
          </a:bodyPr>
          <a:lstStyle/>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 TensorFlow or   PyTorch </a:t>
            </a:r>
          </a:p>
          <a:p>
            <a:pPr algn="l" marL="414138" indent="-207069" lvl="1">
              <a:lnSpc>
                <a:spcPts val="2685"/>
              </a:lnSpc>
              <a:buFont typeface="Arial"/>
              <a:buChar char="•"/>
            </a:pPr>
            <a:r>
              <a:rPr lang="en-US" sz="1918">
                <a:solidFill>
                  <a:srgbClr val="000000"/>
                </a:solidFill>
                <a:latin typeface="Canva Sans"/>
                <a:ea typeface="Canva Sans"/>
                <a:cs typeface="Canva Sans"/>
                <a:sym typeface="Canva Sans"/>
              </a:rPr>
              <a:t>Continuous learning pipelines </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6</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TextBox 4" id="4"/>
          <p:cNvSpPr txBox="true"/>
          <p:nvPr/>
        </p:nvSpPr>
        <p:spPr>
          <a:xfrm rot="0">
            <a:off x="1583233" y="4996654"/>
            <a:ext cx="10452483" cy="3346371"/>
          </a:xfrm>
          <a:prstGeom prst="rect">
            <a:avLst/>
          </a:prstGeom>
        </p:spPr>
        <p:txBody>
          <a:bodyPr anchor="t" rtlCol="false" tIns="0" lIns="0" bIns="0" rIns="0">
            <a:spAutoFit/>
          </a:bodyPr>
          <a:lstStyle/>
          <a:p>
            <a:pPr algn="l">
              <a:lnSpc>
                <a:spcPts val="13839"/>
              </a:lnSpc>
            </a:pPr>
            <a:r>
              <a:rPr lang="en-US" b="true" sz="8649" spc="518">
                <a:solidFill>
                  <a:srgbClr val="000000"/>
                </a:solidFill>
                <a:latin typeface="Open Sauce Bold"/>
                <a:ea typeface="Open Sauce Bold"/>
                <a:cs typeface="Open Sauce Bold"/>
                <a:sym typeface="Open Sauce Bold"/>
              </a:rPr>
              <a:t>STAKEHOLDERS &amp; GOALS</a:t>
            </a:r>
          </a:p>
        </p:txBody>
      </p:sp>
      <p:sp>
        <p:nvSpPr>
          <p:cNvPr name="TextBox 5" id="5"/>
          <p:cNvSpPr txBox="true"/>
          <p:nvPr/>
        </p:nvSpPr>
        <p:spPr>
          <a:xfrm rot="0">
            <a:off x="1583233" y="2503269"/>
            <a:ext cx="10452483" cy="1889177"/>
          </a:xfrm>
          <a:prstGeom prst="rect">
            <a:avLst/>
          </a:prstGeom>
        </p:spPr>
        <p:txBody>
          <a:bodyPr anchor="t" rtlCol="false" tIns="0" lIns="0" bIns="0" rIns="0">
            <a:spAutoFit/>
          </a:bodyPr>
          <a:lstStyle/>
          <a:p>
            <a:pPr algn="l">
              <a:lnSpc>
                <a:spcPts val="15816"/>
              </a:lnSpc>
            </a:pPr>
            <a:r>
              <a:rPr lang="en-US" sz="9885">
                <a:solidFill>
                  <a:srgbClr val="000000"/>
                </a:solidFill>
                <a:latin typeface="Ablation"/>
                <a:ea typeface="Ablation"/>
                <a:cs typeface="Ablation"/>
                <a:sym typeface="Ablation"/>
              </a:rPr>
              <a:t>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7</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Freeform 4" id="4"/>
          <p:cNvSpPr/>
          <p:nvPr/>
        </p:nvSpPr>
        <p:spPr>
          <a:xfrm flipH="false" flipV="false" rot="0">
            <a:off x="13971558" y="4310672"/>
            <a:ext cx="3111126" cy="2840090"/>
          </a:xfrm>
          <a:custGeom>
            <a:avLst/>
            <a:gdLst/>
            <a:ahLst/>
            <a:cxnLst/>
            <a:rect r="r" b="b" t="t" l="l"/>
            <a:pathLst>
              <a:path h="2840090" w="3111126">
                <a:moveTo>
                  <a:pt x="0" y="0"/>
                </a:moveTo>
                <a:lnTo>
                  <a:pt x="3111126" y="0"/>
                </a:lnTo>
                <a:lnTo>
                  <a:pt x="3111126" y="2840090"/>
                </a:lnTo>
                <a:lnTo>
                  <a:pt x="0" y="28400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3124891"/>
            <a:ext cx="13351370" cy="596266"/>
          </a:xfrm>
          <a:prstGeom prst="rect">
            <a:avLst/>
          </a:prstGeom>
        </p:spPr>
        <p:txBody>
          <a:bodyPr anchor="t" rtlCol="false" tIns="0" lIns="0" bIns="0" rIns="0">
            <a:spAutoFit/>
          </a:bodyPr>
          <a:lstStyle/>
          <a:p>
            <a:pPr algn="l" marL="604518" indent="-302259" lvl="1">
              <a:lnSpc>
                <a:spcPts val="5039"/>
              </a:lnSpc>
              <a:buFont typeface="Arial"/>
              <a:buChar char="•"/>
            </a:pPr>
            <a:r>
              <a:rPr lang="en-US" sz="2799" spc="167">
                <a:solidFill>
                  <a:srgbClr val="000000"/>
                </a:solidFill>
                <a:latin typeface="Open Sauce"/>
                <a:ea typeface="Open Sauce"/>
                <a:cs typeface="Open Sauce"/>
                <a:sym typeface="Open Sauce"/>
              </a:rPr>
              <a:t>≥ 30% </a:t>
            </a:r>
            <a:r>
              <a:rPr lang="en-US" b="true" sz="2799" spc="167">
                <a:solidFill>
                  <a:srgbClr val="000000"/>
                </a:solidFill>
                <a:latin typeface="Open Sauce Bold"/>
                <a:ea typeface="Open Sauce Bold"/>
                <a:cs typeface="Open Sauce Bold"/>
                <a:sym typeface="Open Sauce Bold"/>
              </a:rPr>
              <a:t>reduction in accidental utility strikes</a:t>
            </a:r>
            <a:r>
              <a:rPr lang="en-US" sz="2799" spc="167">
                <a:solidFill>
                  <a:srgbClr val="000000"/>
                </a:solidFill>
                <a:latin typeface="Open Sauce"/>
                <a:ea typeface="Open Sauce"/>
                <a:cs typeface="Open Sauce"/>
                <a:sym typeface="Open Sauce"/>
              </a:rPr>
              <a:t> vs. national average</a:t>
            </a:r>
          </a:p>
        </p:txBody>
      </p:sp>
      <p:sp>
        <p:nvSpPr>
          <p:cNvPr name="TextBox 6" id="6"/>
          <p:cNvSpPr txBox="true"/>
          <p:nvPr/>
        </p:nvSpPr>
        <p:spPr>
          <a:xfrm rot="0">
            <a:off x="1028700" y="4343876"/>
            <a:ext cx="12485386" cy="596266"/>
          </a:xfrm>
          <a:prstGeom prst="rect">
            <a:avLst/>
          </a:prstGeom>
        </p:spPr>
        <p:txBody>
          <a:bodyPr anchor="t" rtlCol="false" tIns="0" lIns="0" bIns="0" rIns="0">
            <a:spAutoFit/>
          </a:bodyPr>
          <a:lstStyle/>
          <a:p>
            <a:pPr algn="l" marL="604518" indent="-302259" lvl="1">
              <a:lnSpc>
                <a:spcPts val="5039"/>
              </a:lnSpc>
              <a:buFont typeface="Arial"/>
              <a:buChar char="•"/>
            </a:pPr>
            <a:r>
              <a:rPr lang="en-US" b="true" sz="2799" spc="167">
                <a:solidFill>
                  <a:srgbClr val="000000"/>
                </a:solidFill>
                <a:latin typeface="Open Sauce Bold"/>
                <a:ea typeface="Open Sauce Bold"/>
                <a:cs typeface="Open Sauce Bold"/>
                <a:sym typeface="Open Sauce Bold"/>
              </a:rPr>
              <a:t>Pre-excavation prep time cut</a:t>
            </a:r>
            <a:r>
              <a:rPr lang="en-US" sz="2799" spc="167">
                <a:solidFill>
                  <a:srgbClr val="000000"/>
                </a:solidFill>
                <a:latin typeface="Open Sauce"/>
                <a:ea typeface="Open Sauce"/>
                <a:cs typeface="Open Sauce"/>
                <a:sym typeface="Open Sauce"/>
              </a:rPr>
              <a:t> to 24 hours or less</a:t>
            </a:r>
          </a:p>
        </p:txBody>
      </p:sp>
      <p:sp>
        <p:nvSpPr>
          <p:cNvPr name="TextBox 7" id="7"/>
          <p:cNvSpPr txBox="true"/>
          <p:nvPr/>
        </p:nvSpPr>
        <p:spPr>
          <a:xfrm rot="0">
            <a:off x="1028700" y="1423992"/>
            <a:ext cx="9375710"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SubterraView Goals</a:t>
            </a:r>
          </a:p>
        </p:txBody>
      </p:sp>
      <p:sp>
        <p:nvSpPr>
          <p:cNvPr name="TextBox 8" id="8"/>
          <p:cNvSpPr txBox="true"/>
          <p:nvPr/>
        </p:nvSpPr>
        <p:spPr>
          <a:xfrm rot="0">
            <a:off x="1028700" y="6755608"/>
            <a:ext cx="13221389" cy="1234441"/>
          </a:xfrm>
          <a:prstGeom prst="rect">
            <a:avLst/>
          </a:prstGeom>
        </p:spPr>
        <p:txBody>
          <a:bodyPr anchor="t" rtlCol="false" tIns="0" lIns="0" bIns="0" rIns="0">
            <a:spAutoFit/>
          </a:bodyPr>
          <a:lstStyle/>
          <a:p>
            <a:pPr algn="l" marL="604518" indent="-302259" lvl="1">
              <a:lnSpc>
                <a:spcPts val="5039"/>
              </a:lnSpc>
              <a:buFont typeface="Arial"/>
              <a:buChar char="•"/>
            </a:pPr>
            <a:r>
              <a:rPr lang="en-US" sz="2799" spc="167">
                <a:solidFill>
                  <a:srgbClr val="000000"/>
                </a:solidFill>
                <a:latin typeface="Open Sauce"/>
                <a:ea typeface="Open Sauce"/>
                <a:cs typeface="Open Sauce"/>
                <a:sym typeface="Open Sauce"/>
              </a:rPr>
              <a:t>≥ 85% of hazard alerts acknowledged and acted on within 5 minutes of detection</a:t>
            </a:r>
          </a:p>
        </p:txBody>
      </p:sp>
      <p:sp>
        <p:nvSpPr>
          <p:cNvPr name="TextBox 9" id="9"/>
          <p:cNvSpPr txBox="true"/>
          <p:nvPr/>
        </p:nvSpPr>
        <p:spPr>
          <a:xfrm rot="0">
            <a:off x="1028700" y="5559267"/>
            <a:ext cx="12485386" cy="596266"/>
          </a:xfrm>
          <a:prstGeom prst="rect">
            <a:avLst/>
          </a:prstGeom>
        </p:spPr>
        <p:txBody>
          <a:bodyPr anchor="t" rtlCol="false" tIns="0" lIns="0" bIns="0" rIns="0">
            <a:spAutoFit/>
          </a:bodyPr>
          <a:lstStyle/>
          <a:p>
            <a:pPr algn="l" marL="604518" indent="-302259" lvl="1">
              <a:lnSpc>
                <a:spcPts val="5039"/>
              </a:lnSpc>
              <a:buFont typeface="Arial"/>
              <a:buChar char="•"/>
            </a:pPr>
            <a:r>
              <a:rPr lang="en-US" sz="2799" spc="167">
                <a:solidFill>
                  <a:srgbClr val="000000"/>
                </a:solidFill>
                <a:latin typeface="Open Sauce"/>
                <a:ea typeface="Open Sauce"/>
                <a:cs typeface="Open Sauce"/>
                <a:sym typeface="Open Sauce"/>
              </a:rPr>
              <a:t>AI map accuracy of ≥ 90% against verified utility records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8</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Freeform 4" id="4"/>
          <p:cNvSpPr/>
          <p:nvPr/>
        </p:nvSpPr>
        <p:spPr>
          <a:xfrm flipH="false" flipV="false" rot="0">
            <a:off x="12256209" y="2395542"/>
            <a:ext cx="4856399" cy="4856399"/>
          </a:xfrm>
          <a:custGeom>
            <a:avLst/>
            <a:gdLst/>
            <a:ahLst/>
            <a:cxnLst/>
            <a:rect r="r" b="b" t="t" l="l"/>
            <a:pathLst>
              <a:path h="4856399" w="4856399">
                <a:moveTo>
                  <a:pt x="0" y="0"/>
                </a:moveTo>
                <a:lnTo>
                  <a:pt x="4856399" y="0"/>
                </a:lnTo>
                <a:lnTo>
                  <a:pt x="4856399" y="4856399"/>
                </a:lnTo>
                <a:lnTo>
                  <a:pt x="0" y="4856399"/>
                </a:lnTo>
                <a:lnTo>
                  <a:pt x="0" y="0"/>
                </a:lnTo>
                <a:close/>
              </a:path>
            </a:pathLst>
          </a:custGeom>
          <a:blipFill>
            <a:blip r:embed="rId3"/>
            <a:stretch>
              <a:fillRect l="0" t="0" r="0" b="0"/>
            </a:stretch>
          </a:blipFill>
        </p:spPr>
      </p:sp>
      <p:sp>
        <p:nvSpPr>
          <p:cNvPr name="TextBox 5" id="5"/>
          <p:cNvSpPr txBox="true"/>
          <p:nvPr/>
        </p:nvSpPr>
        <p:spPr>
          <a:xfrm rot="0">
            <a:off x="1028700" y="1423992"/>
            <a:ext cx="9375710"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Stakeholders</a:t>
            </a:r>
          </a:p>
        </p:txBody>
      </p:sp>
      <p:sp>
        <p:nvSpPr>
          <p:cNvPr name="TextBox 6" id="6"/>
          <p:cNvSpPr txBox="true"/>
          <p:nvPr/>
        </p:nvSpPr>
        <p:spPr>
          <a:xfrm rot="0">
            <a:off x="933450" y="3979625"/>
            <a:ext cx="10944419" cy="3078099"/>
          </a:xfrm>
          <a:prstGeom prst="rect">
            <a:avLst/>
          </a:prstGeom>
        </p:spPr>
        <p:txBody>
          <a:bodyPr anchor="t" rtlCol="false" tIns="0" lIns="0" bIns="0" rIns="0">
            <a:spAutoFit/>
          </a:bodyPr>
          <a:lstStyle/>
          <a:p>
            <a:pPr algn="l" marL="634746" indent="-317373" lvl="1">
              <a:lnSpc>
                <a:spcPts val="4116"/>
              </a:lnSpc>
              <a:buFont typeface="Arial"/>
              <a:buChar char="•"/>
            </a:pPr>
            <a:r>
              <a:rPr lang="en-US" b="true" sz="2940">
                <a:solidFill>
                  <a:srgbClr val="000000"/>
                </a:solidFill>
                <a:latin typeface="Open Sauce Bold"/>
                <a:ea typeface="Open Sauce Bold"/>
                <a:cs typeface="Open Sauce Bold"/>
                <a:sym typeface="Open Sauce Bold"/>
              </a:rPr>
              <a:t>Primary Client:</a:t>
            </a:r>
            <a:r>
              <a:rPr lang="en-US" sz="2940">
                <a:solidFill>
                  <a:srgbClr val="000000"/>
                </a:solidFill>
                <a:latin typeface="Open Sauce"/>
                <a:ea typeface="Open Sauce"/>
                <a:cs typeface="Open Sauce"/>
                <a:sym typeface="Open Sauce"/>
              </a:rPr>
              <a:t> Public Works Organizations</a:t>
            </a:r>
          </a:p>
          <a:p>
            <a:pPr algn="l">
              <a:lnSpc>
                <a:spcPts val="4116"/>
              </a:lnSpc>
            </a:pPr>
          </a:p>
          <a:p>
            <a:pPr algn="l" marL="634746" indent="-317373" lvl="1">
              <a:lnSpc>
                <a:spcPts val="4116"/>
              </a:lnSpc>
              <a:buFont typeface="Arial"/>
              <a:buChar char="•"/>
            </a:pPr>
            <a:r>
              <a:rPr lang="en-US" b="true" sz="2940">
                <a:solidFill>
                  <a:srgbClr val="000000"/>
                </a:solidFill>
                <a:latin typeface="Open Sauce Bold"/>
                <a:ea typeface="Open Sauce Bold"/>
                <a:cs typeface="Open Sauce Bold"/>
                <a:sym typeface="Open Sauce Bold"/>
              </a:rPr>
              <a:t>Customers/End Users: </a:t>
            </a:r>
            <a:r>
              <a:rPr lang="en-US" sz="2940">
                <a:solidFill>
                  <a:srgbClr val="000000"/>
                </a:solidFill>
                <a:latin typeface="Open Sauce"/>
                <a:ea typeface="Open Sauce"/>
                <a:cs typeface="Open Sauce"/>
                <a:sym typeface="Open Sauce"/>
              </a:rPr>
              <a:t>Construction companies, utility workers, emergency responders, townspeople, maintenance users</a:t>
            </a:r>
          </a:p>
          <a:p>
            <a:pPr algn="l">
              <a:lnSpc>
                <a:spcPts val="4116"/>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9</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TextBox 4" id="4"/>
          <p:cNvSpPr txBox="true"/>
          <p:nvPr/>
        </p:nvSpPr>
        <p:spPr>
          <a:xfrm rot="0">
            <a:off x="1583233" y="4996654"/>
            <a:ext cx="11840899" cy="3346371"/>
          </a:xfrm>
          <a:prstGeom prst="rect">
            <a:avLst/>
          </a:prstGeom>
        </p:spPr>
        <p:txBody>
          <a:bodyPr anchor="t" rtlCol="false" tIns="0" lIns="0" bIns="0" rIns="0">
            <a:spAutoFit/>
          </a:bodyPr>
          <a:lstStyle/>
          <a:p>
            <a:pPr algn="l">
              <a:lnSpc>
                <a:spcPts val="13839"/>
              </a:lnSpc>
            </a:pPr>
            <a:r>
              <a:rPr lang="en-US" b="true" sz="8649" spc="518">
                <a:solidFill>
                  <a:srgbClr val="000000"/>
                </a:solidFill>
                <a:latin typeface="Open Sauce Bold"/>
                <a:ea typeface="Open Sauce Bold"/>
                <a:cs typeface="Open Sauce Bold"/>
                <a:sym typeface="Open Sauce Bold"/>
              </a:rPr>
              <a:t>SCOPE OF WORK &amp; PRODUCT</a:t>
            </a:r>
          </a:p>
        </p:txBody>
      </p:sp>
      <p:sp>
        <p:nvSpPr>
          <p:cNvPr name="TextBox 5" id="5"/>
          <p:cNvSpPr txBox="true"/>
          <p:nvPr/>
        </p:nvSpPr>
        <p:spPr>
          <a:xfrm rot="0">
            <a:off x="1583233" y="2503269"/>
            <a:ext cx="10452483" cy="1889177"/>
          </a:xfrm>
          <a:prstGeom prst="rect">
            <a:avLst/>
          </a:prstGeom>
        </p:spPr>
        <p:txBody>
          <a:bodyPr anchor="t" rtlCol="false" tIns="0" lIns="0" bIns="0" rIns="0">
            <a:spAutoFit/>
          </a:bodyPr>
          <a:lstStyle/>
          <a:p>
            <a:pPr algn="l">
              <a:lnSpc>
                <a:spcPts val="15816"/>
              </a:lnSpc>
            </a:pPr>
            <a:r>
              <a:rPr lang="en-US" sz="9885">
                <a:solidFill>
                  <a:srgbClr val="000000"/>
                </a:solidFill>
                <a:latin typeface="Ablation"/>
                <a:ea typeface="Ablation"/>
                <a:cs typeface="Ablation"/>
                <a:sym typeface="Ablation"/>
              </a:rPr>
              <a:t>3</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10</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TextBox 4" id="4"/>
          <p:cNvSpPr txBox="true"/>
          <p:nvPr/>
        </p:nvSpPr>
        <p:spPr>
          <a:xfrm rot="0">
            <a:off x="933450" y="2870502"/>
            <a:ext cx="13231582" cy="1842221"/>
          </a:xfrm>
          <a:prstGeom prst="rect">
            <a:avLst/>
          </a:prstGeom>
        </p:spPr>
        <p:txBody>
          <a:bodyPr anchor="t" rtlCol="false" tIns="0" lIns="0" bIns="0" rIns="0">
            <a:spAutoFit/>
          </a:bodyPr>
          <a:lstStyle/>
          <a:p>
            <a:pPr algn="l" marL="634455" indent="-317227" lvl="1">
              <a:lnSpc>
                <a:spcPts val="4995"/>
              </a:lnSpc>
              <a:buFont typeface="Arial"/>
              <a:buChar char="•"/>
            </a:pPr>
            <a:r>
              <a:rPr lang="en-US" b="true" sz="2938" spc="211">
                <a:solidFill>
                  <a:srgbClr val="000000"/>
                </a:solidFill>
                <a:latin typeface="Open Sauce Bold"/>
                <a:ea typeface="Open Sauce Bold"/>
                <a:cs typeface="Open Sauce Bold"/>
                <a:sym typeface="Open Sauce Bold"/>
              </a:rPr>
              <a:t>Business Environment:</a:t>
            </a:r>
            <a:r>
              <a:rPr lang="en-US" sz="2938" spc="211">
                <a:solidFill>
                  <a:srgbClr val="000000"/>
                </a:solidFill>
                <a:latin typeface="Open Sauce"/>
                <a:ea typeface="Open Sauce"/>
                <a:cs typeface="Open Sauce"/>
                <a:sym typeface="Open Sauce"/>
              </a:rPr>
              <a:t> Underground infrastructure management</a:t>
            </a:r>
          </a:p>
          <a:p>
            <a:pPr algn="l">
              <a:lnSpc>
                <a:spcPts val="4995"/>
              </a:lnSpc>
            </a:pPr>
          </a:p>
        </p:txBody>
      </p:sp>
      <p:sp>
        <p:nvSpPr>
          <p:cNvPr name="TextBox 5" id="5"/>
          <p:cNvSpPr txBox="true"/>
          <p:nvPr/>
        </p:nvSpPr>
        <p:spPr>
          <a:xfrm rot="0">
            <a:off x="933450" y="3720175"/>
            <a:ext cx="13231582" cy="2470871"/>
          </a:xfrm>
          <a:prstGeom prst="rect">
            <a:avLst/>
          </a:prstGeom>
        </p:spPr>
        <p:txBody>
          <a:bodyPr anchor="t" rtlCol="false" tIns="0" lIns="0" bIns="0" rIns="0">
            <a:spAutoFit/>
          </a:bodyPr>
          <a:lstStyle/>
          <a:p>
            <a:pPr algn="l">
              <a:lnSpc>
                <a:spcPts val="4995"/>
              </a:lnSpc>
            </a:pPr>
          </a:p>
          <a:p>
            <a:pPr algn="l" marL="634455" indent="-317227" lvl="1">
              <a:lnSpc>
                <a:spcPts val="4995"/>
              </a:lnSpc>
              <a:buFont typeface="Arial"/>
              <a:buChar char="•"/>
            </a:pPr>
            <a:r>
              <a:rPr lang="en-US" b="true" sz="2938" spc="211">
                <a:solidFill>
                  <a:srgbClr val="000000"/>
                </a:solidFill>
                <a:latin typeface="Open Sauce Bold"/>
                <a:ea typeface="Open Sauce Bold"/>
                <a:cs typeface="Open Sauce Bold"/>
                <a:sym typeface="Open Sauce Bold"/>
              </a:rPr>
              <a:t>Who’s involved:</a:t>
            </a:r>
            <a:r>
              <a:rPr lang="en-US" sz="2938" spc="211">
                <a:solidFill>
                  <a:srgbClr val="000000"/>
                </a:solidFill>
                <a:latin typeface="Open Sauce"/>
                <a:ea typeface="Open Sauce"/>
                <a:cs typeface="Open Sauce"/>
                <a:sym typeface="Open Sauce"/>
              </a:rPr>
              <a:t> Construction crews, utility companies, 811 services, city agencies, emergency responders</a:t>
            </a:r>
          </a:p>
          <a:p>
            <a:pPr algn="l">
              <a:lnSpc>
                <a:spcPts val="4995"/>
              </a:lnSpc>
            </a:pPr>
          </a:p>
        </p:txBody>
      </p:sp>
      <p:sp>
        <p:nvSpPr>
          <p:cNvPr name="TextBox 6" id="6"/>
          <p:cNvSpPr txBox="true"/>
          <p:nvPr/>
        </p:nvSpPr>
        <p:spPr>
          <a:xfrm rot="0">
            <a:off x="933450" y="7466562"/>
            <a:ext cx="13231582" cy="1842221"/>
          </a:xfrm>
          <a:prstGeom prst="rect">
            <a:avLst/>
          </a:prstGeom>
        </p:spPr>
        <p:txBody>
          <a:bodyPr anchor="t" rtlCol="false" tIns="0" lIns="0" bIns="0" rIns="0">
            <a:spAutoFit/>
          </a:bodyPr>
          <a:lstStyle/>
          <a:p>
            <a:pPr algn="l" marL="634455" indent="-317227" lvl="1">
              <a:lnSpc>
                <a:spcPts val="4995"/>
              </a:lnSpc>
              <a:buFont typeface="Arial"/>
              <a:buChar char="•"/>
            </a:pPr>
            <a:r>
              <a:rPr lang="en-US" b="true" sz="2938" spc="211">
                <a:solidFill>
                  <a:srgbClr val="000000"/>
                </a:solidFill>
                <a:latin typeface="Open Sauce Bold"/>
                <a:ea typeface="Open Sauce Bold"/>
                <a:cs typeface="Open Sauce Bold"/>
                <a:sym typeface="Open Sauce Bold"/>
              </a:rPr>
              <a:t>Core Pain Points:</a:t>
            </a:r>
            <a:r>
              <a:rPr lang="en-US" sz="2938" spc="211">
                <a:solidFill>
                  <a:srgbClr val="000000"/>
                </a:solidFill>
                <a:latin typeface="Open Sauce"/>
                <a:ea typeface="Open Sauce"/>
                <a:cs typeface="Open Sauce"/>
                <a:sym typeface="Open Sauce"/>
              </a:rPr>
              <a:t> Delays, fragmented records, conflicing sources, safety risks &amp; utility strikes</a:t>
            </a:r>
          </a:p>
          <a:p>
            <a:pPr algn="l">
              <a:lnSpc>
                <a:spcPts val="4995"/>
              </a:lnSpc>
            </a:pPr>
          </a:p>
        </p:txBody>
      </p:sp>
      <p:sp>
        <p:nvSpPr>
          <p:cNvPr name="TextBox 7" id="7"/>
          <p:cNvSpPr txBox="true"/>
          <p:nvPr/>
        </p:nvSpPr>
        <p:spPr>
          <a:xfrm rot="0">
            <a:off x="933450" y="5303111"/>
            <a:ext cx="13231582" cy="2470871"/>
          </a:xfrm>
          <a:prstGeom prst="rect">
            <a:avLst/>
          </a:prstGeom>
        </p:spPr>
        <p:txBody>
          <a:bodyPr anchor="t" rtlCol="false" tIns="0" lIns="0" bIns="0" rIns="0">
            <a:spAutoFit/>
          </a:bodyPr>
          <a:lstStyle/>
          <a:p>
            <a:pPr algn="l">
              <a:lnSpc>
                <a:spcPts val="4995"/>
              </a:lnSpc>
            </a:pPr>
          </a:p>
          <a:p>
            <a:pPr algn="l" marL="634455" indent="-317227" lvl="1">
              <a:lnSpc>
                <a:spcPts val="4995"/>
              </a:lnSpc>
              <a:buFont typeface="Arial"/>
              <a:buChar char="•"/>
            </a:pPr>
            <a:r>
              <a:rPr lang="en-US" b="true" sz="2938" spc="211">
                <a:solidFill>
                  <a:srgbClr val="000000"/>
                </a:solidFill>
                <a:latin typeface="Open Sauce Bold"/>
                <a:ea typeface="Open Sauce Bold"/>
                <a:cs typeface="Open Sauce Bold"/>
                <a:sym typeface="Open Sauce Bold"/>
              </a:rPr>
              <a:t>Current Workflow:</a:t>
            </a:r>
            <a:r>
              <a:rPr lang="en-US" sz="2938" spc="211">
                <a:solidFill>
                  <a:srgbClr val="000000"/>
                </a:solidFill>
                <a:latin typeface="Open Sauce"/>
                <a:ea typeface="Open Sauce"/>
                <a:cs typeface="Open Sauce"/>
                <a:sym typeface="Open Sauce"/>
              </a:rPr>
              <a:t> 811 ticket → utility markings → crews excavate</a:t>
            </a:r>
          </a:p>
          <a:p>
            <a:pPr algn="l">
              <a:lnSpc>
                <a:spcPts val="4995"/>
              </a:lnSpc>
            </a:pPr>
          </a:p>
        </p:txBody>
      </p:sp>
      <p:sp>
        <p:nvSpPr>
          <p:cNvPr name="TextBox 8" id="8"/>
          <p:cNvSpPr txBox="true"/>
          <p:nvPr/>
        </p:nvSpPr>
        <p:spPr>
          <a:xfrm rot="0">
            <a:off x="1028700" y="1423992"/>
            <a:ext cx="9375710"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Scope of the Work</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11</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grpSp>
        <p:nvGrpSpPr>
          <p:cNvPr name="Group 4" id="4"/>
          <p:cNvGrpSpPr/>
          <p:nvPr/>
        </p:nvGrpSpPr>
        <p:grpSpPr>
          <a:xfrm rot="0">
            <a:off x="6475112" y="1920784"/>
            <a:ext cx="5337775" cy="7004015"/>
            <a:chOff x="0" y="0"/>
            <a:chExt cx="1405834" cy="1844679"/>
          </a:xfrm>
        </p:grpSpPr>
        <p:sp>
          <p:nvSpPr>
            <p:cNvPr name="Freeform 5" id="5"/>
            <p:cNvSpPr/>
            <p:nvPr/>
          </p:nvSpPr>
          <p:spPr>
            <a:xfrm flipH="false" flipV="false" rot="0">
              <a:off x="0" y="0"/>
              <a:ext cx="1405834" cy="1844679"/>
            </a:xfrm>
            <a:custGeom>
              <a:avLst/>
              <a:gdLst/>
              <a:ahLst/>
              <a:cxnLst/>
              <a:rect r="r" b="b" t="t" l="l"/>
              <a:pathLst>
                <a:path h="1844679" w="1405834">
                  <a:moveTo>
                    <a:pt x="42062" y="0"/>
                  </a:moveTo>
                  <a:lnTo>
                    <a:pt x="1363772" y="0"/>
                  </a:lnTo>
                  <a:cubicBezTo>
                    <a:pt x="1374928" y="0"/>
                    <a:pt x="1385626" y="4431"/>
                    <a:pt x="1393514" y="12320"/>
                  </a:cubicBezTo>
                  <a:cubicBezTo>
                    <a:pt x="1401402" y="20208"/>
                    <a:pt x="1405834" y="30906"/>
                    <a:pt x="1405834" y="42062"/>
                  </a:cubicBezTo>
                  <a:lnTo>
                    <a:pt x="1405834" y="1802617"/>
                  </a:lnTo>
                  <a:cubicBezTo>
                    <a:pt x="1405834" y="1813773"/>
                    <a:pt x="1401402" y="1824471"/>
                    <a:pt x="1393514" y="1832359"/>
                  </a:cubicBezTo>
                  <a:cubicBezTo>
                    <a:pt x="1385626" y="1840247"/>
                    <a:pt x="1374928" y="1844679"/>
                    <a:pt x="1363772" y="1844679"/>
                  </a:cubicBezTo>
                  <a:lnTo>
                    <a:pt x="42062" y="1844679"/>
                  </a:lnTo>
                  <a:cubicBezTo>
                    <a:pt x="30906" y="1844679"/>
                    <a:pt x="20208" y="1840247"/>
                    <a:pt x="12320" y="1832359"/>
                  </a:cubicBezTo>
                  <a:cubicBezTo>
                    <a:pt x="4431" y="1824471"/>
                    <a:pt x="0" y="1813773"/>
                    <a:pt x="0" y="1802617"/>
                  </a:cubicBezTo>
                  <a:lnTo>
                    <a:pt x="0" y="42062"/>
                  </a:lnTo>
                  <a:cubicBezTo>
                    <a:pt x="0" y="30906"/>
                    <a:pt x="4431" y="20208"/>
                    <a:pt x="12320" y="12320"/>
                  </a:cubicBezTo>
                  <a:cubicBezTo>
                    <a:pt x="20208" y="4431"/>
                    <a:pt x="30906" y="0"/>
                    <a:pt x="42062" y="0"/>
                  </a:cubicBezTo>
                  <a:close/>
                </a:path>
              </a:pathLst>
            </a:custGeom>
            <a:solidFill>
              <a:srgbClr val="EDEDED"/>
            </a:solidFill>
            <a:ln w="19050" cap="rnd">
              <a:solidFill>
                <a:srgbClr val="000000"/>
              </a:solidFill>
              <a:prstDash val="solid"/>
              <a:round/>
            </a:ln>
          </p:spPr>
        </p:sp>
        <p:sp>
          <p:nvSpPr>
            <p:cNvPr name="TextBox 6" id="6"/>
            <p:cNvSpPr txBox="true"/>
            <p:nvPr/>
          </p:nvSpPr>
          <p:spPr>
            <a:xfrm>
              <a:off x="0" y="-47625"/>
              <a:ext cx="1405834" cy="1892304"/>
            </a:xfrm>
            <a:prstGeom prst="rect">
              <a:avLst/>
            </a:prstGeom>
          </p:spPr>
          <p:txBody>
            <a:bodyPr anchor="ctr" rtlCol="false" tIns="50800" lIns="50800" bIns="50800" rIns="50800"/>
            <a:lstStyle/>
            <a:p>
              <a:pPr algn="ctr">
                <a:lnSpc>
                  <a:spcPts val="2940"/>
                </a:lnSpc>
              </a:pPr>
            </a:p>
          </p:txBody>
        </p:sp>
      </p:grpSp>
      <p:grpSp>
        <p:nvGrpSpPr>
          <p:cNvPr name="Group 7" id="7"/>
          <p:cNvGrpSpPr/>
          <p:nvPr/>
        </p:nvGrpSpPr>
        <p:grpSpPr>
          <a:xfrm rot="0">
            <a:off x="7965833" y="2101015"/>
            <a:ext cx="2356334" cy="503644"/>
            <a:chOff x="0" y="0"/>
            <a:chExt cx="620598" cy="132647"/>
          </a:xfrm>
        </p:grpSpPr>
        <p:sp>
          <p:nvSpPr>
            <p:cNvPr name="Freeform 8" id="8"/>
            <p:cNvSpPr/>
            <p:nvPr/>
          </p:nvSpPr>
          <p:spPr>
            <a:xfrm flipH="false" flipV="false" rot="0">
              <a:off x="0" y="0"/>
              <a:ext cx="620598" cy="132647"/>
            </a:xfrm>
            <a:custGeom>
              <a:avLst/>
              <a:gdLst/>
              <a:ahLst/>
              <a:cxnLst/>
              <a:rect r="r" b="b" t="t" l="l"/>
              <a:pathLst>
                <a:path h="132647" w="620598">
                  <a:moveTo>
                    <a:pt x="42713" y="0"/>
                  </a:moveTo>
                  <a:lnTo>
                    <a:pt x="577886" y="0"/>
                  </a:lnTo>
                  <a:cubicBezTo>
                    <a:pt x="589214" y="0"/>
                    <a:pt x="600078" y="4500"/>
                    <a:pt x="608088" y="12510"/>
                  </a:cubicBezTo>
                  <a:cubicBezTo>
                    <a:pt x="616098" y="20520"/>
                    <a:pt x="620598" y="31384"/>
                    <a:pt x="620598" y="42713"/>
                  </a:cubicBezTo>
                  <a:lnTo>
                    <a:pt x="620598" y="89934"/>
                  </a:lnTo>
                  <a:cubicBezTo>
                    <a:pt x="620598" y="101263"/>
                    <a:pt x="616098" y="112127"/>
                    <a:pt x="608088" y="120137"/>
                  </a:cubicBezTo>
                  <a:cubicBezTo>
                    <a:pt x="600078" y="128147"/>
                    <a:pt x="589214" y="132647"/>
                    <a:pt x="577886" y="132647"/>
                  </a:cubicBezTo>
                  <a:lnTo>
                    <a:pt x="42713" y="132647"/>
                  </a:lnTo>
                  <a:cubicBezTo>
                    <a:pt x="19123" y="132647"/>
                    <a:pt x="0" y="113524"/>
                    <a:pt x="0" y="89934"/>
                  </a:cubicBezTo>
                  <a:lnTo>
                    <a:pt x="0" y="42713"/>
                  </a:lnTo>
                  <a:cubicBezTo>
                    <a:pt x="0" y="31384"/>
                    <a:pt x="4500" y="20520"/>
                    <a:pt x="12510" y="12510"/>
                  </a:cubicBezTo>
                  <a:cubicBezTo>
                    <a:pt x="20520" y="4500"/>
                    <a:pt x="31384" y="0"/>
                    <a:pt x="42713" y="0"/>
                  </a:cubicBezTo>
                  <a:close/>
                </a:path>
              </a:pathLst>
            </a:custGeom>
            <a:solidFill>
              <a:srgbClr val="DCCFB8"/>
            </a:solidFill>
            <a:ln w="19050" cap="sq">
              <a:solidFill>
                <a:srgbClr val="000000"/>
              </a:solidFill>
              <a:prstDash val="solid"/>
              <a:miter/>
            </a:ln>
          </p:spPr>
        </p:sp>
        <p:sp>
          <p:nvSpPr>
            <p:cNvPr name="TextBox 9" id="9"/>
            <p:cNvSpPr txBox="true"/>
            <p:nvPr/>
          </p:nvSpPr>
          <p:spPr>
            <a:xfrm>
              <a:off x="0" y="-47625"/>
              <a:ext cx="620598" cy="180272"/>
            </a:xfrm>
            <a:prstGeom prst="rect">
              <a:avLst/>
            </a:prstGeom>
          </p:spPr>
          <p:txBody>
            <a:bodyPr anchor="ctr" rtlCol="false" tIns="50800" lIns="50800" bIns="50800" rIns="50800"/>
            <a:lstStyle/>
            <a:p>
              <a:pPr algn="ctr">
                <a:lnSpc>
                  <a:spcPts val="2940"/>
                </a:lnSpc>
              </a:pPr>
              <a:r>
                <a:rPr lang="en-US" sz="2100" spc="42">
                  <a:solidFill>
                    <a:srgbClr val="000000"/>
                  </a:solidFill>
                  <a:latin typeface="Open Sauce"/>
                  <a:ea typeface="Open Sauce"/>
                  <a:cs typeface="Open Sauce"/>
                  <a:sym typeface="Open Sauce"/>
                </a:rPr>
                <a:t>SubterraView</a:t>
              </a:r>
            </a:p>
          </p:txBody>
        </p:sp>
      </p:grpSp>
      <p:grpSp>
        <p:nvGrpSpPr>
          <p:cNvPr name="Group 10" id="10"/>
          <p:cNvGrpSpPr/>
          <p:nvPr/>
        </p:nvGrpSpPr>
        <p:grpSpPr>
          <a:xfrm rot="0">
            <a:off x="6795880" y="2883004"/>
            <a:ext cx="4697743" cy="503644"/>
            <a:chOff x="0" y="0"/>
            <a:chExt cx="1237266" cy="132647"/>
          </a:xfrm>
        </p:grpSpPr>
        <p:sp>
          <p:nvSpPr>
            <p:cNvPr name="Freeform 11" id="11"/>
            <p:cNvSpPr/>
            <p:nvPr/>
          </p:nvSpPr>
          <p:spPr>
            <a:xfrm flipH="false" flipV="false" rot="0">
              <a:off x="0" y="0"/>
              <a:ext cx="1237266" cy="132647"/>
            </a:xfrm>
            <a:custGeom>
              <a:avLst/>
              <a:gdLst/>
              <a:ahLst/>
              <a:cxnLst/>
              <a:rect r="r" b="b" t="t" l="l"/>
              <a:pathLst>
                <a:path h="132647" w="1237266">
                  <a:moveTo>
                    <a:pt x="21424" y="0"/>
                  </a:moveTo>
                  <a:lnTo>
                    <a:pt x="1215841" y="0"/>
                  </a:lnTo>
                  <a:cubicBezTo>
                    <a:pt x="1221524" y="0"/>
                    <a:pt x="1226973" y="2257"/>
                    <a:pt x="1230991" y="6275"/>
                  </a:cubicBezTo>
                  <a:cubicBezTo>
                    <a:pt x="1235008" y="10293"/>
                    <a:pt x="1237266" y="15742"/>
                    <a:pt x="1237266" y="21424"/>
                  </a:cubicBezTo>
                  <a:lnTo>
                    <a:pt x="1237266" y="111223"/>
                  </a:lnTo>
                  <a:cubicBezTo>
                    <a:pt x="1237266" y="116905"/>
                    <a:pt x="1235008" y="122354"/>
                    <a:pt x="1230991" y="126372"/>
                  </a:cubicBezTo>
                  <a:cubicBezTo>
                    <a:pt x="1226973" y="130390"/>
                    <a:pt x="1221524" y="132647"/>
                    <a:pt x="1215841" y="132647"/>
                  </a:cubicBezTo>
                  <a:lnTo>
                    <a:pt x="21424" y="132647"/>
                  </a:lnTo>
                  <a:cubicBezTo>
                    <a:pt x="15742" y="132647"/>
                    <a:pt x="10293" y="130390"/>
                    <a:pt x="6275" y="126372"/>
                  </a:cubicBezTo>
                  <a:cubicBezTo>
                    <a:pt x="2257" y="122354"/>
                    <a:pt x="0" y="116905"/>
                    <a:pt x="0" y="111223"/>
                  </a:cubicBezTo>
                  <a:lnTo>
                    <a:pt x="0" y="21424"/>
                  </a:lnTo>
                  <a:cubicBezTo>
                    <a:pt x="0" y="15742"/>
                    <a:pt x="2257" y="10293"/>
                    <a:pt x="6275" y="6275"/>
                  </a:cubicBezTo>
                  <a:cubicBezTo>
                    <a:pt x="10293" y="2257"/>
                    <a:pt x="15742" y="0"/>
                    <a:pt x="21424" y="0"/>
                  </a:cubicBezTo>
                  <a:close/>
                </a:path>
              </a:pathLst>
            </a:custGeom>
            <a:solidFill>
              <a:srgbClr val="D8B1B1"/>
            </a:solidFill>
            <a:ln w="19050" cap="sq">
              <a:solidFill>
                <a:srgbClr val="000000"/>
              </a:solidFill>
              <a:prstDash val="solid"/>
              <a:miter/>
            </a:ln>
          </p:spPr>
        </p:sp>
        <p:sp>
          <p:nvSpPr>
            <p:cNvPr name="TextBox 12" id="12"/>
            <p:cNvSpPr txBox="true"/>
            <p:nvPr/>
          </p:nvSpPr>
          <p:spPr>
            <a:xfrm>
              <a:off x="0" y="-47625"/>
              <a:ext cx="1237266" cy="180272"/>
            </a:xfrm>
            <a:prstGeom prst="rect">
              <a:avLst/>
            </a:prstGeom>
          </p:spPr>
          <p:txBody>
            <a:bodyPr anchor="ctr" rtlCol="false" tIns="50800" lIns="50800" bIns="50800" rIns="50800"/>
            <a:lstStyle/>
            <a:p>
              <a:pPr algn="ctr">
                <a:lnSpc>
                  <a:spcPts val="2940"/>
                </a:lnSpc>
              </a:pPr>
              <a:r>
                <a:rPr lang="en-US" sz="2100" spc="42">
                  <a:solidFill>
                    <a:srgbClr val="000000"/>
                  </a:solidFill>
                  <a:latin typeface="Open Sauce"/>
                  <a:ea typeface="Open Sauce"/>
                  <a:cs typeface="Open Sauce"/>
                  <a:sym typeface="Open Sauce"/>
                </a:rPr>
                <a:t>View Underground Infrastructure</a:t>
              </a:r>
            </a:p>
          </p:txBody>
        </p:sp>
      </p:grpSp>
      <p:grpSp>
        <p:nvGrpSpPr>
          <p:cNvPr name="Group 13" id="13"/>
          <p:cNvGrpSpPr/>
          <p:nvPr/>
        </p:nvGrpSpPr>
        <p:grpSpPr>
          <a:xfrm rot="0">
            <a:off x="6800924" y="3849713"/>
            <a:ext cx="4697743" cy="503644"/>
            <a:chOff x="0" y="0"/>
            <a:chExt cx="1237266" cy="132647"/>
          </a:xfrm>
        </p:grpSpPr>
        <p:sp>
          <p:nvSpPr>
            <p:cNvPr name="Freeform 14" id="14"/>
            <p:cNvSpPr/>
            <p:nvPr/>
          </p:nvSpPr>
          <p:spPr>
            <a:xfrm flipH="false" flipV="false" rot="0">
              <a:off x="0" y="0"/>
              <a:ext cx="1237266" cy="132647"/>
            </a:xfrm>
            <a:custGeom>
              <a:avLst/>
              <a:gdLst/>
              <a:ahLst/>
              <a:cxnLst/>
              <a:rect r="r" b="b" t="t" l="l"/>
              <a:pathLst>
                <a:path h="132647" w="1237266">
                  <a:moveTo>
                    <a:pt x="21424" y="0"/>
                  </a:moveTo>
                  <a:lnTo>
                    <a:pt x="1215841" y="0"/>
                  </a:lnTo>
                  <a:cubicBezTo>
                    <a:pt x="1221524" y="0"/>
                    <a:pt x="1226973" y="2257"/>
                    <a:pt x="1230991" y="6275"/>
                  </a:cubicBezTo>
                  <a:cubicBezTo>
                    <a:pt x="1235008" y="10293"/>
                    <a:pt x="1237266" y="15742"/>
                    <a:pt x="1237266" y="21424"/>
                  </a:cubicBezTo>
                  <a:lnTo>
                    <a:pt x="1237266" y="111223"/>
                  </a:lnTo>
                  <a:cubicBezTo>
                    <a:pt x="1237266" y="116905"/>
                    <a:pt x="1235008" y="122354"/>
                    <a:pt x="1230991" y="126372"/>
                  </a:cubicBezTo>
                  <a:cubicBezTo>
                    <a:pt x="1226973" y="130390"/>
                    <a:pt x="1221524" y="132647"/>
                    <a:pt x="1215841" y="132647"/>
                  </a:cubicBezTo>
                  <a:lnTo>
                    <a:pt x="21424" y="132647"/>
                  </a:lnTo>
                  <a:cubicBezTo>
                    <a:pt x="15742" y="132647"/>
                    <a:pt x="10293" y="130390"/>
                    <a:pt x="6275" y="126372"/>
                  </a:cubicBezTo>
                  <a:cubicBezTo>
                    <a:pt x="2257" y="122354"/>
                    <a:pt x="0" y="116905"/>
                    <a:pt x="0" y="111223"/>
                  </a:cubicBezTo>
                  <a:lnTo>
                    <a:pt x="0" y="21424"/>
                  </a:lnTo>
                  <a:cubicBezTo>
                    <a:pt x="0" y="15742"/>
                    <a:pt x="2257" y="10293"/>
                    <a:pt x="6275" y="6275"/>
                  </a:cubicBezTo>
                  <a:cubicBezTo>
                    <a:pt x="10293" y="2257"/>
                    <a:pt x="15742" y="0"/>
                    <a:pt x="21424" y="0"/>
                  </a:cubicBezTo>
                  <a:close/>
                </a:path>
              </a:pathLst>
            </a:custGeom>
            <a:solidFill>
              <a:srgbClr val="D8B1B1"/>
            </a:solidFill>
            <a:ln w="19050" cap="sq">
              <a:solidFill>
                <a:srgbClr val="000000"/>
              </a:solidFill>
              <a:prstDash val="solid"/>
              <a:miter/>
            </a:ln>
          </p:spPr>
        </p:sp>
        <p:sp>
          <p:nvSpPr>
            <p:cNvPr name="TextBox 15" id="15"/>
            <p:cNvSpPr txBox="true"/>
            <p:nvPr/>
          </p:nvSpPr>
          <p:spPr>
            <a:xfrm>
              <a:off x="0" y="-47625"/>
              <a:ext cx="1237266" cy="180272"/>
            </a:xfrm>
            <a:prstGeom prst="rect">
              <a:avLst/>
            </a:prstGeom>
          </p:spPr>
          <p:txBody>
            <a:bodyPr anchor="ctr" rtlCol="false" tIns="50800" lIns="50800" bIns="50800" rIns="50800"/>
            <a:lstStyle/>
            <a:p>
              <a:pPr algn="ctr">
                <a:lnSpc>
                  <a:spcPts val="2940"/>
                </a:lnSpc>
              </a:pPr>
              <a:r>
                <a:rPr lang="en-US" sz="2100" spc="42">
                  <a:solidFill>
                    <a:srgbClr val="000000"/>
                  </a:solidFill>
                  <a:latin typeface="Open Sauce"/>
                  <a:ea typeface="Open Sauce"/>
                  <a:cs typeface="Open Sauce"/>
                  <a:sym typeface="Open Sauce"/>
                </a:rPr>
                <a:t>Validate Utility Records</a:t>
              </a:r>
            </a:p>
          </p:txBody>
        </p:sp>
      </p:grpSp>
      <p:grpSp>
        <p:nvGrpSpPr>
          <p:cNvPr name="Group 16" id="16"/>
          <p:cNvGrpSpPr/>
          <p:nvPr/>
        </p:nvGrpSpPr>
        <p:grpSpPr>
          <a:xfrm rot="0">
            <a:off x="6795129" y="4808147"/>
            <a:ext cx="4697743" cy="503644"/>
            <a:chOff x="0" y="0"/>
            <a:chExt cx="1237266" cy="132647"/>
          </a:xfrm>
        </p:grpSpPr>
        <p:sp>
          <p:nvSpPr>
            <p:cNvPr name="Freeform 17" id="17"/>
            <p:cNvSpPr/>
            <p:nvPr/>
          </p:nvSpPr>
          <p:spPr>
            <a:xfrm flipH="false" flipV="false" rot="0">
              <a:off x="0" y="0"/>
              <a:ext cx="1237266" cy="132647"/>
            </a:xfrm>
            <a:custGeom>
              <a:avLst/>
              <a:gdLst/>
              <a:ahLst/>
              <a:cxnLst/>
              <a:rect r="r" b="b" t="t" l="l"/>
              <a:pathLst>
                <a:path h="132647" w="1237266">
                  <a:moveTo>
                    <a:pt x="21424" y="0"/>
                  </a:moveTo>
                  <a:lnTo>
                    <a:pt x="1215841" y="0"/>
                  </a:lnTo>
                  <a:cubicBezTo>
                    <a:pt x="1221524" y="0"/>
                    <a:pt x="1226973" y="2257"/>
                    <a:pt x="1230991" y="6275"/>
                  </a:cubicBezTo>
                  <a:cubicBezTo>
                    <a:pt x="1235008" y="10293"/>
                    <a:pt x="1237266" y="15742"/>
                    <a:pt x="1237266" y="21424"/>
                  </a:cubicBezTo>
                  <a:lnTo>
                    <a:pt x="1237266" y="111223"/>
                  </a:lnTo>
                  <a:cubicBezTo>
                    <a:pt x="1237266" y="116905"/>
                    <a:pt x="1235008" y="122354"/>
                    <a:pt x="1230991" y="126372"/>
                  </a:cubicBezTo>
                  <a:cubicBezTo>
                    <a:pt x="1226973" y="130390"/>
                    <a:pt x="1221524" y="132647"/>
                    <a:pt x="1215841" y="132647"/>
                  </a:cubicBezTo>
                  <a:lnTo>
                    <a:pt x="21424" y="132647"/>
                  </a:lnTo>
                  <a:cubicBezTo>
                    <a:pt x="15742" y="132647"/>
                    <a:pt x="10293" y="130390"/>
                    <a:pt x="6275" y="126372"/>
                  </a:cubicBezTo>
                  <a:cubicBezTo>
                    <a:pt x="2257" y="122354"/>
                    <a:pt x="0" y="116905"/>
                    <a:pt x="0" y="111223"/>
                  </a:cubicBezTo>
                  <a:lnTo>
                    <a:pt x="0" y="21424"/>
                  </a:lnTo>
                  <a:cubicBezTo>
                    <a:pt x="0" y="15742"/>
                    <a:pt x="2257" y="10293"/>
                    <a:pt x="6275" y="6275"/>
                  </a:cubicBezTo>
                  <a:cubicBezTo>
                    <a:pt x="10293" y="2257"/>
                    <a:pt x="15742" y="0"/>
                    <a:pt x="21424" y="0"/>
                  </a:cubicBezTo>
                  <a:close/>
                </a:path>
              </a:pathLst>
            </a:custGeom>
            <a:solidFill>
              <a:srgbClr val="D8B1B1"/>
            </a:solidFill>
            <a:ln w="19050" cap="sq">
              <a:solidFill>
                <a:srgbClr val="000000"/>
              </a:solidFill>
              <a:prstDash val="solid"/>
              <a:miter/>
            </a:ln>
          </p:spPr>
        </p:sp>
        <p:sp>
          <p:nvSpPr>
            <p:cNvPr name="TextBox 18" id="18"/>
            <p:cNvSpPr txBox="true"/>
            <p:nvPr/>
          </p:nvSpPr>
          <p:spPr>
            <a:xfrm>
              <a:off x="0" y="-47625"/>
              <a:ext cx="1237266" cy="180272"/>
            </a:xfrm>
            <a:prstGeom prst="rect">
              <a:avLst/>
            </a:prstGeom>
          </p:spPr>
          <p:txBody>
            <a:bodyPr anchor="ctr" rtlCol="false" tIns="50800" lIns="50800" bIns="50800" rIns="50800"/>
            <a:lstStyle/>
            <a:p>
              <a:pPr algn="ctr">
                <a:lnSpc>
                  <a:spcPts val="2940"/>
                </a:lnSpc>
              </a:pPr>
              <a:r>
                <a:rPr lang="en-US" sz="2100" spc="42">
                  <a:solidFill>
                    <a:srgbClr val="000000"/>
                  </a:solidFill>
                  <a:latin typeface="Open Sauce"/>
                  <a:ea typeface="Open Sauce"/>
                  <a:cs typeface="Open Sauce"/>
                  <a:sym typeface="Open Sauce"/>
                </a:rPr>
                <a:t>Receive Hazard Alerts</a:t>
              </a:r>
            </a:p>
          </p:txBody>
        </p:sp>
      </p:grpSp>
      <p:grpSp>
        <p:nvGrpSpPr>
          <p:cNvPr name="Group 19" id="19"/>
          <p:cNvGrpSpPr/>
          <p:nvPr/>
        </p:nvGrpSpPr>
        <p:grpSpPr>
          <a:xfrm rot="0">
            <a:off x="6795129" y="5768991"/>
            <a:ext cx="4697743" cy="503644"/>
            <a:chOff x="0" y="0"/>
            <a:chExt cx="1237266" cy="132647"/>
          </a:xfrm>
        </p:grpSpPr>
        <p:sp>
          <p:nvSpPr>
            <p:cNvPr name="Freeform 20" id="20"/>
            <p:cNvSpPr/>
            <p:nvPr/>
          </p:nvSpPr>
          <p:spPr>
            <a:xfrm flipH="false" flipV="false" rot="0">
              <a:off x="0" y="0"/>
              <a:ext cx="1237266" cy="132647"/>
            </a:xfrm>
            <a:custGeom>
              <a:avLst/>
              <a:gdLst/>
              <a:ahLst/>
              <a:cxnLst/>
              <a:rect r="r" b="b" t="t" l="l"/>
              <a:pathLst>
                <a:path h="132647" w="1237266">
                  <a:moveTo>
                    <a:pt x="21424" y="0"/>
                  </a:moveTo>
                  <a:lnTo>
                    <a:pt x="1215841" y="0"/>
                  </a:lnTo>
                  <a:cubicBezTo>
                    <a:pt x="1221524" y="0"/>
                    <a:pt x="1226973" y="2257"/>
                    <a:pt x="1230991" y="6275"/>
                  </a:cubicBezTo>
                  <a:cubicBezTo>
                    <a:pt x="1235008" y="10293"/>
                    <a:pt x="1237266" y="15742"/>
                    <a:pt x="1237266" y="21424"/>
                  </a:cubicBezTo>
                  <a:lnTo>
                    <a:pt x="1237266" y="111223"/>
                  </a:lnTo>
                  <a:cubicBezTo>
                    <a:pt x="1237266" y="116905"/>
                    <a:pt x="1235008" y="122354"/>
                    <a:pt x="1230991" y="126372"/>
                  </a:cubicBezTo>
                  <a:cubicBezTo>
                    <a:pt x="1226973" y="130390"/>
                    <a:pt x="1221524" y="132647"/>
                    <a:pt x="1215841" y="132647"/>
                  </a:cubicBezTo>
                  <a:lnTo>
                    <a:pt x="21424" y="132647"/>
                  </a:lnTo>
                  <a:cubicBezTo>
                    <a:pt x="15742" y="132647"/>
                    <a:pt x="10293" y="130390"/>
                    <a:pt x="6275" y="126372"/>
                  </a:cubicBezTo>
                  <a:cubicBezTo>
                    <a:pt x="2257" y="122354"/>
                    <a:pt x="0" y="116905"/>
                    <a:pt x="0" y="111223"/>
                  </a:cubicBezTo>
                  <a:lnTo>
                    <a:pt x="0" y="21424"/>
                  </a:lnTo>
                  <a:cubicBezTo>
                    <a:pt x="0" y="15742"/>
                    <a:pt x="2257" y="10293"/>
                    <a:pt x="6275" y="6275"/>
                  </a:cubicBezTo>
                  <a:cubicBezTo>
                    <a:pt x="10293" y="2257"/>
                    <a:pt x="15742" y="0"/>
                    <a:pt x="21424" y="0"/>
                  </a:cubicBezTo>
                  <a:close/>
                </a:path>
              </a:pathLst>
            </a:custGeom>
            <a:solidFill>
              <a:srgbClr val="D8B1B1"/>
            </a:solidFill>
            <a:ln w="19050" cap="sq">
              <a:solidFill>
                <a:srgbClr val="000000"/>
              </a:solidFill>
              <a:prstDash val="solid"/>
              <a:miter/>
            </a:ln>
          </p:spPr>
        </p:sp>
        <p:sp>
          <p:nvSpPr>
            <p:cNvPr name="TextBox 21" id="21"/>
            <p:cNvSpPr txBox="true"/>
            <p:nvPr/>
          </p:nvSpPr>
          <p:spPr>
            <a:xfrm>
              <a:off x="0" y="-47625"/>
              <a:ext cx="1237266" cy="180272"/>
            </a:xfrm>
            <a:prstGeom prst="rect">
              <a:avLst/>
            </a:prstGeom>
          </p:spPr>
          <p:txBody>
            <a:bodyPr anchor="ctr" rtlCol="false" tIns="50800" lIns="50800" bIns="50800" rIns="50800"/>
            <a:lstStyle/>
            <a:p>
              <a:pPr algn="ctr">
                <a:lnSpc>
                  <a:spcPts val="2940"/>
                </a:lnSpc>
              </a:pPr>
              <a:r>
                <a:rPr lang="en-US" sz="2100" spc="42">
                  <a:solidFill>
                    <a:srgbClr val="000000"/>
                  </a:solidFill>
                  <a:latin typeface="Open Sauce"/>
                  <a:ea typeface="Open Sauce"/>
                  <a:cs typeface="Open Sauce"/>
                  <a:sym typeface="Open Sauce"/>
                </a:rPr>
                <a:t>Access Emergency Mode</a:t>
              </a:r>
            </a:p>
          </p:txBody>
        </p:sp>
      </p:grpSp>
      <p:grpSp>
        <p:nvGrpSpPr>
          <p:cNvPr name="Group 22" id="22"/>
          <p:cNvGrpSpPr/>
          <p:nvPr/>
        </p:nvGrpSpPr>
        <p:grpSpPr>
          <a:xfrm rot="0">
            <a:off x="6795129" y="6727270"/>
            <a:ext cx="4697743" cy="503644"/>
            <a:chOff x="0" y="0"/>
            <a:chExt cx="1237266" cy="132647"/>
          </a:xfrm>
        </p:grpSpPr>
        <p:sp>
          <p:nvSpPr>
            <p:cNvPr name="Freeform 23" id="23"/>
            <p:cNvSpPr/>
            <p:nvPr/>
          </p:nvSpPr>
          <p:spPr>
            <a:xfrm flipH="false" flipV="false" rot="0">
              <a:off x="0" y="0"/>
              <a:ext cx="1237266" cy="132647"/>
            </a:xfrm>
            <a:custGeom>
              <a:avLst/>
              <a:gdLst/>
              <a:ahLst/>
              <a:cxnLst/>
              <a:rect r="r" b="b" t="t" l="l"/>
              <a:pathLst>
                <a:path h="132647" w="1237266">
                  <a:moveTo>
                    <a:pt x="21424" y="0"/>
                  </a:moveTo>
                  <a:lnTo>
                    <a:pt x="1215841" y="0"/>
                  </a:lnTo>
                  <a:cubicBezTo>
                    <a:pt x="1221524" y="0"/>
                    <a:pt x="1226973" y="2257"/>
                    <a:pt x="1230991" y="6275"/>
                  </a:cubicBezTo>
                  <a:cubicBezTo>
                    <a:pt x="1235008" y="10293"/>
                    <a:pt x="1237266" y="15742"/>
                    <a:pt x="1237266" y="21424"/>
                  </a:cubicBezTo>
                  <a:lnTo>
                    <a:pt x="1237266" y="111223"/>
                  </a:lnTo>
                  <a:cubicBezTo>
                    <a:pt x="1237266" y="116905"/>
                    <a:pt x="1235008" y="122354"/>
                    <a:pt x="1230991" y="126372"/>
                  </a:cubicBezTo>
                  <a:cubicBezTo>
                    <a:pt x="1226973" y="130390"/>
                    <a:pt x="1221524" y="132647"/>
                    <a:pt x="1215841" y="132647"/>
                  </a:cubicBezTo>
                  <a:lnTo>
                    <a:pt x="21424" y="132647"/>
                  </a:lnTo>
                  <a:cubicBezTo>
                    <a:pt x="15742" y="132647"/>
                    <a:pt x="10293" y="130390"/>
                    <a:pt x="6275" y="126372"/>
                  </a:cubicBezTo>
                  <a:cubicBezTo>
                    <a:pt x="2257" y="122354"/>
                    <a:pt x="0" y="116905"/>
                    <a:pt x="0" y="111223"/>
                  </a:cubicBezTo>
                  <a:lnTo>
                    <a:pt x="0" y="21424"/>
                  </a:lnTo>
                  <a:cubicBezTo>
                    <a:pt x="0" y="15742"/>
                    <a:pt x="2257" y="10293"/>
                    <a:pt x="6275" y="6275"/>
                  </a:cubicBezTo>
                  <a:cubicBezTo>
                    <a:pt x="10293" y="2257"/>
                    <a:pt x="15742" y="0"/>
                    <a:pt x="21424" y="0"/>
                  </a:cubicBezTo>
                  <a:close/>
                </a:path>
              </a:pathLst>
            </a:custGeom>
            <a:solidFill>
              <a:srgbClr val="D8B1B1"/>
            </a:solidFill>
            <a:ln w="19050" cap="sq">
              <a:solidFill>
                <a:srgbClr val="000000"/>
              </a:solidFill>
              <a:prstDash val="solid"/>
              <a:miter/>
            </a:ln>
          </p:spPr>
        </p:sp>
        <p:sp>
          <p:nvSpPr>
            <p:cNvPr name="TextBox 24" id="24"/>
            <p:cNvSpPr txBox="true"/>
            <p:nvPr/>
          </p:nvSpPr>
          <p:spPr>
            <a:xfrm>
              <a:off x="0" y="-47625"/>
              <a:ext cx="1237266" cy="180272"/>
            </a:xfrm>
            <a:prstGeom prst="rect">
              <a:avLst/>
            </a:prstGeom>
          </p:spPr>
          <p:txBody>
            <a:bodyPr anchor="ctr" rtlCol="false" tIns="50800" lIns="50800" bIns="50800" rIns="50800"/>
            <a:lstStyle/>
            <a:p>
              <a:pPr algn="ctr">
                <a:lnSpc>
                  <a:spcPts val="2940"/>
                </a:lnSpc>
              </a:pPr>
              <a:r>
                <a:rPr lang="en-US" sz="2100" spc="42">
                  <a:solidFill>
                    <a:srgbClr val="000000"/>
                  </a:solidFill>
                  <a:latin typeface="Open Sauce"/>
                  <a:ea typeface="Open Sauce"/>
                  <a:cs typeface="Open Sauce"/>
                  <a:sym typeface="Open Sauce"/>
                </a:rPr>
                <a:t>Review Data Accuracy Reports</a:t>
              </a:r>
            </a:p>
          </p:txBody>
        </p:sp>
      </p:grpSp>
      <p:grpSp>
        <p:nvGrpSpPr>
          <p:cNvPr name="Group 25" id="25"/>
          <p:cNvGrpSpPr/>
          <p:nvPr/>
        </p:nvGrpSpPr>
        <p:grpSpPr>
          <a:xfrm rot="0">
            <a:off x="6795129" y="7685549"/>
            <a:ext cx="4697743" cy="875119"/>
            <a:chOff x="0" y="0"/>
            <a:chExt cx="1237266" cy="230484"/>
          </a:xfrm>
        </p:grpSpPr>
        <p:sp>
          <p:nvSpPr>
            <p:cNvPr name="Freeform 26" id="26"/>
            <p:cNvSpPr/>
            <p:nvPr/>
          </p:nvSpPr>
          <p:spPr>
            <a:xfrm flipH="false" flipV="false" rot="0">
              <a:off x="0" y="0"/>
              <a:ext cx="1237266" cy="230484"/>
            </a:xfrm>
            <a:custGeom>
              <a:avLst/>
              <a:gdLst/>
              <a:ahLst/>
              <a:cxnLst/>
              <a:rect r="r" b="b" t="t" l="l"/>
              <a:pathLst>
                <a:path h="230484" w="1237266">
                  <a:moveTo>
                    <a:pt x="21424" y="0"/>
                  </a:moveTo>
                  <a:lnTo>
                    <a:pt x="1215841" y="0"/>
                  </a:lnTo>
                  <a:cubicBezTo>
                    <a:pt x="1221524" y="0"/>
                    <a:pt x="1226973" y="2257"/>
                    <a:pt x="1230991" y="6275"/>
                  </a:cubicBezTo>
                  <a:cubicBezTo>
                    <a:pt x="1235008" y="10293"/>
                    <a:pt x="1237266" y="15742"/>
                    <a:pt x="1237266" y="21424"/>
                  </a:cubicBezTo>
                  <a:lnTo>
                    <a:pt x="1237266" y="209060"/>
                  </a:lnTo>
                  <a:cubicBezTo>
                    <a:pt x="1237266" y="214742"/>
                    <a:pt x="1235008" y="220191"/>
                    <a:pt x="1230991" y="224209"/>
                  </a:cubicBezTo>
                  <a:cubicBezTo>
                    <a:pt x="1226973" y="228227"/>
                    <a:pt x="1221524" y="230484"/>
                    <a:pt x="1215841" y="230484"/>
                  </a:cubicBezTo>
                  <a:lnTo>
                    <a:pt x="21424" y="230484"/>
                  </a:lnTo>
                  <a:cubicBezTo>
                    <a:pt x="15742" y="230484"/>
                    <a:pt x="10293" y="228227"/>
                    <a:pt x="6275" y="224209"/>
                  </a:cubicBezTo>
                  <a:cubicBezTo>
                    <a:pt x="2257" y="220191"/>
                    <a:pt x="0" y="214742"/>
                    <a:pt x="0" y="209060"/>
                  </a:cubicBezTo>
                  <a:lnTo>
                    <a:pt x="0" y="21424"/>
                  </a:lnTo>
                  <a:cubicBezTo>
                    <a:pt x="0" y="15742"/>
                    <a:pt x="2257" y="10293"/>
                    <a:pt x="6275" y="6275"/>
                  </a:cubicBezTo>
                  <a:cubicBezTo>
                    <a:pt x="10293" y="2257"/>
                    <a:pt x="15742" y="0"/>
                    <a:pt x="21424" y="0"/>
                  </a:cubicBezTo>
                  <a:close/>
                </a:path>
              </a:pathLst>
            </a:custGeom>
            <a:solidFill>
              <a:srgbClr val="D8B1B1"/>
            </a:solidFill>
            <a:ln w="19050" cap="sq">
              <a:solidFill>
                <a:srgbClr val="000000"/>
              </a:solidFill>
              <a:prstDash val="solid"/>
              <a:miter/>
            </a:ln>
          </p:spPr>
        </p:sp>
        <p:sp>
          <p:nvSpPr>
            <p:cNvPr name="TextBox 27" id="27"/>
            <p:cNvSpPr txBox="true"/>
            <p:nvPr/>
          </p:nvSpPr>
          <p:spPr>
            <a:xfrm>
              <a:off x="0" y="-47625"/>
              <a:ext cx="1237266" cy="278109"/>
            </a:xfrm>
            <a:prstGeom prst="rect">
              <a:avLst/>
            </a:prstGeom>
          </p:spPr>
          <p:txBody>
            <a:bodyPr anchor="ctr" rtlCol="false" tIns="50800" lIns="50800" bIns="50800" rIns="50800"/>
            <a:lstStyle/>
            <a:p>
              <a:pPr algn="ctr">
                <a:lnSpc>
                  <a:spcPts val="2940"/>
                </a:lnSpc>
              </a:pPr>
              <a:r>
                <a:rPr lang="en-US" sz="2100" spc="42">
                  <a:solidFill>
                    <a:srgbClr val="000000"/>
                  </a:solidFill>
                  <a:latin typeface="Open Sauce"/>
                  <a:ea typeface="Open Sauce"/>
                  <a:cs typeface="Open Sauce"/>
                  <a:sym typeface="Open Sauce"/>
                </a:rPr>
                <a:t>Crowdsourced Infrastructure Report</a:t>
              </a:r>
            </a:p>
          </p:txBody>
        </p:sp>
      </p:grpSp>
      <p:sp>
        <p:nvSpPr>
          <p:cNvPr name="Freeform 28" id="28"/>
          <p:cNvSpPr/>
          <p:nvPr/>
        </p:nvSpPr>
        <p:spPr>
          <a:xfrm flipH="false" flipV="false" rot="0">
            <a:off x="15017600" y="2550160"/>
            <a:ext cx="927238" cy="1169681"/>
          </a:xfrm>
          <a:custGeom>
            <a:avLst/>
            <a:gdLst/>
            <a:ahLst/>
            <a:cxnLst/>
            <a:rect r="r" b="b" t="t" l="l"/>
            <a:pathLst>
              <a:path h="1169681" w="927238">
                <a:moveTo>
                  <a:pt x="0" y="0"/>
                </a:moveTo>
                <a:lnTo>
                  <a:pt x="927238" y="0"/>
                </a:lnTo>
                <a:lnTo>
                  <a:pt x="927238" y="1169680"/>
                </a:lnTo>
                <a:lnTo>
                  <a:pt x="0" y="11696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9" id="29"/>
          <p:cNvSpPr/>
          <p:nvPr/>
        </p:nvSpPr>
        <p:spPr>
          <a:xfrm flipH="false" flipV="false" rot="0">
            <a:off x="14826478" y="6951024"/>
            <a:ext cx="1315440" cy="1309959"/>
          </a:xfrm>
          <a:custGeom>
            <a:avLst/>
            <a:gdLst/>
            <a:ahLst/>
            <a:cxnLst/>
            <a:rect r="r" b="b" t="t" l="l"/>
            <a:pathLst>
              <a:path h="1309959" w="1315440">
                <a:moveTo>
                  <a:pt x="0" y="0"/>
                </a:moveTo>
                <a:lnTo>
                  <a:pt x="1315440" y="0"/>
                </a:lnTo>
                <a:lnTo>
                  <a:pt x="1315440" y="1309958"/>
                </a:lnTo>
                <a:lnTo>
                  <a:pt x="0" y="13099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0" id="30"/>
          <p:cNvSpPr txBox="true"/>
          <p:nvPr/>
        </p:nvSpPr>
        <p:spPr>
          <a:xfrm rot="0">
            <a:off x="1028700" y="844648"/>
            <a:ext cx="8438483" cy="857250"/>
          </a:xfrm>
          <a:prstGeom prst="rect">
            <a:avLst/>
          </a:prstGeom>
        </p:spPr>
        <p:txBody>
          <a:bodyPr anchor="t" rtlCol="false" tIns="0" lIns="0" bIns="0" rIns="0">
            <a:spAutoFit/>
          </a:bodyPr>
          <a:lstStyle/>
          <a:p>
            <a:pPr algn="l">
              <a:lnSpc>
                <a:spcPts val="6719"/>
              </a:lnSpc>
            </a:pPr>
            <a:r>
              <a:rPr lang="en-US" sz="5599" spc="-223" b="true">
                <a:solidFill>
                  <a:srgbClr val="000000"/>
                </a:solidFill>
                <a:latin typeface="Open Sauce Bold"/>
                <a:ea typeface="Open Sauce Bold"/>
                <a:cs typeface="Open Sauce Bold"/>
                <a:sym typeface="Open Sauce Bold"/>
              </a:rPr>
              <a:t>Scope of the Product</a:t>
            </a:r>
          </a:p>
        </p:txBody>
      </p:sp>
      <p:sp>
        <p:nvSpPr>
          <p:cNvPr name="Freeform 31" id="31"/>
          <p:cNvSpPr/>
          <p:nvPr/>
        </p:nvSpPr>
        <p:spPr>
          <a:xfrm flipH="false" flipV="false" rot="0">
            <a:off x="15017600" y="4774625"/>
            <a:ext cx="927238" cy="1169681"/>
          </a:xfrm>
          <a:custGeom>
            <a:avLst/>
            <a:gdLst/>
            <a:ahLst/>
            <a:cxnLst/>
            <a:rect r="r" b="b" t="t" l="l"/>
            <a:pathLst>
              <a:path h="1169681" w="927238">
                <a:moveTo>
                  <a:pt x="0" y="0"/>
                </a:moveTo>
                <a:lnTo>
                  <a:pt x="927238" y="0"/>
                </a:lnTo>
                <a:lnTo>
                  <a:pt x="927238" y="1169680"/>
                </a:lnTo>
                <a:lnTo>
                  <a:pt x="0" y="11696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2" id="32"/>
          <p:cNvSpPr/>
          <p:nvPr/>
        </p:nvSpPr>
        <p:spPr>
          <a:xfrm flipH="false" flipV="false" rot="0">
            <a:off x="15008136" y="499708"/>
            <a:ext cx="945123" cy="1140167"/>
          </a:xfrm>
          <a:custGeom>
            <a:avLst/>
            <a:gdLst/>
            <a:ahLst/>
            <a:cxnLst/>
            <a:rect r="r" b="b" t="t" l="l"/>
            <a:pathLst>
              <a:path h="1140167" w="945123">
                <a:moveTo>
                  <a:pt x="0" y="0"/>
                </a:moveTo>
                <a:lnTo>
                  <a:pt x="945123" y="0"/>
                </a:lnTo>
                <a:lnTo>
                  <a:pt x="945123" y="1140168"/>
                </a:lnTo>
                <a:lnTo>
                  <a:pt x="0" y="11401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33" id="33"/>
          <p:cNvSpPr/>
          <p:nvPr/>
        </p:nvSpPr>
        <p:spPr>
          <a:xfrm>
            <a:off x="2550929" y="2948369"/>
            <a:ext cx="4244951" cy="92659"/>
          </a:xfrm>
          <a:prstGeom prst="line">
            <a:avLst/>
          </a:prstGeom>
          <a:ln cap="flat" w="38100">
            <a:solidFill>
              <a:srgbClr val="000000"/>
            </a:solidFill>
            <a:prstDash val="solid"/>
            <a:headEnd type="none" len="sm" w="sm"/>
            <a:tailEnd type="arrow" len="sm" w="med"/>
          </a:ln>
        </p:spPr>
      </p:sp>
      <p:sp>
        <p:nvSpPr>
          <p:cNvPr name="TextBox 34" id="34"/>
          <p:cNvSpPr txBox="true"/>
          <p:nvPr/>
        </p:nvSpPr>
        <p:spPr>
          <a:xfrm rot="0">
            <a:off x="1307983" y="3597028"/>
            <a:ext cx="1540769" cy="585835"/>
          </a:xfrm>
          <a:prstGeom prst="rect">
            <a:avLst/>
          </a:prstGeom>
        </p:spPr>
        <p:txBody>
          <a:bodyPr anchor="t" rtlCol="false" tIns="0" lIns="0" bIns="0" rIns="0">
            <a:spAutoFit/>
          </a:bodyPr>
          <a:lstStyle/>
          <a:p>
            <a:pPr algn="ctr">
              <a:lnSpc>
                <a:spcPts val="2359"/>
              </a:lnSpc>
              <a:spcBef>
                <a:spcPct val="0"/>
              </a:spcBef>
            </a:pPr>
            <a:r>
              <a:rPr lang="en-US" sz="1685" spc="33">
                <a:solidFill>
                  <a:srgbClr val="000000"/>
                </a:solidFill>
                <a:latin typeface="Open Sauce"/>
                <a:ea typeface="Open Sauce"/>
                <a:cs typeface="Open Sauce"/>
                <a:sym typeface="Open Sauce"/>
              </a:rPr>
              <a:t>Construction Worker</a:t>
            </a:r>
          </a:p>
        </p:txBody>
      </p:sp>
      <p:sp>
        <p:nvSpPr>
          <p:cNvPr name="Freeform 35" id="35"/>
          <p:cNvSpPr/>
          <p:nvPr/>
        </p:nvSpPr>
        <p:spPr>
          <a:xfrm flipH="false" flipV="false" rot="0">
            <a:off x="1605806" y="2378285"/>
            <a:ext cx="945123" cy="1140167"/>
          </a:xfrm>
          <a:custGeom>
            <a:avLst/>
            <a:gdLst/>
            <a:ahLst/>
            <a:cxnLst/>
            <a:rect r="r" b="b" t="t" l="l"/>
            <a:pathLst>
              <a:path h="1140167" w="945123">
                <a:moveTo>
                  <a:pt x="0" y="0"/>
                </a:moveTo>
                <a:lnTo>
                  <a:pt x="945123" y="0"/>
                </a:lnTo>
                <a:lnTo>
                  <a:pt x="945123" y="1140168"/>
                </a:lnTo>
                <a:lnTo>
                  <a:pt x="0" y="11401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6" id="36"/>
          <p:cNvSpPr/>
          <p:nvPr/>
        </p:nvSpPr>
        <p:spPr>
          <a:xfrm flipH="false" flipV="false" rot="0">
            <a:off x="1605022" y="4591893"/>
            <a:ext cx="945123" cy="1140167"/>
          </a:xfrm>
          <a:custGeom>
            <a:avLst/>
            <a:gdLst/>
            <a:ahLst/>
            <a:cxnLst/>
            <a:rect r="r" b="b" t="t" l="l"/>
            <a:pathLst>
              <a:path h="1140167" w="945123">
                <a:moveTo>
                  <a:pt x="0" y="0"/>
                </a:moveTo>
                <a:lnTo>
                  <a:pt x="945123" y="0"/>
                </a:lnTo>
                <a:lnTo>
                  <a:pt x="945123" y="1140168"/>
                </a:lnTo>
                <a:lnTo>
                  <a:pt x="0" y="11401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7" id="37"/>
          <p:cNvSpPr/>
          <p:nvPr/>
        </p:nvSpPr>
        <p:spPr>
          <a:xfrm flipH="false" flipV="false" rot="0">
            <a:off x="1645670" y="6891505"/>
            <a:ext cx="945123" cy="1140167"/>
          </a:xfrm>
          <a:custGeom>
            <a:avLst/>
            <a:gdLst/>
            <a:ahLst/>
            <a:cxnLst/>
            <a:rect r="r" b="b" t="t" l="l"/>
            <a:pathLst>
              <a:path h="1140167" w="945123">
                <a:moveTo>
                  <a:pt x="0" y="0"/>
                </a:moveTo>
                <a:lnTo>
                  <a:pt x="945123" y="0"/>
                </a:lnTo>
                <a:lnTo>
                  <a:pt x="945123" y="1140167"/>
                </a:lnTo>
                <a:lnTo>
                  <a:pt x="0" y="11401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38" id="38"/>
          <p:cNvSpPr/>
          <p:nvPr/>
        </p:nvSpPr>
        <p:spPr>
          <a:xfrm>
            <a:off x="2550929" y="3058587"/>
            <a:ext cx="4244200" cy="2001382"/>
          </a:xfrm>
          <a:prstGeom prst="line">
            <a:avLst/>
          </a:prstGeom>
          <a:ln cap="flat" w="38100">
            <a:solidFill>
              <a:srgbClr val="000000"/>
            </a:solidFill>
            <a:prstDash val="solid"/>
            <a:headEnd type="none" len="sm" w="sm"/>
            <a:tailEnd type="arrow" len="sm" w="med"/>
          </a:ln>
        </p:spPr>
      </p:sp>
      <p:sp>
        <p:nvSpPr>
          <p:cNvPr name="AutoShape 39" id="39"/>
          <p:cNvSpPr/>
          <p:nvPr/>
        </p:nvSpPr>
        <p:spPr>
          <a:xfrm>
            <a:off x="2550929" y="3130097"/>
            <a:ext cx="4244200" cy="4993011"/>
          </a:xfrm>
          <a:prstGeom prst="line">
            <a:avLst/>
          </a:prstGeom>
          <a:ln cap="flat" w="38100">
            <a:solidFill>
              <a:srgbClr val="000000"/>
            </a:solidFill>
            <a:prstDash val="solid"/>
            <a:headEnd type="none" len="sm" w="sm"/>
            <a:tailEnd type="arrow" len="sm" w="med"/>
          </a:ln>
        </p:spPr>
      </p:sp>
      <p:sp>
        <p:nvSpPr>
          <p:cNvPr name="AutoShape 40" id="40"/>
          <p:cNvSpPr/>
          <p:nvPr/>
        </p:nvSpPr>
        <p:spPr>
          <a:xfrm flipV="true">
            <a:off x="2590793" y="6979092"/>
            <a:ext cx="4204335" cy="482497"/>
          </a:xfrm>
          <a:prstGeom prst="line">
            <a:avLst/>
          </a:prstGeom>
          <a:ln cap="flat" w="38100">
            <a:solidFill>
              <a:srgbClr val="000000"/>
            </a:solidFill>
            <a:prstDash val="solid"/>
            <a:headEnd type="none" len="sm" w="sm"/>
            <a:tailEnd type="arrow" len="sm" w="med"/>
          </a:ln>
        </p:spPr>
      </p:sp>
      <p:sp>
        <p:nvSpPr>
          <p:cNvPr name="AutoShape 41" id="41"/>
          <p:cNvSpPr/>
          <p:nvPr/>
        </p:nvSpPr>
        <p:spPr>
          <a:xfrm flipV="true">
            <a:off x="2550145" y="3184077"/>
            <a:ext cx="4245735" cy="1977900"/>
          </a:xfrm>
          <a:prstGeom prst="line">
            <a:avLst/>
          </a:prstGeom>
          <a:ln cap="flat" w="38100">
            <a:solidFill>
              <a:srgbClr val="000000"/>
            </a:solidFill>
            <a:prstDash val="solid"/>
            <a:headEnd type="none" len="sm" w="sm"/>
            <a:tailEnd type="arrow" len="sm" w="med"/>
          </a:ln>
        </p:spPr>
      </p:sp>
      <p:sp>
        <p:nvSpPr>
          <p:cNvPr name="AutoShape 42" id="42"/>
          <p:cNvSpPr/>
          <p:nvPr/>
        </p:nvSpPr>
        <p:spPr>
          <a:xfrm flipV="true">
            <a:off x="11492871" y="1351183"/>
            <a:ext cx="3378335" cy="4669630"/>
          </a:xfrm>
          <a:prstGeom prst="line">
            <a:avLst/>
          </a:prstGeom>
          <a:ln cap="flat" w="38100">
            <a:solidFill>
              <a:srgbClr val="000000"/>
            </a:solidFill>
            <a:prstDash val="solid"/>
            <a:headEnd type="arrow" len="sm" w="med"/>
            <a:tailEnd type="none" len="sm" w="sm"/>
          </a:ln>
        </p:spPr>
      </p:sp>
      <p:sp>
        <p:nvSpPr>
          <p:cNvPr name="AutoShape 43" id="43"/>
          <p:cNvSpPr/>
          <p:nvPr/>
        </p:nvSpPr>
        <p:spPr>
          <a:xfrm flipV="true">
            <a:off x="11493623" y="1278035"/>
            <a:ext cx="3377584" cy="1856791"/>
          </a:xfrm>
          <a:prstGeom prst="line">
            <a:avLst/>
          </a:prstGeom>
          <a:ln cap="flat" w="38100">
            <a:solidFill>
              <a:srgbClr val="000000"/>
            </a:solidFill>
            <a:prstDash val="solid"/>
            <a:headEnd type="arrow" len="sm" w="med"/>
            <a:tailEnd type="none" len="sm" w="sm"/>
          </a:ln>
        </p:spPr>
      </p:sp>
      <p:sp>
        <p:nvSpPr>
          <p:cNvPr name="AutoShape 44" id="44"/>
          <p:cNvSpPr/>
          <p:nvPr/>
        </p:nvSpPr>
        <p:spPr>
          <a:xfrm>
            <a:off x="11498667" y="4153975"/>
            <a:ext cx="3372539" cy="1324139"/>
          </a:xfrm>
          <a:prstGeom prst="line">
            <a:avLst/>
          </a:prstGeom>
          <a:ln cap="flat" w="38100">
            <a:solidFill>
              <a:srgbClr val="000000"/>
            </a:solidFill>
            <a:prstDash val="solid"/>
            <a:headEnd type="arrow" len="sm" w="med"/>
            <a:tailEnd type="none" len="sm" w="sm"/>
          </a:ln>
        </p:spPr>
      </p:sp>
      <p:sp>
        <p:nvSpPr>
          <p:cNvPr name="AutoShape 45" id="45"/>
          <p:cNvSpPr/>
          <p:nvPr/>
        </p:nvSpPr>
        <p:spPr>
          <a:xfrm flipV="true">
            <a:off x="11498667" y="3135000"/>
            <a:ext cx="3406801" cy="909727"/>
          </a:xfrm>
          <a:prstGeom prst="line">
            <a:avLst/>
          </a:prstGeom>
          <a:ln cap="flat" w="38100">
            <a:solidFill>
              <a:srgbClr val="000000"/>
            </a:solidFill>
            <a:prstDash val="solid"/>
            <a:headEnd type="arrow" len="sm" w="med"/>
            <a:tailEnd type="none" len="sm" w="sm"/>
          </a:ln>
        </p:spPr>
      </p:sp>
      <p:sp>
        <p:nvSpPr>
          <p:cNvPr name="AutoShape 46" id="46"/>
          <p:cNvSpPr/>
          <p:nvPr/>
        </p:nvSpPr>
        <p:spPr>
          <a:xfrm>
            <a:off x="11504844" y="5049800"/>
            <a:ext cx="3205990" cy="2556203"/>
          </a:xfrm>
          <a:prstGeom prst="line">
            <a:avLst/>
          </a:prstGeom>
          <a:ln cap="flat" w="38100">
            <a:solidFill>
              <a:srgbClr val="000000"/>
            </a:solidFill>
            <a:prstDash val="solid"/>
            <a:headEnd type="arrow" len="sm" w="med"/>
            <a:tailEnd type="none" len="sm" w="sm"/>
          </a:ln>
        </p:spPr>
      </p:sp>
      <p:sp>
        <p:nvSpPr>
          <p:cNvPr name="TextBox 47" id="47"/>
          <p:cNvSpPr txBox="true"/>
          <p:nvPr/>
        </p:nvSpPr>
        <p:spPr>
          <a:xfrm rot="0">
            <a:off x="1307199" y="5735182"/>
            <a:ext cx="1540769" cy="585835"/>
          </a:xfrm>
          <a:prstGeom prst="rect">
            <a:avLst/>
          </a:prstGeom>
        </p:spPr>
        <p:txBody>
          <a:bodyPr anchor="t" rtlCol="false" tIns="0" lIns="0" bIns="0" rIns="0">
            <a:spAutoFit/>
          </a:bodyPr>
          <a:lstStyle/>
          <a:p>
            <a:pPr algn="ctr">
              <a:lnSpc>
                <a:spcPts val="2359"/>
              </a:lnSpc>
              <a:spcBef>
                <a:spcPct val="0"/>
              </a:spcBef>
            </a:pPr>
            <a:r>
              <a:rPr lang="en-US" sz="1685" spc="33">
                <a:solidFill>
                  <a:srgbClr val="000000"/>
                </a:solidFill>
                <a:latin typeface="Open Sauce"/>
                <a:ea typeface="Open Sauce"/>
                <a:cs typeface="Open Sauce"/>
                <a:sym typeface="Open Sauce"/>
              </a:rPr>
              <a:t>Utility Technician</a:t>
            </a:r>
          </a:p>
        </p:txBody>
      </p:sp>
      <p:sp>
        <p:nvSpPr>
          <p:cNvPr name="TextBox 48" id="48"/>
          <p:cNvSpPr txBox="true"/>
          <p:nvPr/>
        </p:nvSpPr>
        <p:spPr>
          <a:xfrm rot="0">
            <a:off x="1347847" y="8050258"/>
            <a:ext cx="1540769" cy="585835"/>
          </a:xfrm>
          <a:prstGeom prst="rect">
            <a:avLst/>
          </a:prstGeom>
        </p:spPr>
        <p:txBody>
          <a:bodyPr anchor="t" rtlCol="false" tIns="0" lIns="0" bIns="0" rIns="0">
            <a:spAutoFit/>
          </a:bodyPr>
          <a:lstStyle/>
          <a:p>
            <a:pPr algn="ctr">
              <a:lnSpc>
                <a:spcPts val="2359"/>
              </a:lnSpc>
              <a:spcBef>
                <a:spcPct val="0"/>
              </a:spcBef>
            </a:pPr>
            <a:r>
              <a:rPr lang="en-US" sz="1685" spc="33">
                <a:solidFill>
                  <a:srgbClr val="000000"/>
                </a:solidFill>
                <a:latin typeface="Open Sauce"/>
                <a:ea typeface="Open Sauce"/>
                <a:cs typeface="Open Sauce"/>
                <a:sym typeface="Open Sauce"/>
              </a:rPr>
              <a:t>System Administrator</a:t>
            </a:r>
          </a:p>
        </p:txBody>
      </p:sp>
      <p:sp>
        <p:nvSpPr>
          <p:cNvPr name="TextBox 49" id="49"/>
          <p:cNvSpPr txBox="true"/>
          <p:nvPr/>
        </p:nvSpPr>
        <p:spPr>
          <a:xfrm rot="0">
            <a:off x="14710313" y="1663798"/>
            <a:ext cx="1540769" cy="585835"/>
          </a:xfrm>
          <a:prstGeom prst="rect">
            <a:avLst/>
          </a:prstGeom>
        </p:spPr>
        <p:txBody>
          <a:bodyPr anchor="t" rtlCol="false" tIns="0" lIns="0" bIns="0" rIns="0">
            <a:spAutoFit/>
          </a:bodyPr>
          <a:lstStyle/>
          <a:p>
            <a:pPr algn="ctr">
              <a:lnSpc>
                <a:spcPts val="2359"/>
              </a:lnSpc>
              <a:spcBef>
                <a:spcPct val="0"/>
              </a:spcBef>
            </a:pPr>
            <a:r>
              <a:rPr lang="en-US" sz="1685" spc="33">
                <a:solidFill>
                  <a:srgbClr val="000000"/>
                </a:solidFill>
                <a:latin typeface="Open Sauce"/>
                <a:ea typeface="Open Sauce"/>
                <a:cs typeface="Open Sauce"/>
                <a:sym typeface="Open Sauce"/>
              </a:rPr>
              <a:t>Emergency Responder</a:t>
            </a:r>
          </a:p>
        </p:txBody>
      </p:sp>
      <p:sp>
        <p:nvSpPr>
          <p:cNvPr name="TextBox 50" id="50"/>
          <p:cNvSpPr txBox="true"/>
          <p:nvPr/>
        </p:nvSpPr>
        <p:spPr>
          <a:xfrm rot="0">
            <a:off x="14478503" y="3789567"/>
            <a:ext cx="2004388" cy="585835"/>
          </a:xfrm>
          <a:prstGeom prst="rect">
            <a:avLst/>
          </a:prstGeom>
        </p:spPr>
        <p:txBody>
          <a:bodyPr anchor="t" rtlCol="false" tIns="0" lIns="0" bIns="0" rIns="0">
            <a:spAutoFit/>
          </a:bodyPr>
          <a:lstStyle/>
          <a:p>
            <a:pPr algn="ctr">
              <a:lnSpc>
                <a:spcPts val="2359"/>
              </a:lnSpc>
              <a:spcBef>
                <a:spcPct val="0"/>
              </a:spcBef>
            </a:pPr>
            <a:r>
              <a:rPr lang="en-US" sz="1685" spc="33">
                <a:solidFill>
                  <a:srgbClr val="000000"/>
                </a:solidFill>
                <a:latin typeface="Open Sauce"/>
                <a:ea typeface="Open Sauce"/>
                <a:cs typeface="Open Sauce"/>
                <a:sym typeface="Open Sauce"/>
              </a:rPr>
              <a:t>City Infrastructure Database</a:t>
            </a:r>
          </a:p>
        </p:txBody>
      </p:sp>
      <p:sp>
        <p:nvSpPr>
          <p:cNvPr name="TextBox 51" id="51"/>
          <p:cNvSpPr txBox="true"/>
          <p:nvPr/>
        </p:nvSpPr>
        <p:spPr>
          <a:xfrm rot="0">
            <a:off x="14710834" y="5993711"/>
            <a:ext cx="1540769" cy="585835"/>
          </a:xfrm>
          <a:prstGeom prst="rect">
            <a:avLst/>
          </a:prstGeom>
        </p:spPr>
        <p:txBody>
          <a:bodyPr anchor="t" rtlCol="false" tIns="0" lIns="0" bIns="0" rIns="0">
            <a:spAutoFit/>
          </a:bodyPr>
          <a:lstStyle/>
          <a:p>
            <a:pPr algn="ctr">
              <a:lnSpc>
                <a:spcPts val="2359"/>
              </a:lnSpc>
              <a:spcBef>
                <a:spcPct val="0"/>
              </a:spcBef>
            </a:pPr>
            <a:r>
              <a:rPr lang="en-US" sz="1685" spc="33">
                <a:solidFill>
                  <a:srgbClr val="000000"/>
                </a:solidFill>
                <a:latin typeface="Open Sauce"/>
                <a:ea typeface="Open Sauce"/>
                <a:cs typeface="Open Sauce"/>
                <a:sym typeface="Open Sauce"/>
              </a:rPr>
              <a:t>Utility Database</a:t>
            </a:r>
          </a:p>
        </p:txBody>
      </p:sp>
      <p:sp>
        <p:nvSpPr>
          <p:cNvPr name="TextBox 52" id="52"/>
          <p:cNvSpPr txBox="true"/>
          <p:nvPr/>
        </p:nvSpPr>
        <p:spPr>
          <a:xfrm rot="0">
            <a:off x="14710313" y="8338964"/>
            <a:ext cx="1772057" cy="585835"/>
          </a:xfrm>
          <a:prstGeom prst="rect">
            <a:avLst/>
          </a:prstGeom>
        </p:spPr>
        <p:txBody>
          <a:bodyPr anchor="t" rtlCol="false" tIns="0" lIns="0" bIns="0" rIns="0">
            <a:spAutoFit/>
          </a:bodyPr>
          <a:lstStyle/>
          <a:p>
            <a:pPr algn="ctr">
              <a:lnSpc>
                <a:spcPts val="2359"/>
              </a:lnSpc>
              <a:spcBef>
                <a:spcPct val="0"/>
              </a:spcBef>
            </a:pPr>
            <a:r>
              <a:rPr lang="en-US" sz="1685" spc="33">
                <a:solidFill>
                  <a:srgbClr val="000000"/>
                </a:solidFill>
                <a:latin typeface="Open Sauce"/>
                <a:ea typeface="Open Sauce"/>
                <a:cs typeface="Open Sauce"/>
                <a:sym typeface="Open Sauce"/>
              </a:rPr>
              <a:t>Hazard Sensor Network</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12</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TextBox 4" id="4"/>
          <p:cNvSpPr txBox="true"/>
          <p:nvPr/>
        </p:nvSpPr>
        <p:spPr>
          <a:xfrm rot="0">
            <a:off x="1028700" y="995998"/>
            <a:ext cx="12634620" cy="733425"/>
          </a:xfrm>
          <a:prstGeom prst="rect">
            <a:avLst/>
          </a:prstGeom>
        </p:spPr>
        <p:txBody>
          <a:bodyPr anchor="t" rtlCol="false" tIns="0" lIns="0" bIns="0" rIns="0">
            <a:spAutoFit/>
          </a:bodyPr>
          <a:lstStyle/>
          <a:p>
            <a:pPr algn="l">
              <a:lnSpc>
                <a:spcPts val="5880"/>
              </a:lnSpc>
            </a:pPr>
            <a:r>
              <a:rPr lang="en-US" sz="4900" spc="-196" b="true">
                <a:solidFill>
                  <a:srgbClr val="000000"/>
                </a:solidFill>
                <a:latin typeface="Open Sauce Bold"/>
                <a:ea typeface="Open Sauce Bold"/>
                <a:cs typeface="Open Sauce Bold"/>
                <a:sym typeface="Open Sauce Bold"/>
              </a:rPr>
              <a:t>Example Scenario: Construction Worker</a:t>
            </a:r>
          </a:p>
        </p:txBody>
      </p:sp>
      <p:sp>
        <p:nvSpPr>
          <p:cNvPr name="TextBox 5" id="5"/>
          <p:cNvSpPr txBox="true"/>
          <p:nvPr/>
        </p:nvSpPr>
        <p:spPr>
          <a:xfrm rot="0">
            <a:off x="981075" y="1947249"/>
            <a:ext cx="14208041" cy="990600"/>
          </a:xfrm>
          <a:prstGeom prst="rect">
            <a:avLst/>
          </a:prstGeom>
        </p:spPr>
        <p:txBody>
          <a:bodyPr anchor="t" rtlCol="false" tIns="0" lIns="0" bIns="0" rIns="0">
            <a:spAutoFit/>
          </a:bodyPr>
          <a:lstStyle/>
          <a:p>
            <a:pPr algn="l" marL="518160" indent="-259080" lvl="1">
              <a:lnSpc>
                <a:spcPts val="4079"/>
              </a:lnSpc>
              <a:buAutoNum type="arabicPeriod" startAt="1"/>
            </a:pPr>
            <a:r>
              <a:rPr lang="en-US" sz="2400" spc="172">
                <a:solidFill>
                  <a:srgbClr val="000000"/>
                </a:solidFill>
                <a:latin typeface="Open Sauce"/>
                <a:ea typeface="Open Sauce"/>
                <a:cs typeface="Open Sauce"/>
                <a:sym typeface="Open Sauce"/>
              </a:rPr>
              <a:t> Construction worker Carlos Mendez arrives at a downtown excavation site to begin digging for a new water line installation</a:t>
            </a:r>
          </a:p>
        </p:txBody>
      </p:sp>
      <p:sp>
        <p:nvSpPr>
          <p:cNvPr name="TextBox 6" id="6"/>
          <p:cNvSpPr txBox="true"/>
          <p:nvPr/>
        </p:nvSpPr>
        <p:spPr>
          <a:xfrm rot="0">
            <a:off x="1046056" y="2743200"/>
            <a:ext cx="14208041" cy="2019300"/>
          </a:xfrm>
          <a:prstGeom prst="rect">
            <a:avLst/>
          </a:prstGeom>
        </p:spPr>
        <p:txBody>
          <a:bodyPr anchor="t" rtlCol="false" tIns="0" lIns="0" bIns="0" rIns="0">
            <a:spAutoFit/>
          </a:bodyPr>
          <a:lstStyle/>
          <a:p>
            <a:pPr algn="l">
              <a:lnSpc>
                <a:spcPts val="4079"/>
              </a:lnSpc>
            </a:pPr>
          </a:p>
          <a:p>
            <a:pPr algn="l" marL="518160" indent="-259080" lvl="1">
              <a:lnSpc>
                <a:spcPts val="4079"/>
              </a:lnSpc>
              <a:buAutoNum type="arabicPeriod" startAt="1"/>
            </a:pPr>
            <a:r>
              <a:rPr lang="en-US" sz="2400" spc="172">
                <a:solidFill>
                  <a:srgbClr val="000000"/>
                </a:solidFill>
                <a:latin typeface="Open Sauce"/>
                <a:ea typeface="Open Sauce"/>
                <a:cs typeface="Open Sauce"/>
                <a:sym typeface="Open Sauce"/>
              </a:rPr>
              <a:t> Before starting, he opens SubterraView on his smartphone and selects the project location</a:t>
            </a:r>
          </a:p>
          <a:p>
            <a:pPr algn="l">
              <a:lnSpc>
                <a:spcPts val="4079"/>
              </a:lnSpc>
            </a:pPr>
          </a:p>
        </p:txBody>
      </p:sp>
      <p:sp>
        <p:nvSpPr>
          <p:cNvPr name="TextBox 7" id="7"/>
          <p:cNvSpPr txBox="true"/>
          <p:nvPr/>
        </p:nvSpPr>
        <p:spPr>
          <a:xfrm rot="0">
            <a:off x="1046056" y="5915025"/>
            <a:ext cx="14208041" cy="1504950"/>
          </a:xfrm>
          <a:prstGeom prst="rect">
            <a:avLst/>
          </a:prstGeom>
        </p:spPr>
        <p:txBody>
          <a:bodyPr anchor="t" rtlCol="false" tIns="0" lIns="0" bIns="0" rIns="0">
            <a:spAutoFit/>
          </a:bodyPr>
          <a:lstStyle/>
          <a:p>
            <a:pPr algn="l" marL="518160" indent="-259080" lvl="1">
              <a:lnSpc>
                <a:spcPts val="4079"/>
              </a:lnSpc>
              <a:buAutoNum type="arabicPeriod" startAt="1"/>
            </a:pPr>
            <a:r>
              <a:rPr lang="en-US" sz="2400" spc="172">
                <a:solidFill>
                  <a:srgbClr val="000000"/>
                </a:solidFill>
                <a:latin typeface="Open Sauce"/>
                <a:ea typeface="Open Sauce"/>
                <a:cs typeface="Open Sauce"/>
                <a:sym typeface="Open Sauce"/>
              </a:rPr>
              <a:t> Carlos notices a gas line running closer to the excavation area than expected and adjust the dig plan accordingly</a:t>
            </a:r>
          </a:p>
          <a:p>
            <a:pPr algn="l">
              <a:lnSpc>
                <a:spcPts val="4079"/>
              </a:lnSpc>
            </a:pPr>
          </a:p>
        </p:txBody>
      </p:sp>
      <p:sp>
        <p:nvSpPr>
          <p:cNvPr name="TextBox 8" id="8"/>
          <p:cNvSpPr txBox="true"/>
          <p:nvPr/>
        </p:nvSpPr>
        <p:spPr>
          <a:xfrm rot="0">
            <a:off x="1046056" y="4591050"/>
            <a:ext cx="14208041" cy="990600"/>
          </a:xfrm>
          <a:prstGeom prst="rect">
            <a:avLst/>
          </a:prstGeom>
        </p:spPr>
        <p:txBody>
          <a:bodyPr anchor="t" rtlCol="false" tIns="0" lIns="0" bIns="0" rIns="0">
            <a:spAutoFit/>
          </a:bodyPr>
          <a:lstStyle/>
          <a:p>
            <a:pPr algn="l" marL="518160" indent="-259080" lvl="1">
              <a:lnSpc>
                <a:spcPts val="4079"/>
              </a:lnSpc>
              <a:buAutoNum type="arabicPeriod" startAt="1"/>
            </a:pPr>
            <a:r>
              <a:rPr lang="en-US" sz="2400" spc="172">
                <a:solidFill>
                  <a:srgbClr val="000000"/>
                </a:solidFill>
                <a:latin typeface="Open Sauce"/>
                <a:ea typeface="Open Sauce"/>
                <a:cs typeface="Open Sauce"/>
                <a:sym typeface="Open Sauce"/>
              </a:rPr>
              <a:t> The system overlays underground infrastructure onto his camera view, showing gas lines, electrical conduits, and telecom cables beneath the surface</a:t>
            </a:r>
          </a:p>
        </p:txBody>
      </p:sp>
      <p:sp>
        <p:nvSpPr>
          <p:cNvPr name="TextBox 9" id="9"/>
          <p:cNvSpPr txBox="true"/>
          <p:nvPr/>
        </p:nvSpPr>
        <p:spPr>
          <a:xfrm rot="0">
            <a:off x="1046056" y="7239000"/>
            <a:ext cx="14208041" cy="2019300"/>
          </a:xfrm>
          <a:prstGeom prst="rect">
            <a:avLst/>
          </a:prstGeom>
        </p:spPr>
        <p:txBody>
          <a:bodyPr anchor="t" rtlCol="false" tIns="0" lIns="0" bIns="0" rIns="0">
            <a:spAutoFit/>
          </a:bodyPr>
          <a:lstStyle/>
          <a:p>
            <a:pPr algn="l" marL="518160" indent="-259080" lvl="1">
              <a:lnSpc>
                <a:spcPts val="4079"/>
              </a:lnSpc>
              <a:buAutoNum type="arabicPeriod" startAt="1"/>
            </a:pPr>
            <a:r>
              <a:rPr lang="en-US" sz="2400" spc="172">
                <a:solidFill>
                  <a:srgbClr val="000000"/>
                </a:solidFill>
                <a:latin typeface="Open Sauce"/>
                <a:ea typeface="Open Sauce"/>
                <a:cs typeface="Open Sauce"/>
                <a:sym typeface="Open Sauce"/>
              </a:rPr>
              <a:t> During excavation, a gas sensor detects abnormal methane levels, SubterraView sends a hazard alert and Carlos pauses his work and contacts emergency responders</a:t>
            </a:r>
          </a:p>
          <a:p>
            <a:pPr algn="l">
              <a:lnSpc>
                <a:spcPts val="407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13</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Freeform 4" id="4"/>
          <p:cNvSpPr/>
          <p:nvPr/>
        </p:nvSpPr>
        <p:spPr>
          <a:xfrm flipH="false" flipV="false" rot="0">
            <a:off x="1936078" y="3160942"/>
            <a:ext cx="4876068" cy="4251931"/>
          </a:xfrm>
          <a:custGeom>
            <a:avLst/>
            <a:gdLst/>
            <a:ahLst/>
            <a:cxnLst/>
            <a:rect r="r" b="b" t="t" l="l"/>
            <a:pathLst>
              <a:path h="4251931" w="4876068">
                <a:moveTo>
                  <a:pt x="0" y="0"/>
                </a:moveTo>
                <a:lnTo>
                  <a:pt x="4876068" y="0"/>
                </a:lnTo>
                <a:lnTo>
                  <a:pt x="4876068" y="4251931"/>
                </a:lnTo>
                <a:lnTo>
                  <a:pt x="0" y="4251931"/>
                </a:lnTo>
                <a:lnTo>
                  <a:pt x="0" y="0"/>
                </a:lnTo>
                <a:close/>
              </a:path>
            </a:pathLst>
          </a:custGeom>
          <a:blipFill>
            <a:blip r:embed="rId3"/>
            <a:stretch>
              <a:fillRect l="0" t="0" r="0" b="0"/>
            </a:stretch>
          </a:blipFill>
        </p:spPr>
      </p:sp>
      <p:sp>
        <p:nvSpPr>
          <p:cNvPr name="Freeform 5" id="5"/>
          <p:cNvSpPr/>
          <p:nvPr/>
        </p:nvSpPr>
        <p:spPr>
          <a:xfrm flipH="false" flipV="false" rot="0">
            <a:off x="9144000" y="3618199"/>
            <a:ext cx="8115300" cy="3337417"/>
          </a:xfrm>
          <a:custGeom>
            <a:avLst/>
            <a:gdLst/>
            <a:ahLst/>
            <a:cxnLst/>
            <a:rect r="r" b="b" t="t" l="l"/>
            <a:pathLst>
              <a:path h="3337417" w="8115300">
                <a:moveTo>
                  <a:pt x="0" y="0"/>
                </a:moveTo>
                <a:lnTo>
                  <a:pt x="8115300" y="0"/>
                </a:lnTo>
                <a:lnTo>
                  <a:pt x="8115300" y="3337417"/>
                </a:lnTo>
                <a:lnTo>
                  <a:pt x="0" y="3337417"/>
                </a:lnTo>
                <a:lnTo>
                  <a:pt x="0" y="0"/>
                </a:lnTo>
                <a:close/>
              </a:path>
            </a:pathLst>
          </a:custGeom>
          <a:blipFill>
            <a:blip r:embed="rId4"/>
            <a:stretch>
              <a:fillRect l="0" t="0" r="0" b="0"/>
            </a:stretch>
          </a:blipFill>
        </p:spPr>
      </p:sp>
      <p:sp>
        <p:nvSpPr>
          <p:cNvPr name="TextBox 6" id="6"/>
          <p:cNvSpPr txBox="true"/>
          <p:nvPr/>
        </p:nvSpPr>
        <p:spPr>
          <a:xfrm rot="0">
            <a:off x="981075" y="817663"/>
            <a:ext cx="8162925"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Our Competition</a:t>
            </a:r>
          </a:p>
        </p:txBody>
      </p:sp>
      <p:sp>
        <p:nvSpPr>
          <p:cNvPr name="TextBox 7" id="7"/>
          <p:cNvSpPr txBox="true"/>
          <p:nvPr/>
        </p:nvSpPr>
        <p:spPr>
          <a:xfrm rot="0">
            <a:off x="13424133" y="938848"/>
            <a:ext cx="3835167"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Group 4</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14</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TextBox 4" id="4"/>
          <p:cNvSpPr txBox="true"/>
          <p:nvPr/>
        </p:nvSpPr>
        <p:spPr>
          <a:xfrm rot="0">
            <a:off x="1583233" y="4996654"/>
            <a:ext cx="11840899" cy="3346371"/>
          </a:xfrm>
          <a:prstGeom prst="rect">
            <a:avLst/>
          </a:prstGeom>
        </p:spPr>
        <p:txBody>
          <a:bodyPr anchor="t" rtlCol="false" tIns="0" lIns="0" bIns="0" rIns="0">
            <a:spAutoFit/>
          </a:bodyPr>
          <a:lstStyle/>
          <a:p>
            <a:pPr algn="l">
              <a:lnSpc>
                <a:spcPts val="13839"/>
              </a:lnSpc>
            </a:pPr>
            <a:r>
              <a:rPr lang="en-US" b="true" sz="8649" spc="518">
                <a:solidFill>
                  <a:srgbClr val="000000"/>
                </a:solidFill>
                <a:latin typeface="Open Sauce Bold"/>
                <a:ea typeface="Open Sauce Bold"/>
                <a:cs typeface="Open Sauce Bold"/>
                <a:sym typeface="Open Sauce Bold"/>
              </a:rPr>
              <a:t>CONSTRAINTS &amp; ASSUMPTIONS</a:t>
            </a:r>
          </a:p>
        </p:txBody>
      </p:sp>
      <p:sp>
        <p:nvSpPr>
          <p:cNvPr name="TextBox 5" id="5"/>
          <p:cNvSpPr txBox="true"/>
          <p:nvPr/>
        </p:nvSpPr>
        <p:spPr>
          <a:xfrm rot="0">
            <a:off x="1583233" y="2503269"/>
            <a:ext cx="10452483" cy="1889177"/>
          </a:xfrm>
          <a:prstGeom prst="rect">
            <a:avLst/>
          </a:prstGeom>
        </p:spPr>
        <p:txBody>
          <a:bodyPr anchor="t" rtlCol="false" tIns="0" lIns="0" bIns="0" rIns="0">
            <a:spAutoFit/>
          </a:bodyPr>
          <a:lstStyle/>
          <a:p>
            <a:pPr algn="l">
              <a:lnSpc>
                <a:spcPts val="15816"/>
              </a:lnSpc>
            </a:pPr>
            <a:r>
              <a:rPr lang="en-US" sz="9885">
                <a:solidFill>
                  <a:srgbClr val="000000"/>
                </a:solidFill>
                <a:latin typeface="Ablation"/>
                <a:ea typeface="Ablation"/>
                <a:cs typeface="Ablation"/>
                <a:sym typeface="Ablation"/>
              </a:rPr>
              <a:t>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15</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Freeform 4" id="4"/>
          <p:cNvSpPr/>
          <p:nvPr/>
        </p:nvSpPr>
        <p:spPr>
          <a:xfrm flipH="false" flipV="false" rot="0">
            <a:off x="8844950" y="2095260"/>
            <a:ext cx="7492896" cy="4205388"/>
          </a:xfrm>
          <a:custGeom>
            <a:avLst/>
            <a:gdLst/>
            <a:ahLst/>
            <a:cxnLst/>
            <a:rect r="r" b="b" t="t" l="l"/>
            <a:pathLst>
              <a:path h="4205388" w="7492896">
                <a:moveTo>
                  <a:pt x="0" y="0"/>
                </a:moveTo>
                <a:lnTo>
                  <a:pt x="7492896" y="0"/>
                </a:lnTo>
                <a:lnTo>
                  <a:pt x="7492896" y="4205388"/>
                </a:lnTo>
                <a:lnTo>
                  <a:pt x="0" y="4205388"/>
                </a:lnTo>
                <a:lnTo>
                  <a:pt x="0" y="0"/>
                </a:lnTo>
                <a:close/>
              </a:path>
            </a:pathLst>
          </a:custGeom>
          <a:blipFill>
            <a:blip r:embed="rId3"/>
            <a:stretch>
              <a:fillRect l="0" t="0" r="0" b="0"/>
            </a:stretch>
          </a:blipFill>
        </p:spPr>
      </p:sp>
      <p:sp>
        <p:nvSpPr>
          <p:cNvPr name="TextBox 5" id="5"/>
          <p:cNvSpPr txBox="true"/>
          <p:nvPr/>
        </p:nvSpPr>
        <p:spPr>
          <a:xfrm rot="0">
            <a:off x="1028700" y="938848"/>
            <a:ext cx="3835167" cy="365760"/>
          </a:xfrm>
          <a:prstGeom prst="rect">
            <a:avLst/>
          </a:prstGeom>
        </p:spPr>
        <p:txBody>
          <a:bodyPr anchor="t" rtlCol="false" tIns="0" lIns="0" bIns="0" rIns="0">
            <a:spAutoFit/>
          </a:bodyPr>
          <a:lstStyle/>
          <a:p>
            <a:pPr algn="just">
              <a:lnSpc>
                <a:spcPts val="2940"/>
              </a:lnSpc>
            </a:pPr>
            <a:r>
              <a:rPr lang="en-US" sz="2100" spc="42">
                <a:solidFill>
                  <a:srgbClr val="000000"/>
                </a:solidFill>
                <a:latin typeface="Ablation"/>
                <a:ea typeface="Ablation"/>
                <a:cs typeface="Ablation"/>
                <a:sym typeface="Ablation"/>
              </a:rPr>
              <a:t>Group 4</a:t>
            </a:r>
          </a:p>
        </p:txBody>
      </p:sp>
      <p:sp>
        <p:nvSpPr>
          <p:cNvPr name="TextBox 6" id="6"/>
          <p:cNvSpPr txBox="true"/>
          <p:nvPr/>
        </p:nvSpPr>
        <p:spPr>
          <a:xfrm rot="0">
            <a:off x="1028700" y="4064604"/>
            <a:ext cx="7312413" cy="2632028"/>
          </a:xfrm>
          <a:prstGeom prst="rect">
            <a:avLst/>
          </a:prstGeom>
        </p:spPr>
        <p:txBody>
          <a:bodyPr anchor="t" rtlCol="false" tIns="0" lIns="0" bIns="0" rIns="0">
            <a:spAutoFit/>
          </a:bodyPr>
          <a:lstStyle/>
          <a:p>
            <a:pPr algn="l" marL="511392" indent="-255696" lvl="1">
              <a:lnSpc>
                <a:spcPts val="4263"/>
              </a:lnSpc>
              <a:buFont typeface="Arial"/>
              <a:buChar char="•"/>
            </a:pPr>
            <a:r>
              <a:rPr lang="en-US" sz="2368" spc="142">
                <a:solidFill>
                  <a:srgbClr val="000000"/>
                </a:solidFill>
                <a:latin typeface="Open Sauce"/>
                <a:ea typeface="Open Sauce"/>
                <a:cs typeface="Open Sauce"/>
                <a:sym typeface="Open Sauce"/>
              </a:rPr>
              <a:t>Conformance for 811</a:t>
            </a:r>
          </a:p>
          <a:p>
            <a:pPr algn="l">
              <a:lnSpc>
                <a:spcPts val="4263"/>
              </a:lnSpc>
            </a:pPr>
          </a:p>
          <a:p>
            <a:pPr algn="l" marL="511392" indent="-255696" lvl="1">
              <a:lnSpc>
                <a:spcPts val="4263"/>
              </a:lnSpc>
              <a:buFont typeface="Arial"/>
              <a:buChar char="•"/>
            </a:pPr>
            <a:r>
              <a:rPr lang="en-US" sz="2368" spc="142">
                <a:solidFill>
                  <a:srgbClr val="000000"/>
                </a:solidFill>
                <a:latin typeface="Open Sauce"/>
                <a:ea typeface="Open Sauce"/>
                <a:cs typeface="Open Sauce"/>
                <a:sym typeface="Open Sauce"/>
              </a:rPr>
              <a:t>Date Accuracy</a:t>
            </a:r>
          </a:p>
          <a:p>
            <a:pPr algn="l">
              <a:lnSpc>
                <a:spcPts val="4263"/>
              </a:lnSpc>
            </a:pPr>
          </a:p>
          <a:p>
            <a:pPr algn="l" marL="511392" indent="-255696" lvl="1">
              <a:lnSpc>
                <a:spcPts val="4263"/>
              </a:lnSpc>
              <a:buFont typeface="Arial"/>
              <a:buChar char="•"/>
            </a:pPr>
            <a:r>
              <a:rPr lang="en-US" sz="2368" spc="142">
                <a:solidFill>
                  <a:srgbClr val="000000"/>
                </a:solidFill>
                <a:latin typeface="Open Sauce"/>
                <a:ea typeface="Open Sauce"/>
                <a:cs typeface="Open Sauce"/>
                <a:sym typeface="Open Sauce"/>
              </a:rPr>
              <a:t>Compatiblity + Hardware</a:t>
            </a:r>
          </a:p>
        </p:txBody>
      </p:sp>
      <p:sp>
        <p:nvSpPr>
          <p:cNvPr name="TextBox 7" id="7"/>
          <p:cNvSpPr txBox="true"/>
          <p:nvPr/>
        </p:nvSpPr>
        <p:spPr>
          <a:xfrm rot="0">
            <a:off x="981075" y="2095260"/>
            <a:ext cx="6133199"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Constraints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16</a:t>
            </a:r>
          </a:p>
        </p:txBody>
      </p:sp>
      <p:sp>
        <p:nvSpPr>
          <p:cNvPr name="AutoShape 3" id="3"/>
          <p:cNvSpPr/>
          <p:nvPr/>
        </p:nvSpPr>
        <p:spPr>
          <a:xfrm>
            <a:off x="933450" y="9289732"/>
            <a:ext cx="15781772" cy="19050"/>
          </a:xfrm>
          <a:prstGeom prst="line">
            <a:avLst/>
          </a:prstGeom>
          <a:ln cap="flat" w="9525">
            <a:solidFill>
              <a:srgbClr val="000000"/>
            </a:solidFill>
            <a:prstDash val="solid"/>
            <a:headEnd type="none" len="sm" w="sm"/>
            <a:tailEnd type="none" len="sm" w="sm"/>
          </a:ln>
        </p:spPr>
      </p:sp>
      <p:sp>
        <p:nvSpPr>
          <p:cNvPr name="Freeform 4" id="4"/>
          <p:cNvSpPr/>
          <p:nvPr/>
        </p:nvSpPr>
        <p:spPr>
          <a:xfrm flipH="false" flipV="false" rot="0">
            <a:off x="7803329" y="2095260"/>
            <a:ext cx="9325087" cy="5222049"/>
          </a:xfrm>
          <a:custGeom>
            <a:avLst/>
            <a:gdLst/>
            <a:ahLst/>
            <a:cxnLst/>
            <a:rect r="r" b="b" t="t" l="l"/>
            <a:pathLst>
              <a:path h="5222049" w="9325087">
                <a:moveTo>
                  <a:pt x="0" y="0"/>
                </a:moveTo>
                <a:lnTo>
                  <a:pt x="9325087" y="0"/>
                </a:lnTo>
                <a:lnTo>
                  <a:pt x="9325087" y="5222049"/>
                </a:lnTo>
                <a:lnTo>
                  <a:pt x="0" y="5222049"/>
                </a:lnTo>
                <a:lnTo>
                  <a:pt x="0" y="0"/>
                </a:lnTo>
                <a:close/>
              </a:path>
            </a:pathLst>
          </a:custGeom>
          <a:blipFill>
            <a:blip r:embed="rId3"/>
            <a:stretch>
              <a:fillRect l="0" t="0" r="0" b="0"/>
            </a:stretch>
          </a:blipFill>
        </p:spPr>
      </p:sp>
      <p:sp>
        <p:nvSpPr>
          <p:cNvPr name="TextBox 5" id="5"/>
          <p:cNvSpPr txBox="true"/>
          <p:nvPr/>
        </p:nvSpPr>
        <p:spPr>
          <a:xfrm rot="0">
            <a:off x="1028700" y="938848"/>
            <a:ext cx="3835167" cy="365760"/>
          </a:xfrm>
          <a:prstGeom prst="rect">
            <a:avLst/>
          </a:prstGeom>
        </p:spPr>
        <p:txBody>
          <a:bodyPr anchor="t" rtlCol="false" tIns="0" lIns="0" bIns="0" rIns="0">
            <a:spAutoFit/>
          </a:bodyPr>
          <a:lstStyle/>
          <a:p>
            <a:pPr algn="just">
              <a:lnSpc>
                <a:spcPts val="2940"/>
              </a:lnSpc>
            </a:pPr>
            <a:r>
              <a:rPr lang="en-US" sz="2100" spc="42">
                <a:solidFill>
                  <a:srgbClr val="000000"/>
                </a:solidFill>
                <a:latin typeface="Ablation"/>
                <a:ea typeface="Ablation"/>
                <a:cs typeface="Ablation"/>
                <a:sym typeface="Ablation"/>
              </a:rPr>
              <a:t>Group 4</a:t>
            </a:r>
          </a:p>
        </p:txBody>
      </p:sp>
      <p:sp>
        <p:nvSpPr>
          <p:cNvPr name="TextBox 6" id="6"/>
          <p:cNvSpPr txBox="true"/>
          <p:nvPr/>
        </p:nvSpPr>
        <p:spPr>
          <a:xfrm rot="0">
            <a:off x="933450" y="3545917"/>
            <a:ext cx="5773653" cy="4250054"/>
          </a:xfrm>
          <a:prstGeom prst="rect">
            <a:avLst/>
          </a:prstGeom>
        </p:spPr>
        <p:txBody>
          <a:bodyPr anchor="t" rtlCol="false" tIns="0" lIns="0" bIns="0" rIns="0">
            <a:spAutoFit/>
          </a:bodyPr>
          <a:lstStyle/>
          <a:p>
            <a:pPr algn="l" marL="453392" indent="-226696" lvl="1">
              <a:lnSpc>
                <a:spcPts val="3780"/>
              </a:lnSpc>
              <a:buFont typeface="Arial"/>
              <a:buChar char="•"/>
            </a:pPr>
            <a:r>
              <a:rPr lang="en-US" sz="2100" spc="126">
                <a:solidFill>
                  <a:srgbClr val="000000"/>
                </a:solidFill>
                <a:latin typeface="Open Sauce"/>
                <a:ea typeface="Open Sauce"/>
                <a:cs typeface="Open Sauce"/>
                <a:sym typeface="Open Sauce"/>
              </a:rPr>
              <a:t>Users will receive training</a:t>
            </a:r>
          </a:p>
          <a:p>
            <a:pPr algn="l">
              <a:lnSpc>
                <a:spcPts val="3780"/>
              </a:lnSpc>
            </a:pPr>
          </a:p>
          <a:p>
            <a:pPr algn="l" marL="453392" indent="-226696" lvl="1">
              <a:lnSpc>
                <a:spcPts val="3780"/>
              </a:lnSpc>
              <a:buFont typeface="Arial"/>
              <a:buChar char="•"/>
            </a:pPr>
            <a:r>
              <a:rPr lang="en-US" sz="2100" spc="126">
                <a:solidFill>
                  <a:srgbClr val="000000"/>
                </a:solidFill>
                <a:latin typeface="Open Sauce"/>
                <a:ea typeface="Open Sauce"/>
                <a:cs typeface="Open Sauce"/>
                <a:sym typeface="Open Sauce"/>
              </a:rPr>
              <a:t>Reliable internet connectivity</a:t>
            </a:r>
          </a:p>
          <a:p>
            <a:pPr algn="l">
              <a:lnSpc>
                <a:spcPts val="3780"/>
              </a:lnSpc>
            </a:pPr>
          </a:p>
          <a:p>
            <a:pPr algn="l" marL="453392" indent="-226696" lvl="1">
              <a:lnSpc>
                <a:spcPts val="3780"/>
              </a:lnSpc>
              <a:buFont typeface="Arial"/>
              <a:buChar char="•"/>
            </a:pPr>
            <a:r>
              <a:rPr lang="en-US" sz="2100" spc="126">
                <a:solidFill>
                  <a:srgbClr val="000000"/>
                </a:solidFill>
                <a:latin typeface="Open Sauce"/>
                <a:ea typeface="Open Sauce"/>
                <a:cs typeface="Open Sauce"/>
                <a:sym typeface="Open Sauce"/>
              </a:rPr>
              <a:t>Utility companies will allow data access</a:t>
            </a:r>
          </a:p>
          <a:p>
            <a:pPr algn="l">
              <a:lnSpc>
                <a:spcPts val="3780"/>
              </a:lnSpc>
            </a:pPr>
          </a:p>
          <a:p>
            <a:pPr algn="l" marL="453392" indent="-226696" lvl="1">
              <a:lnSpc>
                <a:spcPts val="3780"/>
              </a:lnSpc>
              <a:buFont typeface="Arial"/>
              <a:buChar char="•"/>
            </a:pPr>
            <a:r>
              <a:rPr lang="en-US" sz="2100" spc="126">
                <a:solidFill>
                  <a:srgbClr val="000000"/>
                </a:solidFill>
                <a:latin typeface="Open Sauce"/>
                <a:ea typeface="Open Sauce"/>
                <a:cs typeface="Open Sauce"/>
                <a:sym typeface="Open Sauce"/>
              </a:rPr>
              <a:t>Infrastructure repair and regulatory compliance</a:t>
            </a:r>
          </a:p>
        </p:txBody>
      </p:sp>
      <p:sp>
        <p:nvSpPr>
          <p:cNvPr name="TextBox 7" id="7"/>
          <p:cNvSpPr txBox="true"/>
          <p:nvPr/>
        </p:nvSpPr>
        <p:spPr>
          <a:xfrm rot="0">
            <a:off x="981075" y="2095260"/>
            <a:ext cx="6133199"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Assumptions</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1028700" y="2603472"/>
            <a:ext cx="16230600" cy="3589655"/>
          </a:xfrm>
          <a:prstGeom prst="rect">
            <a:avLst/>
          </a:prstGeom>
        </p:spPr>
        <p:txBody>
          <a:bodyPr anchor="t" rtlCol="false" tIns="0" lIns="0" bIns="0" rIns="0">
            <a:spAutoFit/>
          </a:bodyPr>
          <a:lstStyle/>
          <a:p>
            <a:pPr algn="l">
              <a:lnSpc>
                <a:spcPts val="3219"/>
              </a:lnSpc>
            </a:pPr>
            <a:r>
              <a:rPr lang="en-US" sz="2299" spc="-137">
                <a:solidFill>
                  <a:srgbClr val="000000"/>
                </a:solidFill>
                <a:latin typeface="Open Sauce"/>
                <a:ea typeface="Open Sauce"/>
                <a:cs typeface="Open Sauce"/>
                <a:sym typeface="Open Sauce"/>
              </a:rPr>
              <a:t>[1] Common Ground Alliance, "2024 DIRT Report: Damage Information Reporting Tool," Common Ground Alliance, Washington, DC, 2025.</a:t>
            </a:r>
          </a:p>
          <a:p>
            <a:pPr algn="l">
              <a:lnSpc>
                <a:spcPts val="3219"/>
              </a:lnSpc>
            </a:pPr>
          </a:p>
          <a:p>
            <a:pPr algn="l">
              <a:lnSpc>
                <a:spcPts val="3219"/>
              </a:lnSpc>
            </a:pPr>
            <a:r>
              <a:rPr lang="en-US" sz="2299" spc="-137">
                <a:solidFill>
                  <a:srgbClr val="000000"/>
                </a:solidFill>
                <a:latin typeface="Open Sauce"/>
                <a:ea typeface="Open Sauce"/>
                <a:cs typeface="Open Sauce"/>
                <a:sym typeface="Open Sauce"/>
              </a:rPr>
              <a:t>[2] Associated General Contractors of America, "Most Contractors Report Significant Flaws With The Nation's 811 Utility Location System, Citing Inaccurate Locates And Slow Response Times," Associated General Contractors of America, Arlington, VA, Nov. 2021.</a:t>
            </a:r>
          </a:p>
          <a:p>
            <a:pPr algn="l">
              <a:lnSpc>
                <a:spcPts val="3219"/>
              </a:lnSpc>
            </a:pPr>
          </a:p>
          <a:p>
            <a:pPr algn="l">
              <a:lnSpc>
                <a:spcPts val="3219"/>
              </a:lnSpc>
            </a:pPr>
          </a:p>
          <a:p>
            <a:pPr algn="l">
              <a:lnSpc>
                <a:spcPts val="3219"/>
              </a:lnSpc>
            </a:pPr>
          </a:p>
        </p:txBody>
      </p:sp>
      <p:sp>
        <p:nvSpPr>
          <p:cNvPr name="TextBox 3" id="3"/>
          <p:cNvSpPr txBox="true"/>
          <p:nvPr/>
        </p:nvSpPr>
        <p:spPr>
          <a:xfrm rot="0">
            <a:off x="1028700" y="1028700"/>
            <a:ext cx="6133199" cy="971550"/>
          </a:xfrm>
          <a:prstGeom prst="rect">
            <a:avLst/>
          </a:prstGeom>
        </p:spPr>
        <p:txBody>
          <a:bodyPr anchor="t" rtlCol="false" tIns="0" lIns="0" bIns="0" rIns="0">
            <a:spAutoFit/>
          </a:bodyPr>
          <a:lstStyle/>
          <a:p>
            <a:pPr algn="l">
              <a:lnSpc>
                <a:spcPts val="7679"/>
              </a:lnSpc>
            </a:pPr>
            <a:r>
              <a:rPr lang="en-US" sz="6399" spc="-255" b="true">
                <a:solidFill>
                  <a:srgbClr val="000000"/>
                </a:solidFill>
                <a:latin typeface="Open Sauce Bold"/>
                <a:ea typeface="Open Sauce Bold"/>
                <a:cs typeface="Open Sauce Bold"/>
                <a:sym typeface="Open Sauce Bold"/>
              </a:rPr>
              <a:t>References</a:t>
            </a:r>
          </a:p>
        </p:txBody>
      </p:sp>
      <p:sp>
        <p:nvSpPr>
          <p:cNvPr name="TextBox 4" id="4"/>
          <p:cNvSpPr txBox="true"/>
          <p:nvPr/>
        </p:nvSpPr>
        <p:spPr>
          <a:xfrm rot="0">
            <a:off x="16619972" y="9083040"/>
            <a:ext cx="639328" cy="365760"/>
          </a:xfrm>
          <a:prstGeom prst="rect">
            <a:avLst/>
          </a:prstGeom>
        </p:spPr>
        <p:txBody>
          <a:bodyPr anchor="t" rtlCol="false" tIns="0" lIns="0" bIns="0" rIns="0">
            <a:spAutoFit/>
          </a:bodyPr>
          <a:lstStyle/>
          <a:p>
            <a:pPr algn="r">
              <a:lnSpc>
                <a:spcPts val="2940"/>
              </a:lnSpc>
            </a:pPr>
            <a:r>
              <a:rPr lang="en-US" sz="2100" spc="42">
                <a:solidFill>
                  <a:srgbClr val="000000"/>
                </a:solidFill>
                <a:latin typeface="Ablation"/>
                <a:ea typeface="Ablation"/>
                <a:cs typeface="Ablation"/>
                <a:sym typeface="Ablation"/>
              </a:rPr>
              <a:t>17</a:t>
            </a:r>
          </a:p>
        </p:txBody>
      </p:sp>
      <p:sp>
        <p:nvSpPr>
          <p:cNvPr name="AutoShape 5" id="5"/>
          <p:cNvSpPr/>
          <p:nvPr/>
        </p:nvSpPr>
        <p:spPr>
          <a:xfrm>
            <a:off x="933450" y="9289732"/>
            <a:ext cx="15781772" cy="19050"/>
          </a:xfrm>
          <a:prstGeom prst="line">
            <a:avLst/>
          </a:prstGeom>
          <a:ln cap="flat" w="9525">
            <a:solidFill>
              <a:srgbClr val="000000"/>
            </a:solidFill>
            <a:prstDash val="solid"/>
            <a:headEnd type="none" len="sm" w="sm"/>
            <a:tailEnd type="none" len="sm" w="sm"/>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BF8"/>
        </a:solidFill>
      </p:bgPr>
    </p:bg>
    <p:spTree>
      <p:nvGrpSpPr>
        <p:cNvPr id="1" name=""/>
        <p:cNvGrpSpPr/>
        <p:nvPr/>
      </p:nvGrpSpPr>
      <p:grpSpPr>
        <a:xfrm>
          <a:off x="0" y="0"/>
          <a:ext cx="0" cy="0"/>
          <a:chOff x="0" y="0"/>
          <a:chExt cx="0" cy="0"/>
        </a:xfrm>
      </p:grpSpPr>
      <p:sp>
        <p:nvSpPr>
          <p:cNvPr name="TextBox 2" id="2"/>
          <p:cNvSpPr txBox="true"/>
          <p:nvPr/>
        </p:nvSpPr>
        <p:spPr>
          <a:xfrm rot="0">
            <a:off x="3577281" y="2229913"/>
            <a:ext cx="11133439" cy="2472690"/>
          </a:xfrm>
          <a:prstGeom prst="rect">
            <a:avLst/>
          </a:prstGeom>
        </p:spPr>
        <p:txBody>
          <a:bodyPr anchor="t" rtlCol="false" tIns="0" lIns="0" bIns="0" rIns="0">
            <a:spAutoFit/>
          </a:bodyPr>
          <a:lstStyle/>
          <a:p>
            <a:pPr algn="ctr">
              <a:lnSpc>
                <a:spcPts val="20160"/>
              </a:lnSpc>
            </a:pPr>
            <a:r>
              <a:rPr lang="en-US" sz="14400" spc="-863">
                <a:solidFill>
                  <a:srgbClr val="000000"/>
                </a:solidFill>
                <a:latin typeface="Ablation"/>
                <a:ea typeface="Ablation"/>
                <a:cs typeface="Ablation"/>
                <a:sym typeface="Ablation"/>
              </a:rPr>
              <a:t>Thank You</a:t>
            </a:r>
          </a:p>
        </p:txBody>
      </p:sp>
      <p:sp>
        <p:nvSpPr>
          <p:cNvPr name="TextBox 3" id="3"/>
          <p:cNvSpPr txBox="true"/>
          <p:nvPr/>
        </p:nvSpPr>
        <p:spPr>
          <a:xfrm rot="0">
            <a:off x="3577281" y="4837079"/>
            <a:ext cx="11133439" cy="405765"/>
          </a:xfrm>
          <a:prstGeom prst="rect">
            <a:avLst/>
          </a:prstGeom>
        </p:spPr>
        <p:txBody>
          <a:bodyPr anchor="t" rtlCol="false" tIns="0" lIns="0" bIns="0" rIns="0">
            <a:spAutoFit/>
          </a:bodyPr>
          <a:lstStyle/>
          <a:p>
            <a:pPr algn="ctr">
              <a:lnSpc>
                <a:spcPts val="3359"/>
              </a:lnSpc>
            </a:pPr>
            <a:r>
              <a:rPr lang="en-US" b="true" sz="2400" spc="384">
                <a:solidFill>
                  <a:srgbClr val="000000"/>
                </a:solidFill>
                <a:latin typeface="Open Sauce Bold"/>
                <a:ea typeface="Open Sauce Bold"/>
                <a:cs typeface="Open Sauce Bold"/>
                <a:sym typeface="Open Sauce Bold"/>
              </a:rPr>
              <a:t>FOR LISTENING =)</a:t>
            </a:r>
          </a:p>
        </p:txBody>
      </p:sp>
      <p:grpSp>
        <p:nvGrpSpPr>
          <p:cNvPr name="Group 4" id="4"/>
          <p:cNvGrpSpPr/>
          <p:nvPr/>
        </p:nvGrpSpPr>
        <p:grpSpPr>
          <a:xfrm rot="0">
            <a:off x="6542724" y="5812007"/>
            <a:ext cx="5202552" cy="2347518"/>
            <a:chOff x="0" y="0"/>
            <a:chExt cx="6936736" cy="3130023"/>
          </a:xfrm>
        </p:grpSpPr>
        <p:sp>
          <p:nvSpPr>
            <p:cNvPr name="Freeform 5" id="5"/>
            <p:cNvSpPr/>
            <p:nvPr/>
          </p:nvSpPr>
          <p:spPr>
            <a:xfrm flipH="false" flipV="false" rot="0">
              <a:off x="39236" y="837537"/>
              <a:ext cx="6897500" cy="1261668"/>
            </a:xfrm>
            <a:custGeom>
              <a:avLst/>
              <a:gdLst/>
              <a:ahLst/>
              <a:cxnLst/>
              <a:rect r="r" b="b" t="t" l="l"/>
              <a:pathLst>
                <a:path h="1261668" w="6897500">
                  <a:moveTo>
                    <a:pt x="0" y="0"/>
                  </a:moveTo>
                  <a:lnTo>
                    <a:pt x="6897500" y="0"/>
                  </a:lnTo>
                  <a:lnTo>
                    <a:pt x="6897500" y="1261668"/>
                  </a:lnTo>
                  <a:lnTo>
                    <a:pt x="0" y="12616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445427" y="2575659"/>
              <a:ext cx="2613892" cy="564"/>
            </a:xfrm>
            <a:prstGeom prst="line">
              <a:avLst/>
            </a:prstGeom>
            <a:ln cap="flat" w="50800">
              <a:solidFill>
                <a:srgbClr val="000000"/>
              </a:solidFill>
              <a:prstDash val="solid"/>
              <a:headEnd type="none" len="sm" w="sm"/>
              <a:tailEnd type="none" len="sm" w="sm"/>
            </a:ln>
          </p:spPr>
        </p:sp>
        <p:sp>
          <p:nvSpPr>
            <p:cNvPr name="AutoShape 7" id="7"/>
            <p:cNvSpPr/>
            <p:nvPr/>
          </p:nvSpPr>
          <p:spPr>
            <a:xfrm>
              <a:off x="2742005" y="2576224"/>
              <a:ext cx="634628" cy="0"/>
            </a:xfrm>
            <a:prstGeom prst="line">
              <a:avLst/>
            </a:prstGeom>
            <a:ln cap="flat" w="50800">
              <a:solidFill>
                <a:srgbClr val="000000"/>
              </a:solidFill>
              <a:prstDash val="solid"/>
              <a:headEnd type="none" len="sm" w="sm"/>
              <a:tailEnd type="none" len="sm" w="sm"/>
            </a:ln>
          </p:spPr>
        </p:sp>
        <p:sp>
          <p:nvSpPr>
            <p:cNvPr name="AutoShape 8" id="8"/>
            <p:cNvSpPr/>
            <p:nvPr/>
          </p:nvSpPr>
          <p:spPr>
            <a:xfrm flipH="true">
              <a:off x="3462586" y="2355745"/>
              <a:ext cx="0" cy="384430"/>
            </a:xfrm>
            <a:prstGeom prst="line">
              <a:avLst/>
            </a:prstGeom>
            <a:ln cap="flat" w="50800">
              <a:solidFill>
                <a:srgbClr val="000000"/>
              </a:solidFill>
              <a:prstDash val="solid"/>
              <a:headEnd type="none" len="sm" w="sm"/>
              <a:tailEnd type="none" len="sm" w="sm"/>
            </a:ln>
          </p:spPr>
        </p:sp>
        <p:sp>
          <p:nvSpPr>
            <p:cNvPr name="AutoShape 9" id="9"/>
            <p:cNvSpPr/>
            <p:nvPr/>
          </p:nvSpPr>
          <p:spPr>
            <a:xfrm>
              <a:off x="3564186" y="2576224"/>
              <a:ext cx="1649393" cy="0"/>
            </a:xfrm>
            <a:prstGeom prst="line">
              <a:avLst/>
            </a:prstGeom>
            <a:ln cap="flat" w="50800">
              <a:solidFill>
                <a:srgbClr val="000000"/>
              </a:solidFill>
              <a:prstDash val="solid"/>
              <a:headEnd type="none" len="sm" w="sm"/>
              <a:tailEnd type="none" len="sm" w="sm"/>
            </a:ln>
          </p:spPr>
        </p:sp>
        <p:sp>
          <p:nvSpPr>
            <p:cNvPr name="AutoShape 10" id="10"/>
            <p:cNvSpPr/>
            <p:nvPr/>
          </p:nvSpPr>
          <p:spPr>
            <a:xfrm>
              <a:off x="5315179" y="2135475"/>
              <a:ext cx="0" cy="604700"/>
            </a:xfrm>
            <a:prstGeom prst="line">
              <a:avLst/>
            </a:prstGeom>
            <a:ln cap="flat" w="50800">
              <a:solidFill>
                <a:srgbClr val="000000"/>
              </a:solidFill>
              <a:prstDash val="solid"/>
              <a:headEnd type="none" len="sm" w="sm"/>
              <a:tailEnd type="none" len="sm" w="sm"/>
            </a:ln>
          </p:spPr>
        </p:sp>
        <p:sp>
          <p:nvSpPr>
            <p:cNvPr name="AutoShape 11" id="11"/>
            <p:cNvSpPr/>
            <p:nvPr/>
          </p:nvSpPr>
          <p:spPr>
            <a:xfrm flipV="true">
              <a:off x="5416779" y="2576224"/>
              <a:ext cx="1519957" cy="0"/>
            </a:xfrm>
            <a:prstGeom prst="line">
              <a:avLst/>
            </a:prstGeom>
            <a:ln cap="flat" w="50800">
              <a:solidFill>
                <a:srgbClr val="000000"/>
              </a:solidFill>
              <a:prstDash val="solid"/>
              <a:headEnd type="none" len="sm" w="sm"/>
              <a:tailEnd type="none" len="sm" w="sm"/>
            </a:ln>
          </p:spPr>
        </p:sp>
        <p:sp>
          <p:nvSpPr>
            <p:cNvPr name="AutoShape 12" id="12"/>
            <p:cNvSpPr/>
            <p:nvPr/>
          </p:nvSpPr>
          <p:spPr>
            <a:xfrm flipH="true">
              <a:off x="1814905" y="2355745"/>
              <a:ext cx="0" cy="117374"/>
            </a:xfrm>
            <a:prstGeom prst="line">
              <a:avLst/>
            </a:prstGeom>
            <a:ln cap="flat" w="50800">
              <a:solidFill>
                <a:srgbClr val="000000"/>
              </a:solidFill>
              <a:prstDash val="solid"/>
              <a:headEnd type="none" len="sm" w="sm"/>
              <a:tailEnd type="none" len="sm" w="sm"/>
            </a:ln>
          </p:spPr>
        </p:sp>
        <p:sp>
          <p:nvSpPr>
            <p:cNvPr name="AutoShape 13" id="13"/>
            <p:cNvSpPr/>
            <p:nvPr/>
          </p:nvSpPr>
          <p:spPr>
            <a:xfrm flipH="true">
              <a:off x="1814905" y="2677824"/>
              <a:ext cx="0" cy="452200"/>
            </a:xfrm>
            <a:prstGeom prst="line">
              <a:avLst/>
            </a:prstGeom>
            <a:ln cap="flat" w="50800">
              <a:solidFill>
                <a:srgbClr val="000000"/>
              </a:solidFill>
              <a:prstDash val="solid"/>
              <a:headEnd type="none" len="sm" w="sm"/>
              <a:tailEnd type="none" len="sm" w="sm"/>
            </a:ln>
          </p:spPr>
        </p:sp>
        <p:sp>
          <p:nvSpPr>
            <p:cNvPr name="AutoShape 14" id="14"/>
            <p:cNvSpPr/>
            <p:nvPr/>
          </p:nvSpPr>
          <p:spPr>
            <a:xfrm>
              <a:off x="348523" y="2355745"/>
              <a:ext cx="0" cy="384430"/>
            </a:xfrm>
            <a:prstGeom prst="line">
              <a:avLst/>
            </a:prstGeom>
            <a:ln cap="flat" w="50800">
              <a:solidFill>
                <a:srgbClr val="000000"/>
              </a:solidFill>
              <a:prstDash val="solid"/>
              <a:headEnd type="none" len="sm" w="sm"/>
              <a:tailEnd type="none" len="sm" w="sm"/>
            </a:ln>
          </p:spPr>
        </p:sp>
        <p:sp>
          <p:nvSpPr>
            <p:cNvPr name="AutoShape 15" id="15"/>
            <p:cNvSpPr/>
            <p:nvPr/>
          </p:nvSpPr>
          <p:spPr>
            <a:xfrm>
              <a:off x="0" y="2576224"/>
              <a:ext cx="255424" cy="0"/>
            </a:xfrm>
            <a:prstGeom prst="line">
              <a:avLst/>
            </a:prstGeom>
            <a:ln cap="flat" w="50800">
              <a:solidFill>
                <a:srgbClr val="000000"/>
              </a:solidFill>
              <a:prstDash val="solid"/>
              <a:headEnd type="none" len="sm" w="sm"/>
              <a:tailEnd type="none" len="sm" w="sm"/>
            </a:ln>
          </p:spPr>
        </p:sp>
        <p:sp>
          <p:nvSpPr>
            <p:cNvPr name="AutoShape 16" id="16"/>
            <p:cNvSpPr/>
            <p:nvPr/>
          </p:nvSpPr>
          <p:spPr>
            <a:xfrm flipH="true">
              <a:off x="1374319" y="2135475"/>
              <a:ext cx="0" cy="337643"/>
            </a:xfrm>
            <a:prstGeom prst="line">
              <a:avLst/>
            </a:prstGeom>
            <a:ln cap="flat" w="50800">
              <a:solidFill>
                <a:srgbClr val="000000"/>
              </a:solidFill>
              <a:prstDash val="solid"/>
              <a:headEnd type="none" len="sm" w="sm"/>
              <a:tailEnd type="none" len="sm" w="sm"/>
            </a:ln>
          </p:spPr>
        </p:sp>
        <p:sp>
          <p:nvSpPr>
            <p:cNvPr name="AutoShape 17" id="17"/>
            <p:cNvSpPr/>
            <p:nvPr/>
          </p:nvSpPr>
          <p:spPr>
            <a:xfrm flipH="true">
              <a:off x="1374319" y="2677824"/>
              <a:ext cx="0" cy="452200"/>
            </a:xfrm>
            <a:prstGeom prst="line">
              <a:avLst/>
            </a:prstGeom>
            <a:ln cap="flat" w="50800">
              <a:solidFill>
                <a:srgbClr val="000000"/>
              </a:solidFill>
              <a:prstDash val="solid"/>
              <a:headEnd type="none" len="sm" w="sm"/>
              <a:tailEnd type="none" len="sm" w="sm"/>
            </a:ln>
          </p:spPr>
        </p:sp>
        <p:sp>
          <p:nvSpPr>
            <p:cNvPr name="AutoShape 18" id="18"/>
            <p:cNvSpPr/>
            <p:nvPr/>
          </p:nvSpPr>
          <p:spPr>
            <a:xfrm>
              <a:off x="4229151" y="2135475"/>
              <a:ext cx="0" cy="47024"/>
            </a:xfrm>
            <a:prstGeom prst="line">
              <a:avLst/>
            </a:prstGeom>
            <a:ln cap="flat" w="50800">
              <a:solidFill>
                <a:srgbClr val="000000"/>
              </a:solidFill>
              <a:prstDash val="solid"/>
              <a:headEnd type="none" len="sm" w="sm"/>
              <a:tailEnd type="none" len="sm" w="sm"/>
            </a:ln>
          </p:spPr>
        </p:sp>
        <p:sp>
          <p:nvSpPr>
            <p:cNvPr name="AutoShape 19" id="19"/>
            <p:cNvSpPr/>
            <p:nvPr/>
          </p:nvSpPr>
          <p:spPr>
            <a:xfrm>
              <a:off x="4229151" y="2646648"/>
              <a:ext cx="0" cy="483376"/>
            </a:xfrm>
            <a:prstGeom prst="line">
              <a:avLst/>
            </a:prstGeom>
            <a:ln cap="flat" w="50800">
              <a:solidFill>
                <a:srgbClr val="000000"/>
              </a:solidFill>
              <a:prstDash val="solid"/>
              <a:headEnd type="none" len="sm" w="sm"/>
              <a:tailEnd type="none" len="sm" w="sm"/>
            </a:ln>
          </p:spPr>
        </p:sp>
        <p:sp>
          <p:nvSpPr>
            <p:cNvPr name="AutoShape 20" id="20"/>
            <p:cNvSpPr/>
            <p:nvPr/>
          </p:nvSpPr>
          <p:spPr>
            <a:xfrm>
              <a:off x="5" y="2839282"/>
              <a:ext cx="1268067" cy="0"/>
            </a:xfrm>
            <a:prstGeom prst="line">
              <a:avLst/>
            </a:prstGeom>
            <a:ln cap="flat" w="50800">
              <a:solidFill>
                <a:srgbClr val="000000"/>
              </a:solidFill>
              <a:prstDash val="solid"/>
              <a:headEnd type="none" len="sm" w="sm"/>
              <a:tailEnd type="none" len="sm" w="sm"/>
            </a:ln>
          </p:spPr>
        </p:sp>
        <p:sp>
          <p:nvSpPr>
            <p:cNvPr name="AutoShape 21" id="21"/>
            <p:cNvSpPr/>
            <p:nvPr/>
          </p:nvSpPr>
          <p:spPr>
            <a:xfrm>
              <a:off x="348523" y="2941447"/>
              <a:ext cx="0" cy="188577"/>
            </a:xfrm>
            <a:prstGeom prst="line">
              <a:avLst/>
            </a:prstGeom>
            <a:ln cap="flat" w="50800">
              <a:solidFill>
                <a:srgbClr val="000000"/>
              </a:solidFill>
              <a:prstDash val="solid"/>
              <a:headEnd type="none" len="sm" w="sm"/>
              <a:tailEnd type="none" len="sm" w="sm"/>
            </a:ln>
          </p:spPr>
        </p:sp>
        <p:sp>
          <p:nvSpPr>
            <p:cNvPr name="AutoShape 22" id="22"/>
            <p:cNvSpPr/>
            <p:nvPr/>
          </p:nvSpPr>
          <p:spPr>
            <a:xfrm>
              <a:off x="1475919" y="2839282"/>
              <a:ext cx="232322" cy="0"/>
            </a:xfrm>
            <a:prstGeom prst="line">
              <a:avLst/>
            </a:prstGeom>
            <a:ln cap="flat" w="50800">
              <a:solidFill>
                <a:srgbClr val="000000"/>
              </a:solidFill>
              <a:prstDash val="solid"/>
              <a:headEnd type="none" len="sm" w="sm"/>
              <a:tailEnd type="none" len="sm" w="sm"/>
            </a:ln>
          </p:spPr>
        </p:sp>
        <p:sp>
          <p:nvSpPr>
            <p:cNvPr name="AutoShape 23" id="23"/>
            <p:cNvSpPr/>
            <p:nvPr/>
          </p:nvSpPr>
          <p:spPr>
            <a:xfrm>
              <a:off x="1916505" y="2839282"/>
              <a:ext cx="2207911" cy="0"/>
            </a:xfrm>
            <a:prstGeom prst="line">
              <a:avLst/>
            </a:prstGeom>
            <a:ln cap="flat" w="50800">
              <a:solidFill>
                <a:srgbClr val="000000"/>
              </a:solidFill>
              <a:prstDash val="solid"/>
              <a:headEnd type="none" len="sm" w="sm"/>
              <a:tailEnd type="none" len="sm" w="sm"/>
            </a:ln>
          </p:spPr>
        </p:sp>
        <p:sp>
          <p:nvSpPr>
            <p:cNvPr name="AutoShape 24" id="24"/>
            <p:cNvSpPr/>
            <p:nvPr/>
          </p:nvSpPr>
          <p:spPr>
            <a:xfrm>
              <a:off x="3462586" y="2940882"/>
              <a:ext cx="0" cy="189141"/>
            </a:xfrm>
            <a:prstGeom prst="line">
              <a:avLst/>
            </a:prstGeom>
            <a:ln cap="flat" w="50800">
              <a:solidFill>
                <a:srgbClr val="000000"/>
              </a:solidFill>
              <a:prstDash val="solid"/>
              <a:headEnd type="none" len="sm" w="sm"/>
              <a:tailEnd type="none" len="sm" w="sm"/>
            </a:ln>
          </p:spPr>
        </p:sp>
        <p:sp>
          <p:nvSpPr>
            <p:cNvPr name="AutoShape 25" id="25"/>
            <p:cNvSpPr/>
            <p:nvPr/>
          </p:nvSpPr>
          <p:spPr>
            <a:xfrm>
              <a:off x="4330751" y="2839282"/>
              <a:ext cx="2605985" cy="0"/>
            </a:xfrm>
            <a:prstGeom prst="line">
              <a:avLst/>
            </a:prstGeom>
            <a:ln cap="flat" w="50800">
              <a:solidFill>
                <a:srgbClr val="000000"/>
              </a:solidFill>
              <a:prstDash val="solid"/>
              <a:headEnd type="none" len="sm" w="sm"/>
              <a:tailEnd type="none" len="sm" w="sm"/>
            </a:ln>
          </p:spPr>
        </p:sp>
        <p:sp>
          <p:nvSpPr>
            <p:cNvPr name="AutoShape 26" id="26"/>
            <p:cNvSpPr/>
            <p:nvPr/>
          </p:nvSpPr>
          <p:spPr>
            <a:xfrm>
              <a:off x="5315179" y="2902782"/>
              <a:ext cx="0" cy="227241"/>
            </a:xfrm>
            <a:prstGeom prst="line">
              <a:avLst/>
            </a:prstGeom>
            <a:ln cap="flat" w="50800">
              <a:solidFill>
                <a:srgbClr val="000000"/>
              </a:solidFill>
              <a:prstDash val="solid"/>
              <a:headEnd type="none" len="sm" w="sm"/>
              <a:tailEnd type="none" len="sm" w="sm"/>
            </a:ln>
          </p:spPr>
        </p:sp>
        <p:sp>
          <p:nvSpPr>
            <p:cNvPr name="AutoShape 27" id="27"/>
            <p:cNvSpPr/>
            <p:nvPr/>
          </p:nvSpPr>
          <p:spPr>
            <a:xfrm>
              <a:off x="11" y="2271399"/>
              <a:ext cx="1268062" cy="0"/>
            </a:xfrm>
            <a:prstGeom prst="line">
              <a:avLst/>
            </a:prstGeom>
            <a:ln cap="flat" w="50800">
              <a:solidFill>
                <a:srgbClr val="000000"/>
              </a:solidFill>
              <a:prstDash val="solid"/>
              <a:headEnd type="none" len="sm" w="sm"/>
              <a:tailEnd type="none" len="sm" w="sm"/>
            </a:ln>
          </p:spPr>
        </p:sp>
        <p:sp>
          <p:nvSpPr>
            <p:cNvPr name="AutoShape 28" id="28"/>
            <p:cNvSpPr/>
            <p:nvPr/>
          </p:nvSpPr>
          <p:spPr>
            <a:xfrm>
              <a:off x="348523" y="2135475"/>
              <a:ext cx="0" cy="47024"/>
            </a:xfrm>
            <a:prstGeom prst="line">
              <a:avLst/>
            </a:prstGeom>
            <a:ln cap="flat" w="50800">
              <a:solidFill>
                <a:srgbClr val="000000"/>
              </a:solidFill>
              <a:prstDash val="solid"/>
              <a:headEnd type="none" len="sm" w="sm"/>
              <a:tailEnd type="none" len="sm" w="sm"/>
            </a:ln>
          </p:spPr>
        </p:sp>
        <p:sp>
          <p:nvSpPr>
            <p:cNvPr name="AutoShape 29" id="29"/>
            <p:cNvSpPr/>
            <p:nvPr/>
          </p:nvSpPr>
          <p:spPr>
            <a:xfrm>
              <a:off x="1478451" y="2271399"/>
              <a:ext cx="3735128" cy="0"/>
            </a:xfrm>
            <a:prstGeom prst="line">
              <a:avLst/>
            </a:prstGeom>
            <a:ln cap="flat" w="50800">
              <a:solidFill>
                <a:srgbClr val="000000"/>
              </a:solidFill>
              <a:prstDash val="solid"/>
              <a:headEnd type="none" len="sm" w="sm"/>
              <a:tailEnd type="none" len="sm" w="sm"/>
            </a:ln>
          </p:spPr>
        </p:sp>
        <p:sp>
          <p:nvSpPr>
            <p:cNvPr name="AutoShape 30" id="30"/>
            <p:cNvSpPr/>
            <p:nvPr/>
          </p:nvSpPr>
          <p:spPr>
            <a:xfrm>
              <a:off x="1814905" y="2135475"/>
              <a:ext cx="0" cy="47024"/>
            </a:xfrm>
            <a:prstGeom prst="line">
              <a:avLst/>
            </a:prstGeom>
            <a:ln cap="flat" w="50800">
              <a:solidFill>
                <a:srgbClr val="000000"/>
              </a:solidFill>
              <a:prstDash val="solid"/>
              <a:headEnd type="none" len="sm" w="sm"/>
              <a:tailEnd type="none" len="sm" w="sm"/>
            </a:ln>
          </p:spPr>
        </p:sp>
        <p:sp>
          <p:nvSpPr>
            <p:cNvPr name="AutoShape 31" id="31"/>
            <p:cNvSpPr/>
            <p:nvPr/>
          </p:nvSpPr>
          <p:spPr>
            <a:xfrm>
              <a:off x="4229151" y="2355745"/>
              <a:ext cx="0" cy="117374"/>
            </a:xfrm>
            <a:prstGeom prst="line">
              <a:avLst/>
            </a:prstGeom>
            <a:ln cap="flat" w="50800">
              <a:solidFill>
                <a:srgbClr val="000000"/>
              </a:solidFill>
              <a:prstDash val="solid"/>
              <a:headEnd type="none" len="sm" w="sm"/>
              <a:tailEnd type="none" len="sm" w="sm"/>
            </a:ln>
          </p:spPr>
        </p:sp>
        <p:sp>
          <p:nvSpPr>
            <p:cNvPr name="AutoShape 32" id="32"/>
            <p:cNvSpPr/>
            <p:nvPr/>
          </p:nvSpPr>
          <p:spPr>
            <a:xfrm>
              <a:off x="5416779" y="2271399"/>
              <a:ext cx="604520" cy="0"/>
            </a:xfrm>
            <a:prstGeom prst="line">
              <a:avLst/>
            </a:prstGeom>
            <a:ln cap="flat" w="50800">
              <a:solidFill>
                <a:srgbClr val="000000"/>
              </a:solidFill>
              <a:prstDash val="solid"/>
              <a:headEnd type="none" len="sm" w="sm"/>
              <a:tailEnd type="none" len="sm" w="sm"/>
            </a:ln>
          </p:spPr>
        </p:sp>
        <p:sp>
          <p:nvSpPr>
            <p:cNvPr name="AutoShape 33" id="33"/>
            <p:cNvSpPr/>
            <p:nvPr/>
          </p:nvSpPr>
          <p:spPr>
            <a:xfrm>
              <a:off x="3462586" y="2135475"/>
              <a:ext cx="0" cy="47024"/>
            </a:xfrm>
            <a:prstGeom prst="line">
              <a:avLst/>
            </a:prstGeom>
            <a:ln cap="flat" w="50800">
              <a:solidFill>
                <a:srgbClr val="000000"/>
              </a:solidFill>
              <a:prstDash val="solid"/>
              <a:headEnd type="none" len="sm" w="sm"/>
              <a:tailEnd type="none" len="sm" w="sm"/>
            </a:ln>
          </p:spPr>
        </p:sp>
        <p:sp>
          <p:nvSpPr>
            <p:cNvPr name="AutoShape 34" id="34"/>
            <p:cNvSpPr/>
            <p:nvPr/>
          </p:nvSpPr>
          <p:spPr>
            <a:xfrm flipH="true">
              <a:off x="6122899" y="2646648"/>
              <a:ext cx="0" cy="93528"/>
            </a:xfrm>
            <a:prstGeom prst="line">
              <a:avLst/>
            </a:prstGeom>
            <a:ln cap="flat" w="50800">
              <a:solidFill>
                <a:srgbClr val="000000"/>
              </a:solidFill>
              <a:prstDash val="solid"/>
              <a:headEnd type="none" len="sm" w="sm"/>
              <a:tailEnd type="none" len="sm" w="sm"/>
            </a:ln>
          </p:spPr>
        </p:sp>
        <p:sp>
          <p:nvSpPr>
            <p:cNvPr name="AutoShape 35" id="35"/>
            <p:cNvSpPr/>
            <p:nvPr/>
          </p:nvSpPr>
          <p:spPr>
            <a:xfrm>
              <a:off x="6122899" y="2135475"/>
              <a:ext cx="0" cy="337643"/>
            </a:xfrm>
            <a:prstGeom prst="line">
              <a:avLst/>
            </a:prstGeom>
            <a:ln cap="flat" w="50800">
              <a:solidFill>
                <a:srgbClr val="000000"/>
              </a:solidFill>
              <a:prstDash val="solid"/>
              <a:headEnd type="none" len="sm" w="sm"/>
              <a:tailEnd type="none" len="sm" w="sm"/>
            </a:ln>
          </p:spPr>
        </p:sp>
        <p:sp>
          <p:nvSpPr>
            <p:cNvPr name="AutoShape 36" id="36"/>
            <p:cNvSpPr/>
            <p:nvPr/>
          </p:nvSpPr>
          <p:spPr>
            <a:xfrm>
              <a:off x="6224499" y="2271399"/>
              <a:ext cx="712237" cy="0"/>
            </a:xfrm>
            <a:prstGeom prst="line">
              <a:avLst/>
            </a:prstGeom>
            <a:ln cap="flat" w="50800">
              <a:solidFill>
                <a:srgbClr val="000000"/>
              </a:solidFill>
              <a:prstDash val="solid"/>
              <a:headEnd type="none" len="sm" w="sm"/>
              <a:tailEnd type="none" len="sm" w="sm"/>
            </a:ln>
          </p:spPr>
        </p:sp>
        <p:sp>
          <p:nvSpPr>
            <p:cNvPr name="AutoShape 37" id="37"/>
            <p:cNvSpPr/>
            <p:nvPr/>
          </p:nvSpPr>
          <p:spPr>
            <a:xfrm>
              <a:off x="6122899" y="2902782"/>
              <a:ext cx="0" cy="227241"/>
            </a:xfrm>
            <a:prstGeom prst="line">
              <a:avLst/>
            </a:prstGeom>
            <a:ln cap="flat" w="50800">
              <a:solidFill>
                <a:srgbClr val="000000"/>
              </a:solidFill>
              <a:prstDash val="solid"/>
              <a:headEnd type="none" len="sm" w="sm"/>
              <a:tailEnd type="none" len="sm" w="sm"/>
            </a:ln>
          </p:spPr>
        </p:sp>
        <p:sp>
          <p:nvSpPr>
            <p:cNvPr name="Freeform 38" id="38"/>
            <p:cNvSpPr/>
            <p:nvPr/>
          </p:nvSpPr>
          <p:spPr>
            <a:xfrm flipH="false" flipV="false" rot="0">
              <a:off x="2099108" y="0"/>
              <a:ext cx="426825" cy="1042783"/>
            </a:xfrm>
            <a:custGeom>
              <a:avLst/>
              <a:gdLst/>
              <a:ahLst/>
              <a:cxnLst/>
              <a:rect r="r" b="b" t="t" l="l"/>
              <a:pathLst>
                <a:path h="1042783" w="426825">
                  <a:moveTo>
                    <a:pt x="0" y="0"/>
                  </a:moveTo>
                  <a:lnTo>
                    <a:pt x="426825" y="0"/>
                  </a:lnTo>
                  <a:lnTo>
                    <a:pt x="426825" y="1042783"/>
                  </a:lnTo>
                  <a:lnTo>
                    <a:pt x="0" y="1042783"/>
                  </a:lnTo>
                  <a:lnTo>
                    <a:pt x="0" y="0"/>
                  </a:lnTo>
                  <a:close/>
                </a:path>
              </a:pathLst>
            </a:custGeom>
            <a:blipFill>
              <a:blip r:embed="rId4">
                <a:extLst>
                  <a:ext uri="{96DAC541-7B7A-43D3-8B79-37D633B846F1}">
                    <asvg:svgBlip xmlns:asvg="http://schemas.microsoft.com/office/drawing/2016/SVG/main" r:embed="rId5"/>
                  </a:ext>
                </a:extLst>
              </a:blip>
              <a:stretch>
                <a:fillRect l="0" t="-33086" r="-225146" b="0"/>
              </a:stretch>
            </a:blipFill>
          </p:spPr>
        </p:sp>
        <p:sp>
          <p:nvSpPr>
            <p:cNvPr name="Freeform 39" id="39"/>
            <p:cNvSpPr/>
            <p:nvPr/>
          </p:nvSpPr>
          <p:spPr>
            <a:xfrm flipH="false" flipV="false" rot="0">
              <a:off x="687053" y="242091"/>
              <a:ext cx="826348" cy="1190893"/>
            </a:xfrm>
            <a:custGeom>
              <a:avLst/>
              <a:gdLst/>
              <a:ahLst/>
              <a:cxnLst/>
              <a:rect r="r" b="b" t="t" l="l"/>
              <a:pathLst>
                <a:path h="1190893" w="826348">
                  <a:moveTo>
                    <a:pt x="0" y="0"/>
                  </a:moveTo>
                  <a:lnTo>
                    <a:pt x="826347" y="0"/>
                  </a:lnTo>
                  <a:lnTo>
                    <a:pt x="826347" y="1190893"/>
                  </a:lnTo>
                  <a:lnTo>
                    <a:pt x="0" y="1190893"/>
                  </a:lnTo>
                  <a:lnTo>
                    <a:pt x="0" y="0"/>
                  </a:lnTo>
                  <a:close/>
                </a:path>
              </a:pathLst>
            </a:custGeom>
            <a:blipFill>
              <a:blip r:embed="rId6"/>
              <a:stretch>
                <a:fillRect l="-49730" t="0" r="0" b="0"/>
              </a:stretch>
            </a:blipFill>
          </p:spPr>
        </p:sp>
        <p:sp>
          <p:nvSpPr>
            <p:cNvPr name="Freeform 40" id="40"/>
            <p:cNvSpPr/>
            <p:nvPr/>
          </p:nvSpPr>
          <p:spPr>
            <a:xfrm flipH="false" flipV="false" rot="0">
              <a:off x="1635901" y="0"/>
              <a:ext cx="425647" cy="1387807"/>
            </a:xfrm>
            <a:custGeom>
              <a:avLst/>
              <a:gdLst/>
              <a:ahLst/>
              <a:cxnLst/>
              <a:rect r="r" b="b" t="t" l="l"/>
              <a:pathLst>
                <a:path h="1387807" w="425647">
                  <a:moveTo>
                    <a:pt x="0" y="0"/>
                  </a:moveTo>
                  <a:lnTo>
                    <a:pt x="425647" y="0"/>
                  </a:lnTo>
                  <a:lnTo>
                    <a:pt x="425647" y="1387807"/>
                  </a:lnTo>
                  <a:lnTo>
                    <a:pt x="0" y="1387807"/>
                  </a:lnTo>
                  <a:lnTo>
                    <a:pt x="0" y="0"/>
                  </a:lnTo>
                  <a:close/>
                </a:path>
              </a:pathLst>
            </a:custGeom>
            <a:blipFill>
              <a:blip r:embed="rId4">
                <a:extLst>
                  <a:ext uri="{96DAC541-7B7A-43D3-8B79-37D633B846F1}">
                    <asvg:svgBlip xmlns:asvg="http://schemas.microsoft.com/office/drawing/2016/SVG/main" r:embed="rId5"/>
                  </a:ext>
                </a:extLst>
              </a:blip>
              <a:stretch>
                <a:fillRect l="-226046" t="0" r="0" b="0"/>
              </a:stretch>
            </a:blipFill>
          </p:spPr>
        </p:sp>
        <p:sp>
          <p:nvSpPr>
            <p:cNvPr name="Freeform 41" id="41"/>
            <p:cNvSpPr/>
            <p:nvPr/>
          </p:nvSpPr>
          <p:spPr>
            <a:xfrm flipH="false" flipV="false" rot="0">
              <a:off x="5027928" y="277651"/>
              <a:ext cx="383635" cy="918250"/>
            </a:xfrm>
            <a:custGeom>
              <a:avLst/>
              <a:gdLst/>
              <a:ahLst/>
              <a:cxnLst/>
              <a:rect r="r" b="b" t="t" l="l"/>
              <a:pathLst>
                <a:path h="918250" w="383635">
                  <a:moveTo>
                    <a:pt x="0" y="0"/>
                  </a:moveTo>
                  <a:lnTo>
                    <a:pt x="383635" y="0"/>
                  </a:lnTo>
                  <a:lnTo>
                    <a:pt x="383635" y="918250"/>
                  </a:lnTo>
                  <a:lnTo>
                    <a:pt x="0" y="918250"/>
                  </a:lnTo>
                  <a:lnTo>
                    <a:pt x="0" y="0"/>
                  </a:lnTo>
                  <a:close/>
                </a:path>
              </a:pathLst>
            </a:custGeom>
            <a:blipFill>
              <a:blip r:embed="rId7">
                <a:extLst>
                  <a:ext uri="{96DAC541-7B7A-43D3-8B79-37D633B846F1}">
                    <asvg:svgBlip xmlns:asvg="http://schemas.microsoft.com/office/drawing/2016/SVG/main" r:embed="rId8"/>
                  </a:ext>
                </a:extLst>
              </a:blip>
              <a:stretch>
                <a:fillRect l="0" t="0" r="-229938" b="0"/>
              </a:stretch>
            </a:blipFill>
          </p:spPr>
        </p:sp>
        <p:sp>
          <p:nvSpPr>
            <p:cNvPr name="Freeform 42" id="42"/>
            <p:cNvSpPr/>
            <p:nvPr/>
          </p:nvSpPr>
          <p:spPr>
            <a:xfrm flipH="false" flipV="false" rot="0">
              <a:off x="4933948" y="277651"/>
              <a:ext cx="374123" cy="918250"/>
            </a:xfrm>
            <a:custGeom>
              <a:avLst/>
              <a:gdLst/>
              <a:ahLst/>
              <a:cxnLst/>
              <a:rect r="r" b="b" t="t" l="l"/>
              <a:pathLst>
                <a:path h="918250" w="374123">
                  <a:moveTo>
                    <a:pt x="0" y="0"/>
                  </a:moveTo>
                  <a:lnTo>
                    <a:pt x="374123" y="0"/>
                  </a:lnTo>
                  <a:lnTo>
                    <a:pt x="374123" y="918250"/>
                  </a:lnTo>
                  <a:lnTo>
                    <a:pt x="0" y="918250"/>
                  </a:lnTo>
                  <a:lnTo>
                    <a:pt x="0" y="0"/>
                  </a:lnTo>
                  <a:close/>
                </a:path>
              </a:pathLst>
            </a:custGeom>
            <a:blipFill>
              <a:blip r:embed="rId7">
                <a:extLst>
                  <a:ext uri="{96DAC541-7B7A-43D3-8B79-37D633B846F1}">
                    <asvg:svgBlip xmlns:asvg="http://schemas.microsoft.com/office/drawing/2016/SVG/main" r:embed="rId8"/>
                  </a:ext>
                </a:extLst>
              </a:blip>
              <a:stretch>
                <a:fillRect l="-238326" t="0" r="0" b="0"/>
              </a:stretch>
            </a:blipFill>
          </p:spPr>
        </p:sp>
        <p:sp>
          <p:nvSpPr>
            <p:cNvPr name="Freeform 43" id="43"/>
            <p:cNvSpPr/>
            <p:nvPr/>
          </p:nvSpPr>
          <p:spPr>
            <a:xfrm flipH="false" flipV="false" rot="0">
              <a:off x="3698030" y="477549"/>
              <a:ext cx="777372" cy="819070"/>
            </a:xfrm>
            <a:custGeom>
              <a:avLst/>
              <a:gdLst/>
              <a:ahLst/>
              <a:cxnLst/>
              <a:rect r="r" b="b" t="t" l="l"/>
              <a:pathLst>
                <a:path h="819070" w="777372">
                  <a:moveTo>
                    <a:pt x="0" y="0"/>
                  </a:moveTo>
                  <a:lnTo>
                    <a:pt x="777373" y="0"/>
                  </a:lnTo>
                  <a:lnTo>
                    <a:pt x="777373" y="819070"/>
                  </a:lnTo>
                  <a:lnTo>
                    <a:pt x="0" y="8190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4" id="44"/>
            <p:cNvSpPr/>
            <p:nvPr/>
          </p:nvSpPr>
          <p:spPr>
            <a:xfrm flipH="false" flipV="false" rot="0">
              <a:off x="4488103" y="587210"/>
              <a:ext cx="426720" cy="918250"/>
            </a:xfrm>
            <a:custGeom>
              <a:avLst/>
              <a:gdLst/>
              <a:ahLst/>
              <a:cxnLst/>
              <a:rect r="r" b="b" t="t" l="l"/>
              <a:pathLst>
                <a:path h="918250" w="426720">
                  <a:moveTo>
                    <a:pt x="0" y="0"/>
                  </a:moveTo>
                  <a:lnTo>
                    <a:pt x="426720" y="0"/>
                  </a:lnTo>
                  <a:lnTo>
                    <a:pt x="426720" y="918250"/>
                  </a:lnTo>
                  <a:lnTo>
                    <a:pt x="0" y="918250"/>
                  </a:lnTo>
                  <a:lnTo>
                    <a:pt x="0" y="0"/>
                  </a:lnTo>
                  <a:close/>
                </a:path>
              </a:pathLst>
            </a:custGeom>
            <a:blipFill>
              <a:blip r:embed="rId7">
                <a:extLst>
                  <a:ext uri="{96DAC541-7B7A-43D3-8B79-37D633B846F1}">
                    <asvg:svgBlip xmlns:asvg="http://schemas.microsoft.com/office/drawing/2016/SVG/main" r:embed="rId8"/>
                  </a:ext>
                </a:extLst>
              </a:blip>
              <a:stretch>
                <a:fillRect l="-98236" t="0" r="-98388"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DAHBJvKaVzA</dc:identifier>
  <dcterms:modified xsi:type="dcterms:W3CDTF">2011-08-01T06:04:30Z</dcterms:modified>
  <cp:revision>1</cp:revision>
  <dc:title>SubterraView</dc:title>
</cp:coreProperties>
</file>