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Ablation"/>
      <p:regular r:id="rId21"/>
    </p:embeddedFont>
    <p:embeddedFont>
      <p:font typeface="Glacial Indifference" pitchFamily="2" charset="0"/>
      <p:regular r:id="rId22"/>
    </p:embeddedFont>
    <p:embeddedFont>
      <p:font typeface="Open Sauce"/>
      <p:regular r:id="rId23"/>
    </p:embeddedFont>
    <p:embeddedFont>
      <p:font typeface="Open Sauce Bold"/>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autoAdjust="0"/>
    <p:restoredTop sz="94576" autoAdjust="0"/>
  </p:normalViewPr>
  <p:slideViewPr>
    <p:cSldViewPr>
      <p:cViewPr>
        <p:scale>
          <a:sx n="59" d="100"/>
          <a:sy n="59" d="100"/>
        </p:scale>
        <p:origin x="464" y="8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SubterraView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Alright, we will start off the presentation with a refresher on what SubterraView 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SubterraView is an AR and AI powered smartphone app that gives construction workers, utility crews, and emergency responders a real time view of what's underground. Instead of waiting days for 811 markings that may not even be accurate, workers can point their phone at the ground and instantly see verified utility lines and infrastructure. We're not replacing 811, we're the tool that keeps workers informed and safe between those steps.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SubterraView has functional and non-functional requirements. </a:t>
            </a:r>
          </a:p>
          <a:p>
            <a:endParaRPr lang="en-US"/>
          </a:p>
          <a:p>
            <a:r>
              <a:rPr lang="en-US"/>
              <a:t>On the functional side, two that stand out are AR Display and Hazard Detection — the AR display is literally what the user is looking at on their screen, and hazard detection makes sure they're notified the moment something dangerous is nearby.</a:t>
            </a:r>
          </a:p>
          <a:p>
            <a:endParaRPr lang="en-US"/>
          </a:p>
          <a:p>
            <a:r>
              <a:rPr lang="en-US"/>
              <a:t>On the non-functional side, the two big ones are performance and reliability. Performance matters because the AR overlay needs to render in real time as the worker moves — we want everything to be in-sync. And reliability is critical because if the AI engine goes down or returns bad data, the worker has no idea what they're actually looking at. So we need to meet these requirements.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let's move on to the overall structure of subterraview.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SubterraView uses MVC to keep the data, logic, and interface separated.</a:t>
            </a:r>
          </a:p>
          <a:p>
            <a:endParaRPr lang="en-US"/>
          </a:p>
          <a:p>
            <a:r>
              <a:rPr lang="en-US"/>
              <a:t>The Model consists of Alerts, Records, and Reports, which are data objects that represent the state of the system at any given time. </a:t>
            </a:r>
          </a:p>
          <a:p>
            <a:endParaRPr lang="en-US"/>
          </a:p>
          <a:p>
            <a:r>
              <a:rPr lang="en-US"/>
              <a:t>Using a database system, the model reads from the InfrastructureDatabase, which is a persisitent storage layer.</a:t>
            </a:r>
          </a:p>
          <a:p>
            <a:endParaRPr lang="en-US"/>
          </a:p>
          <a:p>
            <a:r>
              <a:rPr lang="en-US"/>
              <a:t>The View is the app and AR visualization component. </a:t>
            </a:r>
          </a:p>
          <a:p>
            <a:endParaRPr lang="en-US"/>
          </a:p>
          <a:p>
            <a:r>
              <a:rPr lang="en-US"/>
              <a:t>The Controller consists of the ValidationEngine and HazardMonitoringSystem. </a:t>
            </a:r>
          </a:p>
          <a:p>
            <a:endParaRPr lang="en-US"/>
          </a:p>
          <a:p>
            <a:r>
              <a:rPr lang="en-US"/>
              <a:t>The ValidationEngine cross-references infrastructure records, assigns confidence ratings, and flags anything below the quality threshold for administrator review.</a:t>
            </a:r>
          </a:p>
          <a:p>
            <a:endParaRPr lang="en-US"/>
          </a:p>
          <a:p>
            <a:r>
              <a:rPr lang="en-US"/>
              <a:t>The HazardMonitoringSystem  processes real time sensor readings and generates alerts when dangerous conditions are detected.</a:t>
            </a:r>
          </a:p>
          <a:p>
            <a:endParaRPr lang="en-US"/>
          </a:p>
          <a:p>
            <a:r>
              <a:rPr lang="en-US"/>
              <a:t>We chose MVC because SubterraView has many parts that need to evolve independently, so MVC ensures future developers can update any one of them without affecting the others.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SubterraView also follows a Client-Server architecture across four physical devices. The User Smartphone is the primary client, communicating with the Cloud Server over HTTPS where all the validation and hazard monitoring logic runs. The Sensor Unit acts as a second client, sending readings to the smartphone which forwards them up to the cloud for processing. The Cloud Server then connects to the Database Server over JDBC where all persistent data is stored. We chose Client-Server because the system depends on multiple physical devices staying in sync.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SubterraView is organized into seven subsystems. For example, when a construction worker opens the app, their request moves through the User and Security subsystems, gets validated by Data Processing, and the result is rendered back through the Application Subsystem in real time. The Field, Data Storage, and Communication subsystems work behind the scenes to collect, store, and transfer the data that makes all of this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Alright, so this is our class diagram. </a:t>
            </a:r>
          </a:p>
          <a:p>
            <a:r>
              <a:rPr lang="en-US"/>
              <a:t>… jargon … </a:t>
            </a:r>
          </a:p>
          <a:p>
            <a:endParaRPr lang="en-US"/>
          </a:p>
          <a:p>
            <a:r>
              <a:rPr lang="en-US"/>
              <a:t>On a high level, the system is organized into few key groups, users, the main application, data handling pipeline and a hazard monitoring system.</a:t>
            </a:r>
          </a:p>
          <a:p>
            <a:endParaRPr lang="en-US"/>
          </a:p>
          <a:p>
            <a:r>
              <a:rPr lang="en-US"/>
              <a:t>Starting with the users, there’s one user main class that contains information like name, email, and password. Then there’s other subclasses like construction workers, emergency responders, and administrators that inherit the main user class. </a:t>
            </a:r>
          </a:p>
          <a:p>
            <a:endParaRPr lang="en-US"/>
          </a:p>
          <a:p>
            <a:r>
              <a:rPr lang="en-US"/>
              <a:t>Then we have the main subterraview app, that handles things like the session, startup behavior, and AR overlay.</a:t>
            </a:r>
          </a:p>
          <a:p>
            <a:endParaRPr lang="en-US"/>
          </a:p>
          <a:p>
            <a:r>
              <a:rPr lang="en-US"/>
              <a:t>As I mentioned above, there’s also a data handling pipeline that not only stores data but also validates data like user submitted reports. This is also connected to the hazard monitoring system that analyzes incoming data for potential hazards.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that I explained the classes, let’s take a closer look at one of our use cases that involves some of these classes. So this sequence diagram shows how the system handles hazard alerts in real time.</a:t>
            </a:r>
          </a:p>
          <a:p>
            <a:endParaRPr lang="en-US"/>
          </a:p>
          <a:p>
            <a:r>
              <a:rPr lang="en-US"/>
              <a:t>Unlike most use cases, this one is not initiated by a user. So imagine you’re just a construction worker on site doing your normal work.</a:t>
            </a:r>
          </a:p>
          <a:p>
            <a:endParaRPr lang="en-US"/>
          </a:p>
          <a:p>
            <a:r>
              <a:rPr lang="en-US"/>
              <a:t> In the background, sensor units are constantly running, monitoring conditions like gas levels. Now say one of the sensors picks up abnormal readings, those readings are then automatically sent to the hazard monitoring system which analyzes the information and determines if it really is a hazard.</a:t>
            </a:r>
          </a:p>
          <a:p>
            <a:endParaRPr lang="en-US"/>
          </a:p>
          <a:p>
            <a:r>
              <a:rPr lang="en-US"/>
              <a:t>If it is, then it’ll send a message to the main application and the main application will inform the workers via alerts on the ui with vibrations to really get their attention. On top of that, the application will inform the emergency responders who can act on the situation in a timely manner. </a:t>
            </a:r>
          </a:p>
          <a:p>
            <a:endParaRPr lang="en-US"/>
          </a:p>
          <a:p>
            <a:r>
              <a:rPr lang="en-US"/>
              <a:t>So this whole autonomous hazard detection system can be the difference between early intervention and serious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Still on Use Case 4 — this is the object design behind it.</a:t>
            </a:r>
          </a:p>
          <a:p>
            <a:r>
              <a:rPr lang="en-US"/>
              <a:t>So the Observer pattern has two key roles — a subject and its observers. In our case, HazardMonitoringSystem is the subject. It's the one with the information — it knows when a hazard is detected. The observers are the components that need to react to that — the construction worker, the emergency responder.</a:t>
            </a:r>
          </a:p>
          <a:p>
            <a:endParaRPr lang="en-US"/>
          </a:p>
          <a:p>
            <a:r>
              <a:rPr lang="en-US"/>
              <a:t>The reason we chose Observer here is because hazard detection is a one-to-many problem. One system detects, but multiple parties need to react. Without Observer, we'd have to modify the class every time for a new person.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an example of what the HazardMonitoringSystem class actually looks like in code. This is a working implementation — the attributes, the methods, all of it should be compatible with the rest of the system.</a:t>
            </a:r>
          </a:p>
          <a:p>
            <a:r>
              <a:rPr lang="en-US"/>
              <a:t>The three underlined methods at the bottom is our Observer pattern. Any component that needs to be notified of a hazard gets registered, and when one hazard is detected notifyObservers send alters to everyone. Everything else in the class is supporting that core responsibility.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Lena:</a:t>
            </a:r>
          </a:p>
          <a:p>
            <a:r>
              <a:rPr lang="en-US"/>
              <a:t>To begin, we are going to explore what SubterraView actually 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Access to accurate utility data is our most pressing open issue — it's currently unknown whether all utility companies and municipal agencies will provide consistent, real-time access to underground utility data, with privacy restrictions and outdated records being the primary barriers</a:t>
            </a:r>
          </a:p>
          <a:p>
            <a:r>
              <a:rPr lang="en-US"/>
              <a:t>Data standardization remains unfinalized — every agency stores infrastructure data in different formats, meaning a custom integration would be needed for each unique source, adding significant complexity to our AI validation pipeline</a:t>
            </a:r>
          </a:p>
          <a:p>
            <a:r>
              <a:rPr lang="en-US"/>
              <a:t>AR inaccuracies are still an unknown — the effectiveness of our overlay hasn't been fully tested across real field conditions like harsh lighting, bad weather, or physical obstructions, and structured field trials will be needed to quantify performance</a:t>
            </a:r>
          </a:p>
          <a:p>
            <a:r>
              <a:rPr lang="en-US"/>
              <a:t>Legal liability around underground data sharing remains fluid — potential regulatory changes could shift how data is accessed and who bears responsibility</a:t>
            </a:r>
          </a:p>
          <a:p>
            <a:r>
              <a:rPr lang="en-US"/>
              <a:t>Crowdsourcing validation carries similar legal unknowns — questions around data ownership and liability in a crowdsourced model have not yet been resolved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Inaccurate or incomplete infrastructure data is rated High Probability, High Impact — this is our most critical risk and directly ties back to the data access issues just discussed</a:t>
            </a:r>
          </a:p>
          <a:p>
            <a:r>
              <a:rPr lang="en-US"/>
              <a:t>Integration failures with external systems are rated Medium Probability, High Impact — dependencies on third-party systems introduce points of failure that need redundancy planning</a:t>
            </a:r>
          </a:p>
          <a:p>
            <a:r>
              <a:rPr lang="en-US"/>
              <a:t>Sensor hardware malfunction is rated Medium Probability, High Impact — calibration protocols and hardware redundancy will be essential to keeping data reliable in the field</a:t>
            </a:r>
          </a:p>
          <a:p>
            <a:r>
              <a:rPr lang="en-US"/>
              <a:t>Legal and regulatory challenges are rated Low Probability but High Impact — while unlikely in the near term, a significant regulatory shift could meaningfully affect our data sharing model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grpSp>
        <p:nvGrpSpPr>
          <p:cNvPr id="2" name="Group 2"/>
          <p:cNvGrpSpPr/>
          <p:nvPr/>
        </p:nvGrpSpPr>
        <p:grpSpPr>
          <a:xfrm>
            <a:off x="6477777" y="5489304"/>
            <a:ext cx="5202552" cy="2347518"/>
            <a:chOff x="0" y="0"/>
            <a:chExt cx="6936736" cy="3130023"/>
          </a:xfrm>
        </p:grpSpPr>
        <p:sp>
          <p:nvSpPr>
            <p:cNvPr id="3" name="Freeform 3"/>
            <p:cNvSpPr/>
            <p:nvPr/>
          </p:nvSpPr>
          <p:spPr>
            <a:xfrm>
              <a:off x="39236" y="837537"/>
              <a:ext cx="6897500" cy="1261668"/>
            </a:xfrm>
            <a:custGeom>
              <a:avLst/>
              <a:gdLst/>
              <a:ahLst/>
              <a:cxnLst/>
              <a:rect l="l" t="t" r="r" b="b"/>
              <a:pathLst>
                <a:path w="6897500" h="1261668">
                  <a:moveTo>
                    <a:pt x="0" y="0"/>
                  </a:moveTo>
                  <a:lnTo>
                    <a:pt x="6897500" y="0"/>
                  </a:lnTo>
                  <a:lnTo>
                    <a:pt x="6897500" y="1261668"/>
                  </a:lnTo>
                  <a:lnTo>
                    <a:pt x="0" y="12616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AutoShape 4"/>
            <p:cNvSpPr/>
            <p:nvPr/>
          </p:nvSpPr>
          <p:spPr>
            <a:xfrm>
              <a:off x="445427" y="2575659"/>
              <a:ext cx="2613892" cy="564"/>
            </a:xfrm>
            <a:prstGeom prst="line">
              <a:avLst/>
            </a:prstGeom>
            <a:ln w="50800" cap="flat">
              <a:solidFill>
                <a:srgbClr val="000000"/>
              </a:solidFill>
              <a:prstDash val="solid"/>
              <a:headEnd type="none" w="sm" len="sm"/>
              <a:tailEnd type="none" w="sm" len="sm"/>
            </a:ln>
          </p:spPr>
          <p:txBody>
            <a:bodyPr/>
            <a:lstStyle/>
            <a:p>
              <a:endParaRPr lang="en-US"/>
            </a:p>
          </p:txBody>
        </p:sp>
        <p:sp>
          <p:nvSpPr>
            <p:cNvPr id="5" name="AutoShape 5"/>
            <p:cNvSpPr/>
            <p:nvPr/>
          </p:nvSpPr>
          <p:spPr>
            <a:xfrm>
              <a:off x="2742005" y="2576224"/>
              <a:ext cx="634628" cy="0"/>
            </a:xfrm>
            <a:prstGeom prst="line">
              <a:avLst/>
            </a:prstGeom>
            <a:ln w="50800" cap="flat">
              <a:solidFill>
                <a:srgbClr val="000000"/>
              </a:solidFill>
              <a:prstDash val="solid"/>
              <a:headEnd type="none" w="sm" len="sm"/>
              <a:tailEnd type="none" w="sm" len="sm"/>
            </a:ln>
          </p:spPr>
          <p:txBody>
            <a:bodyPr/>
            <a:lstStyle/>
            <a:p>
              <a:endParaRPr lang="en-US"/>
            </a:p>
          </p:txBody>
        </p:sp>
        <p:sp>
          <p:nvSpPr>
            <p:cNvPr id="6" name="AutoShape 6"/>
            <p:cNvSpPr/>
            <p:nvPr/>
          </p:nvSpPr>
          <p:spPr>
            <a:xfrm flipH="1">
              <a:off x="3462586" y="2355745"/>
              <a:ext cx="0" cy="384430"/>
            </a:xfrm>
            <a:prstGeom prst="line">
              <a:avLst/>
            </a:prstGeom>
            <a:ln w="50800" cap="flat">
              <a:solidFill>
                <a:srgbClr val="000000"/>
              </a:solidFill>
              <a:prstDash val="solid"/>
              <a:headEnd type="none" w="sm" len="sm"/>
              <a:tailEnd type="none" w="sm" len="sm"/>
            </a:ln>
          </p:spPr>
          <p:txBody>
            <a:bodyPr/>
            <a:lstStyle/>
            <a:p>
              <a:endParaRPr lang="en-US"/>
            </a:p>
          </p:txBody>
        </p:sp>
        <p:sp>
          <p:nvSpPr>
            <p:cNvPr id="7" name="AutoShape 7"/>
            <p:cNvSpPr/>
            <p:nvPr/>
          </p:nvSpPr>
          <p:spPr>
            <a:xfrm>
              <a:off x="3564186" y="2576224"/>
              <a:ext cx="1649393" cy="0"/>
            </a:xfrm>
            <a:prstGeom prst="line">
              <a:avLst/>
            </a:prstGeom>
            <a:ln w="50800" cap="flat">
              <a:solidFill>
                <a:srgbClr val="000000"/>
              </a:solidFill>
              <a:prstDash val="solid"/>
              <a:headEnd type="none" w="sm" len="sm"/>
              <a:tailEnd type="none" w="sm" len="sm"/>
            </a:ln>
          </p:spPr>
          <p:txBody>
            <a:bodyPr/>
            <a:lstStyle/>
            <a:p>
              <a:endParaRPr lang="en-US"/>
            </a:p>
          </p:txBody>
        </p:sp>
        <p:sp>
          <p:nvSpPr>
            <p:cNvPr id="8" name="AutoShape 8"/>
            <p:cNvSpPr/>
            <p:nvPr/>
          </p:nvSpPr>
          <p:spPr>
            <a:xfrm>
              <a:off x="5315179" y="2135475"/>
              <a:ext cx="0" cy="604700"/>
            </a:xfrm>
            <a:prstGeom prst="line">
              <a:avLst/>
            </a:prstGeom>
            <a:ln w="50800" cap="flat">
              <a:solidFill>
                <a:srgbClr val="000000"/>
              </a:solidFill>
              <a:prstDash val="solid"/>
              <a:headEnd type="none" w="sm" len="sm"/>
              <a:tailEnd type="none" w="sm" len="sm"/>
            </a:ln>
          </p:spPr>
          <p:txBody>
            <a:bodyPr/>
            <a:lstStyle/>
            <a:p>
              <a:endParaRPr lang="en-US"/>
            </a:p>
          </p:txBody>
        </p:sp>
        <p:sp>
          <p:nvSpPr>
            <p:cNvPr id="9" name="AutoShape 9"/>
            <p:cNvSpPr/>
            <p:nvPr/>
          </p:nvSpPr>
          <p:spPr>
            <a:xfrm flipV="1">
              <a:off x="5416779" y="2576224"/>
              <a:ext cx="1519957" cy="0"/>
            </a:xfrm>
            <a:prstGeom prst="line">
              <a:avLst/>
            </a:prstGeom>
            <a:ln w="50800" cap="flat">
              <a:solidFill>
                <a:srgbClr val="000000"/>
              </a:solidFill>
              <a:prstDash val="solid"/>
              <a:headEnd type="none" w="sm" len="sm"/>
              <a:tailEnd type="none" w="sm" len="sm"/>
            </a:ln>
          </p:spPr>
          <p:txBody>
            <a:bodyPr/>
            <a:lstStyle/>
            <a:p>
              <a:endParaRPr lang="en-US"/>
            </a:p>
          </p:txBody>
        </p:sp>
        <p:sp>
          <p:nvSpPr>
            <p:cNvPr id="10" name="AutoShape 10"/>
            <p:cNvSpPr/>
            <p:nvPr/>
          </p:nvSpPr>
          <p:spPr>
            <a:xfrm flipH="1">
              <a:off x="1814905" y="2355745"/>
              <a:ext cx="0" cy="117374"/>
            </a:xfrm>
            <a:prstGeom prst="line">
              <a:avLst/>
            </a:prstGeom>
            <a:ln w="50800" cap="flat">
              <a:solidFill>
                <a:srgbClr val="000000"/>
              </a:solidFill>
              <a:prstDash val="solid"/>
              <a:headEnd type="none" w="sm" len="sm"/>
              <a:tailEnd type="none" w="sm" len="sm"/>
            </a:ln>
          </p:spPr>
          <p:txBody>
            <a:bodyPr/>
            <a:lstStyle/>
            <a:p>
              <a:endParaRPr lang="en-US"/>
            </a:p>
          </p:txBody>
        </p:sp>
        <p:sp>
          <p:nvSpPr>
            <p:cNvPr id="11" name="AutoShape 11"/>
            <p:cNvSpPr/>
            <p:nvPr/>
          </p:nvSpPr>
          <p:spPr>
            <a:xfrm flipH="1">
              <a:off x="1814905" y="2677824"/>
              <a:ext cx="0" cy="452200"/>
            </a:xfrm>
            <a:prstGeom prst="line">
              <a:avLst/>
            </a:prstGeom>
            <a:ln w="50800" cap="flat">
              <a:solidFill>
                <a:srgbClr val="000000"/>
              </a:solidFill>
              <a:prstDash val="solid"/>
              <a:headEnd type="none" w="sm" len="sm"/>
              <a:tailEnd type="none" w="sm" len="sm"/>
            </a:ln>
          </p:spPr>
          <p:txBody>
            <a:bodyPr/>
            <a:lstStyle/>
            <a:p>
              <a:endParaRPr lang="en-US"/>
            </a:p>
          </p:txBody>
        </p:sp>
        <p:sp>
          <p:nvSpPr>
            <p:cNvPr id="12" name="AutoShape 12"/>
            <p:cNvSpPr/>
            <p:nvPr/>
          </p:nvSpPr>
          <p:spPr>
            <a:xfrm>
              <a:off x="348523" y="2355745"/>
              <a:ext cx="0" cy="384430"/>
            </a:xfrm>
            <a:prstGeom prst="line">
              <a:avLst/>
            </a:prstGeom>
            <a:ln w="50800" cap="flat">
              <a:solidFill>
                <a:srgbClr val="000000"/>
              </a:solidFill>
              <a:prstDash val="solid"/>
              <a:headEnd type="none" w="sm" len="sm"/>
              <a:tailEnd type="none" w="sm" len="sm"/>
            </a:ln>
          </p:spPr>
          <p:txBody>
            <a:bodyPr/>
            <a:lstStyle/>
            <a:p>
              <a:endParaRPr lang="en-US"/>
            </a:p>
          </p:txBody>
        </p:sp>
        <p:sp>
          <p:nvSpPr>
            <p:cNvPr id="13" name="AutoShape 13"/>
            <p:cNvSpPr/>
            <p:nvPr/>
          </p:nvSpPr>
          <p:spPr>
            <a:xfrm>
              <a:off x="0" y="2576224"/>
              <a:ext cx="255424" cy="0"/>
            </a:xfrm>
            <a:prstGeom prst="line">
              <a:avLst/>
            </a:prstGeom>
            <a:ln w="50800" cap="flat">
              <a:solidFill>
                <a:srgbClr val="000000"/>
              </a:solidFill>
              <a:prstDash val="solid"/>
              <a:headEnd type="none" w="sm" len="sm"/>
              <a:tailEnd type="none" w="sm" len="sm"/>
            </a:ln>
          </p:spPr>
          <p:txBody>
            <a:bodyPr/>
            <a:lstStyle/>
            <a:p>
              <a:endParaRPr lang="en-US"/>
            </a:p>
          </p:txBody>
        </p:sp>
        <p:sp>
          <p:nvSpPr>
            <p:cNvPr id="14" name="AutoShape 14"/>
            <p:cNvSpPr/>
            <p:nvPr/>
          </p:nvSpPr>
          <p:spPr>
            <a:xfrm flipH="1">
              <a:off x="1374319" y="2135475"/>
              <a:ext cx="0" cy="337643"/>
            </a:xfrm>
            <a:prstGeom prst="line">
              <a:avLst/>
            </a:prstGeom>
            <a:ln w="50800" cap="flat">
              <a:solidFill>
                <a:srgbClr val="000000"/>
              </a:solidFill>
              <a:prstDash val="solid"/>
              <a:headEnd type="none" w="sm" len="sm"/>
              <a:tailEnd type="none" w="sm" len="sm"/>
            </a:ln>
          </p:spPr>
          <p:txBody>
            <a:bodyPr/>
            <a:lstStyle/>
            <a:p>
              <a:endParaRPr lang="en-US"/>
            </a:p>
          </p:txBody>
        </p:sp>
        <p:sp>
          <p:nvSpPr>
            <p:cNvPr id="15" name="AutoShape 15"/>
            <p:cNvSpPr/>
            <p:nvPr/>
          </p:nvSpPr>
          <p:spPr>
            <a:xfrm flipH="1">
              <a:off x="1374319" y="2677824"/>
              <a:ext cx="0" cy="452200"/>
            </a:xfrm>
            <a:prstGeom prst="line">
              <a:avLst/>
            </a:prstGeom>
            <a:ln w="50800" cap="flat">
              <a:solidFill>
                <a:srgbClr val="000000"/>
              </a:solidFill>
              <a:prstDash val="solid"/>
              <a:headEnd type="none" w="sm" len="sm"/>
              <a:tailEnd type="none" w="sm" len="sm"/>
            </a:ln>
          </p:spPr>
          <p:txBody>
            <a:bodyPr/>
            <a:lstStyle/>
            <a:p>
              <a:endParaRPr lang="en-US"/>
            </a:p>
          </p:txBody>
        </p:sp>
        <p:sp>
          <p:nvSpPr>
            <p:cNvPr id="16" name="AutoShape 16"/>
            <p:cNvSpPr/>
            <p:nvPr/>
          </p:nvSpPr>
          <p:spPr>
            <a:xfrm>
              <a:off x="4229151" y="2135475"/>
              <a:ext cx="0" cy="47024"/>
            </a:xfrm>
            <a:prstGeom prst="line">
              <a:avLst/>
            </a:prstGeom>
            <a:ln w="50800" cap="flat">
              <a:solidFill>
                <a:srgbClr val="000000"/>
              </a:solidFill>
              <a:prstDash val="solid"/>
              <a:headEnd type="none" w="sm" len="sm"/>
              <a:tailEnd type="none" w="sm" len="sm"/>
            </a:ln>
          </p:spPr>
          <p:txBody>
            <a:bodyPr/>
            <a:lstStyle/>
            <a:p>
              <a:endParaRPr lang="en-US"/>
            </a:p>
          </p:txBody>
        </p:sp>
        <p:sp>
          <p:nvSpPr>
            <p:cNvPr id="17" name="AutoShape 17"/>
            <p:cNvSpPr/>
            <p:nvPr/>
          </p:nvSpPr>
          <p:spPr>
            <a:xfrm>
              <a:off x="4229151" y="2646648"/>
              <a:ext cx="0" cy="483376"/>
            </a:xfrm>
            <a:prstGeom prst="line">
              <a:avLst/>
            </a:prstGeom>
            <a:ln w="50800" cap="flat">
              <a:solidFill>
                <a:srgbClr val="000000"/>
              </a:solidFill>
              <a:prstDash val="solid"/>
              <a:headEnd type="none" w="sm" len="sm"/>
              <a:tailEnd type="none" w="sm" len="sm"/>
            </a:ln>
          </p:spPr>
          <p:txBody>
            <a:bodyPr/>
            <a:lstStyle/>
            <a:p>
              <a:endParaRPr lang="en-US"/>
            </a:p>
          </p:txBody>
        </p:sp>
        <p:sp>
          <p:nvSpPr>
            <p:cNvPr id="18" name="AutoShape 18"/>
            <p:cNvSpPr/>
            <p:nvPr/>
          </p:nvSpPr>
          <p:spPr>
            <a:xfrm>
              <a:off x="5" y="2839282"/>
              <a:ext cx="1268067" cy="0"/>
            </a:xfrm>
            <a:prstGeom prst="line">
              <a:avLst/>
            </a:prstGeom>
            <a:ln w="50800" cap="flat">
              <a:solidFill>
                <a:srgbClr val="000000"/>
              </a:solidFill>
              <a:prstDash val="solid"/>
              <a:headEnd type="none" w="sm" len="sm"/>
              <a:tailEnd type="none" w="sm" len="sm"/>
            </a:ln>
          </p:spPr>
          <p:txBody>
            <a:bodyPr/>
            <a:lstStyle/>
            <a:p>
              <a:endParaRPr lang="en-US"/>
            </a:p>
          </p:txBody>
        </p:sp>
        <p:sp>
          <p:nvSpPr>
            <p:cNvPr id="19" name="AutoShape 19"/>
            <p:cNvSpPr/>
            <p:nvPr/>
          </p:nvSpPr>
          <p:spPr>
            <a:xfrm>
              <a:off x="348523" y="2941447"/>
              <a:ext cx="0" cy="188577"/>
            </a:xfrm>
            <a:prstGeom prst="line">
              <a:avLst/>
            </a:prstGeom>
            <a:ln w="50800" cap="flat">
              <a:solidFill>
                <a:srgbClr val="000000"/>
              </a:solidFill>
              <a:prstDash val="solid"/>
              <a:headEnd type="none" w="sm" len="sm"/>
              <a:tailEnd type="none" w="sm" len="sm"/>
            </a:ln>
          </p:spPr>
          <p:txBody>
            <a:bodyPr/>
            <a:lstStyle/>
            <a:p>
              <a:endParaRPr lang="en-US"/>
            </a:p>
          </p:txBody>
        </p:sp>
        <p:sp>
          <p:nvSpPr>
            <p:cNvPr id="20" name="AutoShape 20"/>
            <p:cNvSpPr/>
            <p:nvPr/>
          </p:nvSpPr>
          <p:spPr>
            <a:xfrm>
              <a:off x="1475919" y="2839282"/>
              <a:ext cx="232322" cy="0"/>
            </a:xfrm>
            <a:prstGeom prst="line">
              <a:avLst/>
            </a:prstGeom>
            <a:ln w="50800" cap="flat">
              <a:solidFill>
                <a:srgbClr val="000000"/>
              </a:solidFill>
              <a:prstDash val="solid"/>
              <a:headEnd type="none" w="sm" len="sm"/>
              <a:tailEnd type="none" w="sm" len="sm"/>
            </a:ln>
          </p:spPr>
          <p:txBody>
            <a:bodyPr/>
            <a:lstStyle/>
            <a:p>
              <a:endParaRPr lang="en-US"/>
            </a:p>
          </p:txBody>
        </p:sp>
        <p:sp>
          <p:nvSpPr>
            <p:cNvPr id="21" name="AutoShape 21"/>
            <p:cNvSpPr/>
            <p:nvPr/>
          </p:nvSpPr>
          <p:spPr>
            <a:xfrm>
              <a:off x="1916505" y="2839282"/>
              <a:ext cx="2207911" cy="0"/>
            </a:xfrm>
            <a:prstGeom prst="line">
              <a:avLst/>
            </a:prstGeom>
            <a:ln w="50800" cap="flat">
              <a:solidFill>
                <a:srgbClr val="000000"/>
              </a:solidFill>
              <a:prstDash val="solid"/>
              <a:headEnd type="none" w="sm" len="sm"/>
              <a:tailEnd type="none" w="sm" len="sm"/>
            </a:ln>
          </p:spPr>
          <p:txBody>
            <a:bodyPr/>
            <a:lstStyle/>
            <a:p>
              <a:endParaRPr lang="en-US"/>
            </a:p>
          </p:txBody>
        </p:sp>
        <p:sp>
          <p:nvSpPr>
            <p:cNvPr id="22" name="AutoShape 22"/>
            <p:cNvSpPr/>
            <p:nvPr/>
          </p:nvSpPr>
          <p:spPr>
            <a:xfrm>
              <a:off x="3462586" y="2940882"/>
              <a:ext cx="0" cy="189141"/>
            </a:xfrm>
            <a:prstGeom prst="line">
              <a:avLst/>
            </a:prstGeom>
            <a:ln w="50800" cap="flat">
              <a:solidFill>
                <a:srgbClr val="000000"/>
              </a:solidFill>
              <a:prstDash val="solid"/>
              <a:headEnd type="none" w="sm" len="sm"/>
              <a:tailEnd type="none" w="sm" len="sm"/>
            </a:ln>
          </p:spPr>
          <p:txBody>
            <a:bodyPr/>
            <a:lstStyle/>
            <a:p>
              <a:endParaRPr lang="en-US"/>
            </a:p>
          </p:txBody>
        </p:sp>
        <p:sp>
          <p:nvSpPr>
            <p:cNvPr id="23" name="AutoShape 23"/>
            <p:cNvSpPr/>
            <p:nvPr/>
          </p:nvSpPr>
          <p:spPr>
            <a:xfrm>
              <a:off x="4330751" y="2839282"/>
              <a:ext cx="2605985" cy="0"/>
            </a:xfrm>
            <a:prstGeom prst="line">
              <a:avLst/>
            </a:prstGeom>
            <a:ln w="50800" cap="flat">
              <a:solidFill>
                <a:srgbClr val="000000"/>
              </a:solidFill>
              <a:prstDash val="solid"/>
              <a:headEnd type="none" w="sm" len="sm"/>
              <a:tailEnd type="none" w="sm" len="sm"/>
            </a:ln>
          </p:spPr>
          <p:txBody>
            <a:bodyPr/>
            <a:lstStyle/>
            <a:p>
              <a:endParaRPr lang="en-US"/>
            </a:p>
          </p:txBody>
        </p:sp>
        <p:sp>
          <p:nvSpPr>
            <p:cNvPr id="24" name="AutoShape 24"/>
            <p:cNvSpPr/>
            <p:nvPr/>
          </p:nvSpPr>
          <p:spPr>
            <a:xfrm>
              <a:off x="5315179" y="2902782"/>
              <a:ext cx="0" cy="227241"/>
            </a:xfrm>
            <a:prstGeom prst="line">
              <a:avLst/>
            </a:prstGeom>
            <a:ln w="50800" cap="flat">
              <a:solidFill>
                <a:srgbClr val="000000"/>
              </a:solidFill>
              <a:prstDash val="solid"/>
              <a:headEnd type="none" w="sm" len="sm"/>
              <a:tailEnd type="none" w="sm" len="sm"/>
            </a:ln>
          </p:spPr>
          <p:txBody>
            <a:bodyPr/>
            <a:lstStyle/>
            <a:p>
              <a:endParaRPr lang="en-US"/>
            </a:p>
          </p:txBody>
        </p:sp>
        <p:sp>
          <p:nvSpPr>
            <p:cNvPr id="25" name="AutoShape 25"/>
            <p:cNvSpPr/>
            <p:nvPr/>
          </p:nvSpPr>
          <p:spPr>
            <a:xfrm>
              <a:off x="11" y="2271399"/>
              <a:ext cx="1268062" cy="0"/>
            </a:xfrm>
            <a:prstGeom prst="line">
              <a:avLst/>
            </a:prstGeom>
            <a:ln w="50800" cap="flat">
              <a:solidFill>
                <a:srgbClr val="000000"/>
              </a:solidFill>
              <a:prstDash val="solid"/>
              <a:headEnd type="none" w="sm" len="sm"/>
              <a:tailEnd type="none" w="sm" len="sm"/>
            </a:ln>
          </p:spPr>
          <p:txBody>
            <a:bodyPr/>
            <a:lstStyle/>
            <a:p>
              <a:endParaRPr lang="en-US"/>
            </a:p>
          </p:txBody>
        </p:sp>
        <p:sp>
          <p:nvSpPr>
            <p:cNvPr id="26" name="AutoShape 26"/>
            <p:cNvSpPr/>
            <p:nvPr/>
          </p:nvSpPr>
          <p:spPr>
            <a:xfrm>
              <a:off x="348523" y="2135475"/>
              <a:ext cx="0" cy="47024"/>
            </a:xfrm>
            <a:prstGeom prst="line">
              <a:avLst/>
            </a:prstGeom>
            <a:ln w="50800" cap="flat">
              <a:solidFill>
                <a:srgbClr val="000000"/>
              </a:solidFill>
              <a:prstDash val="solid"/>
              <a:headEnd type="none" w="sm" len="sm"/>
              <a:tailEnd type="none" w="sm" len="sm"/>
            </a:ln>
          </p:spPr>
          <p:txBody>
            <a:bodyPr/>
            <a:lstStyle/>
            <a:p>
              <a:endParaRPr lang="en-US"/>
            </a:p>
          </p:txBody>
        </p:sp>
        <p:sp>
          <p:nvSpPr>
            <p:cNvPr id="27" name="AutoShape 27"/>
            <p:cNvSpPr/>
            <p:nvPr/>
          </p:nvSpPr>
          <p:spPr>
            <a:xfrm>
              <a:off x="1478451" y="2271399"/>
              <a:ext cx="3735128" cy="0"/>
            </a:xfrm>
            <a:prstGeom prst="line">
              <a:avLst/>
            </a:prstGeom>
            <a:ln w="50800" cap="flat">
              <a:solidFill>
                <a:srgbClr val="000000"/>
              </a:solidFill>
              <a:prstDash val="solid"/>
              <a:headEnd type="none" w="sm" len="sm"/>
              <a:tailEnd type="none" w="sm" len="sm"/>
            </a:ln>
          </p:spPr>
          <p:txBody>
            <a:bodyPr/>
            <a:lstStyle/>
            <a:p>
              <a:endParaRPr lang="en-US"/>
            </a:p>
          </p:txBody>
        </p:sp>
        <p:sp>
          <p:nvSpPr>
            <p:cNvPr id="28" name="AutoShape 28"/>
            <p:cNvSpPr/>
            <p:nvPr/>
          </p:nvSpPr>
          <p:spPr>
            <a:xfrm>
              <a:off x="1814905" y="2135475"/>
              <a:ext cx="0" cy="47024"/>
            </a:xfrm>
            <a:prstGeom prst="line">
              <a:avLst/>
            </a:prstGeom>
            <a:ln w="50800" cap="flat">
              <a:solidFill>
                <a:srgbClr val="000000"/>
              </a:solidFill>
              <a:prstDash val="solid"/>
              <a:headEnd type="none" w="sm" len="sm"/>
              <a:tailEnd type="none" w="sm" len="sm"/>
            </a:ln>
          </p:spPr>
          <p:txBody>
            <a:bodyPr/>
            <a:lstStyle/>
            <a:p>
              <a:endParaRPr lang="en-US"/>
            </a:p>
          </p:txBody>
        </p:sp>
        <p:sp>
          <p:nvSpPr>
            <p:cNvPr id="29" name="AutoShape 29"/>
            <p:cNvSpPr/>
            <p:nvPr/>
          </p:nvSpPr>
          <p:spPr>
            <a:xfrm>
              <a:off x="4229151" y="2355745"/>
              <a:ext cx="0" cy="117374"/>
            </a:xfrm>
            <a:prstGeom prst="line">
              <a:avLst/>
            </a:prstGeom>
            <a:ln w="50800" cap="flat">
              <a:solidFill>
                <a:srgbClr val="000000"/>
              </a:solidFill>
              <a:prstDash val="solid"/>
              <a:headEnd type="none" w="sm" len="sm"/>
              <a:tailEnd type="none" w="sm" len="sm"/>
            </a:ln>
          </p:spPr>
          <p:txBody>
            <a:bodyPr/>
            <a:lstStyle/>
            <a:p>
              <a:endParaRPr lang="en-US"/>
            </a:p>
          </p:txBody>
        </p:sp>
        <p:sp>
          <p:nvSpPr>
            <p:cNvPr id="30" name="AutoShape 30"/>
            <p:cNvSpPr/>
            <p:nvPr/>
          </p:nvSpPr>
          <p:spPr>
            <a:xfrm>
              <a:off x="5416779" y="2271399"/>
              <a:ext cx="604520" cy="0"/>
            </a:xfrm>
            <a:prstGeom prst="line">
              <a:avLst/>
            </a:prstGeom>
            <a:ln w="50800" cap="flat">
              <a:solidFill>
                <a:srgbClr val="000000"/>
              </a:solidFill>
              <a:prstDash val="solid"/>
              <a:headEnd type="none" w="sm" len="sm"/>
              <a:tailEnd type="none" w="sm" len="sm"/>
            </a:ln>
          </p:spPr>
          <p:txBody>
            <a:bodyPr/>
            <a:lstStyle/>
            <a:p>
              <a:endParaRPr lang="en-US"/>
            </a:p>
          </p:txBody>
        </p:sp>
        <p:sp>
          <p:nvSpPr>
            <p:cNvPr id="31" name="AutoShape 31"/>
            <p:cNvSpPr/>
            <p:nvPr/>
          </p:nvSpPr>
          <p:spPr>
            <a:xfrm>
              <a:off x="3462586" y="2135475"/>
              <a:ext cx="0" cy="47024"/>
            </a:xfrm>
            <a:prstGeom prst="line">
              <a:avLst/>
            </a:prstGeom>
            <a:ln w="50800" cap="flat">
              <a:solidFill>
                <a:srgbClr val="000000"/>
              </a:solidFill>
              <a:prstDash val="solid"/>
              <a:headEnd type="none" w="sm" len="sm"/>
              <a:tailEnd type="none" w="sm" len="sm"/>
            </a:ln>
          </p:spPr>
          <p:txBody>
            <a:bodyPr/>
            <a:lstStyle/>
            <a:p>
              <a:endParaRPr lang="en-US"/>
            </a:p>
          </p:txBody>
        </p:sp>
        <p:sp>
          <p:nvSpPr>
            <p:cNvPr id="32" name="AutoShape 32"/>
            <p:cNvSpPr/>
            <p:nvPr/>
          </p:nvSpPr>
          <p:spPr>
            <a:xfrm flipH="1">
              <a:off x="6122899" y="2646648"/>
              <a:ext cx="0" cy="93528"/>
            </a:xfrm>
            <a:prstGeom prst="line">
              <a:avLst/>
            </a:prstGeom>
            <a:ln w="50800" cap="flat">
              <a:solidFill>
                <a:srgbClr val="000000"/>
              </a:solidFill>
              <a:prstDash val="solid"/>
              <a:headEnd type="none" w="sm" len="sm"/>
              <a:tailEnd type="none" w="sm" len="sm"/>
            </a:ln>
          </p:spPr>
          <p:txBody>
            <a:bodyPr/>
            <a:lstStyle/>
            <a:p>
              <a:endParaRPr lang="en-US"/>
            </a:p>
          </p:txBody>
        </p:sp>
        <p:sp>
          <p:nvSpPr>
            <p:cNvPr id="33" name="AutoShape 33"/>
            <p:cNvSpPr/>
            <p:nvPr/>
          </p:nvSpPr>
          <p:spPr>
            <a:xfrm>
              <a:off x="6122899" y="2135475"/>
              <a:ext cx="0" cy="337643"/>
            </a:xfrm>
            <a:prstGeom prst="line">
              <a:avLst/>
            </a:prstGeom>
            <a:ln w="50800" cap="flat">
              <a:solidFill>
                <a:srgbClr val="000000"/>
              </a:solidFill>
              <a:prstDash val="solid"/>
              <a:headEnd type="none" w="sm" len="sm"/>
              <a:tailEnd type="none" w="sm" len="sm"/>
            </a:ln>
          </p:spPr>
          <p:txBody>
            <a:bodyPr/>
            <a:lstStyle/>
            <a:p>
              <a:endParaRPr lang="en-US"/>
            </a:p>
          </p:txBody>
        </p:sp>
        <p:sp>
          <p:nvSpPr>
            <p:cNvPr id="34" name="AutoShape 34"/>
            <p:cNvSpPr/>
            <p:nvPr/>
          </p:nvSpPr>
          <p:spPr>
            <a:xfrm>
              <a:off x="6224499" y="2271399"/>
              <a:ext cx="712237" cy="0"/>
            </a:xfrm>
            <a:prstGeom prst="line">
              <a:avLst/>
            </a:prstGeom>
            <a:ln w="50800" cap="flat">
              <a:solidFill>
                <a:srgbClr val="000000"/>
              </a:solidFill>
              <a:prstDash val="solid"/>
              <a:headEnd type="none" w="sm" len="sm"/>
              <a:tailEnd type="none" w="sm" len="sm"/>
            </a:ln>
          </p:spPr>
          <p:txBody>
            <a:bodyPr/>
            <a:lstStyle/>
            <a:p>
              <a:endParaRPr lang="en-US"/>
            </a:p>
          </p:txBody>
        </p:sp>
        <p:sp>
          <p:nvSpPr>
            <p:cNvPr id="35" name="AutoShape 35"/>
            <p:cNvSpPr/>
            <p:nvPr/>
          </p:nvSpPr>
          <p:spPr>
            <a:xfrm>
              <a:off x="6122899" y="2902782"/>
              <a:ext cx="0" cy="227241"/>
            </a:xfrm>
            <a:prstGeom prst="line">
              <a:avLst/>
            </a:prstGeom>
            <a:ln w="50800" cap="flat">
              <a:solidFill>
                <a:srgbClr val="000000"/>
              </a:solidFill>
              <a:prstDash val="solid"/>
              <a:headEnd type="none" w="sm" len="sm"/>
              <a:tailEnd type="none" w="sm" len="sm"/>
            </a:ln>
          </p:spPr>
          <p:txBody>
            <a:bodyPr/>
            <a:lstStyle/>
            <a:p>
              <a:endParaRPr lang="en-US"/>
            </a:p>
          </p:txBody>
        </p:sp>
        <p:sp>
          <p:nvSpPr>
            <p:cNvPr id="36" name="Freeform 36"/>
            <p:cNvSpPr/>
            <p:nvPr/>
          </p:nvSpPr>
          <p:spPr>
            <a:xfrm>
              <a:off x="2099108" y="0"/>
              <a:ext cx="426825" cy="1042783"/>
            </a:xfrm>
            <a:custGeom>
              <a:avLst/>
              <a:gdLst/>
              <a:ahLst/>
              <a:cxnLst/>
              <a:rect l="l" t="t" r="r" b="b"/>
              <a:pathLst>
                <a:path w="426825" h="1042783">
                  <a:moveTo>
                    <a:pt x="0" y="0"/>
                  </a:moveTo>
                  <a:lnTo>
                    <a:pt x="426825" y="0"/>
                  </a:lnTo>
                  <a:lnTo>
                    <a:pt x="426825" y="1042783"/>
                  </a:lnTo>
                  <a:lnTo>
                    <a:pt x="0" y="1042783"/>
                  </a:lnTo>
                  <a:lnTo>
                    <a:pt x="0" y="0"/>
                  </a:lnTo>
                  <a:close/>
                </a:path>
              </a:pathLst>
            </a:custGeom>
            <a:blipFill>
              <a:blip r:embed="rId5">
                <a:extLst>
                  <a:ext uri="{96DAC541-7B7A-43D3-8B79-37D633B846F1}">
                    <asvg:svgBlip xmlns:asvg="http://schemas.microsoft.com/office/drawing/2016/SVG/main" r:embed="rId6"/>
                  </a:ext>
                </a:extLst>
              </a:blip>
              <a:stretch>
                <a:fillRect t="-33086" r="-225146"/>
              </a:stretch>
            </a:blipFill>
          </p:spPr>
          <p:txBody>
            <a:bodyPr/>
            <a:lstStyle/>
            <a:p>
              <a:endParaRPr lang="en-US"/>
            </a:p>
          </p:txBody>
        </p:sp>
        <p:sp>
          <p:nvSpPr>
            <p:cNvPr id="37" name="Freeform 37"/>
            <p:cNvSpPr/>
            <p:nvPr/>
          </p:nvSpPr>
          <p:spPr>
            <a:xfrm>
              <a:off x="687053" y="242091"/>
              <a:ext cx="826348" cy="1190893"/>
            </a:xfrm>
            <a:custGeom>
              <a:avLst/>
              <a:gdLst/>
              <a:ahLst/>
              <a:cxnLst/>
              <a:rect l="l" t="t" r="r" b="b"/>
              <a:pathLst>
                <a:path w="826348" h="1190893">
                  <a:moveTo>
                    <a:pt x="0" y="0"/>
                  </a:moveTo>
                  <a:lnTo>
                    <a:pt x="826347" y="0"/>
                  </a:lnTo>
                  <a:lnTo>
                    <a:pt x="826347" y="1190893"/>
                  </a:lnTo>
                  <a:lnTo>
                    <a:pt x="0" y="1190893"/>
                  </a:lnTo>
                  <a:lnTo>
                    <a:pt x="0" y="0"/>
                  </a:lnTo>
                  <a:close/>
                </a:path>
              </a:pathLst>
            </a:custGeom>
            <a:blipFill>
              <a:blip r:embed="rId7"/>
              <a:stretch>
                <a:fillRect l="-49730"/>
              </a:stretch>
            </a:blipFill>
          </p:spPr>
          <p:txBody>
            <a:bodyPr/>
            <a:lstStyle/>
            <a:p>
              <a:endParaRPr lang="en-US"/>
            </a:p>
          </p:txBody>
        </p:sp>
        <p:sp>
          <p:nvSpPr>
            <p:cNvPr id="38" name="Freeform 38"/>
            <p:cNvSpPr/>
            <p:nvPr/>
          </p:nvSpPr>
          <p:spPr>
            <a:xfrm>
              <a:off x="1635901" y="0"/>
              <a:ext cx="425647" cy="1387807"/>
            </a:xfrm>
            <a:custGeom>
              <a:avLst/>
              <a:gdLst/>
              <a:ahLst/>
              <a:cxnLst/>
              <a:rect l="l" t="t" r="r" b="b"/>
              <a:pathLst>
                <a:path w="425647" h="1387807">
                  <a:moveTo>
                    <a:pt x="0" y="0"/>
                  </a:moveTo>
                  <a:lnTo>
                    <a:pt x="425647" y="0"/>
                  </a:lnTo>
                  <a:lnTo>
                    <a:pt x="425647" y="1387807"/>
                  </a:lnTo>
                  <a:lnTo>
                    <a:pt x="0" y="1387807"/>
                  </a:lnTo>
                  <a:lnTo>
                    <a:pt x="0" y="0"/>
                  </a:lnTo>
                  <a:close/>
                </a:path>
              </a:pathLst>
            </a:custGeom>
            <a:blipFill>
              <a:blip r:embed="rId5">
                <a:extLst>
                  <a:ext uri="{96DAC541-7B7A-43D3-8B79-37D633B846F1}">
                    <asvg:svgBlip xmlns:asvg="http://schemas.microsoft.com/office/drawing/2016/SVG/main" r:embed="rId6"/>
                  </a:ext>
                </a:extLst>
              </a:blip>
              <a:stretch>
                <a:fillRect l="-226046"/>
              </a:stretch>
            </a:blipFill>
          </p:spPr>
          <p:txBody>
            <a:bodyPr/>
            <a:lstStyle/>
            <a:p>
              <a:endParaRPr lang="en-US"/>
            </a:p>
          </p:txBody>
        </p:sp>
        <p:sp>
          <p:nvSpPr>
            <p:cNvPr id="39" name="Freeform 39"/>
            <p:cNvSpPr/>
            <p:nvPr/>
          </p:nvSpPr>
          <p:spPr>
            <a:xfrm>
              <a:off x="5027928" y="277651"/>
              <a:ext cx="383635" cy="918250"/>
            </a:xfrm>
            <a:custGeom>
              <a:avLst/>
              <a:gdLst/>
              <a:ahLst/>
              <a:cxnLst/>
              <a:rect l="l" t="t" r="r" b="b"/>
              <a:pathLst>
                <a:path w="383635" h="918250">
                  <a:moveTo>
                    <a:pt x="0" y="0"/>
                  </a:moveTo>
                  <a:lnTo>
                    <a:pt x="383635" y="0"/>
                  </a:lnTo>
                  <a:lnTo>
                    <a:pt x="383635" y="918250"/>
                  </a:lnTo>
                  <a:lnTo>
                    <a:pt x="0" y="918250"/>
                  </a:lnTo>
                  <a:lnTo>
                    <a:pt x="0" y="0"/>
                  </a:lnTo>
                  <a:close/>
                </a:path>
              </a:pathLst>
            </a:custGeom>
            <a:blipFill>
              <a:blip r:embed="rId8">
                <a:extLst>
                  <a:ext uri="{96DAC541-7B7A-43D3-8B79-37D633B846F1}">
                    <asvg:svgBlip xmlns:asvg="http://schemas.microsoft.com/office/drawing/2016/SVG/main" r:embed="rId9"/>
                  </a:ext>
                </a:extLst>
              </a:blip>
              <a:stretch>
                <a:fillRect r="-229938"/>
              </a:stretch>
            </a:blipFill>
          </p:spPr>
          <p:txBody>
            <a:bodyPr/>
            <a:lstStyle/>
            <a:p>
              <a:endParaRPr lang="en-US"/>
            </a:p>
          </p:txBody>
        </p:sp>
        <p:sp>
          <p:nvSpPr>
            <p:cNvPr id="40" name="Freeform 40"/>
            <p:cNvSpPr/>
            <p:nvPr/>
          </p:nvSpPr>
          <p:spPr>
            <a:xfrm>
              <a:off x="4933948" y="277651"/>
              <a:ext cx="374123" cy="918250"/>
            </a:xfrm>
            <a:custGeom>
              <a:avLst/>
              <a:gdLst/>
              <a:ahLst/>
              <a:cxnLst/>
              <a:rect l="l" t="t" r="r" b="b"/>
              <a:pathLst>
                <a:path w="374123" h="918250">
                  <a:moveTo>
                    <a:pt x="0" y="0"/>
                  </a:moveTo>
                  <a:lnTo>
                    <a:pt x="374123" y="0"/>
                  </a:lnTo>
                  <a:lnTo>
                    <a:pt x="374123" y="918250"/>
                  </a:lnTo>
                  <a:lnTo>
                    <a:pt x="0" y="918250"/>
                  </a:lnTo>
                  <a:lnTo>
                    <a:pt x="0" y="0"/>
                  </a:lnTo>
                  <a:close/>
                </a:path>
              </a:pathLst>
            </a:custGeom>
            <a:blipFill>
              <a:blip r:embed="rId8">
                <a:extLst>
                  <a:ext uri="{96DAC541-7B7A-43D3-8B79-37D633B846F1}">
                    <asvg:svgBlip xmlns:asvg="http://schemas.microsoft.com/office/drawing/2016/SVG/main" r:embed="rId9"/>
                  </a:ext>
                </a:extLst>
              </a:blip>
              <a:stretch>
                <a:fillRect l="-238326"/>
              </a:stretch>
            </a:blipFill>
          </p:spPr>
          <p:txBody>
            <a:bodyPr/>
            <a:lstStyle/>
            <a:p>
              <a:endParaRPr lang="en-US"/>
            </a:p>
          </p:txBody>
        </p:sp>
        <p:sp>
          <p:nvSpPr>
            <p:cNvPr id="41" name="Freeform 41"/>
            <p:cNvSpPr/>
            <p:nvPr/>
          </p:nvSpPr>
          <p:spPr>
            <a:xfrm>
              <a:off x="3698030" y="477549"/>
              <a:ext cx="777372" cy="819070"/>
            </a:xfrm>
            <a:custGeom>
              <a:avLst/>
              <a:gdLst/>
              <a:ahLst/>
              <a:cxnLst/>
              <a:rect l="l" t="t" r="r" b="b"/>
              <a:pathLst>
                <a:path w="777372" h="819070">
                  <a:moveTo>
                    <a:pt x="0" y="0"/>
                  </a:moveTo>
                  <a:lnTo>
                    <a:pt x="777373" y="0"/>
                  </a:lnTo>
                  <a:lnTo>
                    <a:pt x="777373" y="819070"/>
                  </a:lnTo>
                  <a:lnTo>
                    <a:pt x="0" y="8190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42" name="Freeform 42"/>
            <p:cNvSpPr/>
            <p:nvPr/>
          </p:nvSpPr>
          <p:spPr>
            <a:xfrm>
              <a:off x="4488103" y="587210"/>
              <a:ext cx="426720" cy="918250"/>
            </a:xfrm>
            <a:custGeom>
              <a:avLst/>
              <a:gdLst/>
              <a:ahLst/>
              <a:cxnLst/>
              <a:rect l="l" t="t" r="r" b="b"/>
              <a:pathLst>
                <a:path w="426720" h="918250">
                  <a:moveTo>
                    <a:pt x="0" y="0"/>
                  </a:moveTo>
                  <a:lnTo>
                    <a:pt x="426720" y="0"/>
                  </a:lnTo>
                  <a:lnTo>
                    <a:pt x="426720" y="918250"/>
                  </a:lnTo>
                  <a:lnTo>
                    <a:pt x="0" y="918250"/>
                  </a:lnTo>
                  <a:lnTo>
                    <a:pt x="0" y="0"/>
                  </a:lnTo>
                  <a:close/>
                </a:path>
              </a:pathLst>
            </a:custGeom>
            <a:blipFill>
              <a:blip r:embed="rId8">
                <a:extLst>
                  <a:ext uri="{96DAC541-7B7A-43D3-8B79-37D633B846F1}">
                    <asvg:svgBlip xmlns:asvg="http://schemas.microsoft.com/office/drawing/2016/SVG/main" r:embed="rId9"/>
                  </a:ext>
                </a:extLst>
              </a:blip>
              <a:stretch>
                <a:fillRect l="-98236" r="-98388"/>
              </a:stretch>
            </a:blipFill>
          </p:spPr>
          <p:txBody>
            <a:bodyPr/>
            <a:lstStyle/>
            <a:p>
              <a:endParaRPr lang="en-US"/>
            </a:p>
          </p:txBody>
        </p:sp>
      </p:grpSp>
      <p:sp>
        <p:nvSpPr>
          <p:cNvPr id="43" name="TextBox 43"/>
          <p:cNvSpPr txBox="1"/>
          <p:nvPr/>
        </p:nvSpPr>
        <p:spPr>
          <a:xfrm>
            <a:off x="3577281" y="4452705"/>
            <a:ext cx="11133439" cy="405765"/>
          </a:xfrm>
          <a:prstGeom prst="rect">
            <a:avLst/>
          </a:prstGeom>
        </p:spPr>
        <p:txBody>
          <a:bodyPr lIns="0" tIns="0" rIns="0" bIns="0" rtlCol="0" anchor="t">
            <a:spAutoFit/>
          </a:bodyPr>
          <a:lstStyle/>
          <a:p>
            <a:pPr algn="ctr">
              <a:lnSpc>
                <a:spcPts val="3359"/>
              </a:lnSpc>
            </a:pPr>
            <a:r>
              <a:rPr lang="en-US" sz="2400" b="1" spc="384">
                <a:solidFill>
                  <a:srgbClr val="000000"/>
                </a:solidFill>
                <a:latin typeface="Open Sauce Bold"/>
                <a:ea typeface="Open Sauce Bold"/>
                <a:cs typeface="Open Sauce Bold"/>
                <a:sym typeface="Open Sauce Bold"/>
              </a:rPr>
              <a:t>MAPPING THE UNDERGROUND WORLD</a:t>
            </a:r>
          </a:p>
        </p:txBody>
      </p:sp>
      <p:sp>
        <p:nvSpPr>
          <p:cNvPr id="44" name="TextBox 44"/>
          <p:cNvSpPr txBox="1"/>
          <p:nvPr/>
        </p:nvSpPr>
        <p:spPr>
          <a:xfrm>
            <a:off x="4319191" y="1891833"/>
            <a:ext cx="9725819" cy="2463165"/>
          </a:xfrm>
          <a:prstGeom prst="rect">
            <a:avLst/>
          </a:prstGeom>
        </p:spPr>
        <p:txBody>
          <a:bodyPr lIns="0" tIns="0" rIns="0" bIns="0" rtlCol="0" anchor="t">
            <a:spAutoFit/>
          </a:bodyPr>
          <a:lstStyle/>
          <a:p>
            <a:pPr algn="ctr">
              <a:lnSpc>
                <a:spcPts val="20160"/>
              </a:lnSpc>
            </a:pPr>
            <a:r>
              <a:rPr lang="en-US" sz="14400" spc="-863">
                <a:solidFill>
                  <a:srgbClr val="545454"/>
                </a:solidFill>
                <a:latin typeface="Glacial Indifference"/>
                <a:ea typeface="Glacial Indifference"/>
                <a:cs typeface="Glacial Indifference"/>
                <a:sym typeface="Glacial Indifference"/>
              </a:rPr>
              <a:t>SubterraView</a:t>
            </a:r>
          </a:p>
        </p:txBody>
      </p:sp>
      <p:sp>
        <p:nvSpPr>
          <p:cNvPr id="45" name="TextBox 45"/>
          <p:cNvSpPr txBox="1"/>
          <p:nvPr/>
        </p:nvSpPr>
        <p:spPr>
          <a:xfrm>
            <a:off x="4281091" y="1929933"/>
            <a:ext cx="9725819" cy="2463165"/>
          </a:xfrm>
          <a:prstGeom prst="rect">
            <a:avLst/>
          </a:prstGeom>
        </p:spPr>
        <p:txBody>
          <a:bodyPr lIns="0" tIns="0" rIns="0" bIns="0" rtlCol="0" anchor="t">
            <a:spAutoFit/>
          </a:bodyPr>
          <a:lstStyle/>
          <a:p>
            <a:pPr algn="ctr">
              <a:lnSpc>
                <a:spcPts val="20160"/>
              </a:lnSpc>
            </a:pPr>
            <a:r>
              <a:rPr lang="en-US" sz="14400" spc="-863" dirty="0" err="1">
                <a:solidFill>
                  <a:srgbClr val="000000"/>
                </a:solidFill>
                <a:latin typeface="Glacial Indifference"/>
                <a:ea typeface="Glacial Indifference"/>
                <a:cs typeface="Glacial Indifference"/>
                <a:sym typeface="Glacial Indifference"/>
              </a:rPr>
              <a:t>SubterraView</a:t>
            </a:r>
            <a:endParaRPr lang="en-US" sz="14400" spc="-863" dirty="0">
              <a:solidFill>
                <a:srgbClr val="000000"/>
              </a:solidFill>
              <a:latin typeface="Glacial Indifference"/>
              <a:ea typeface="Glacial Indifference"/>
              <a:cs typeface="Glacial Indifference"/>
              <a:sym typeface="Glacial Indifference"/>
            </a:endParaRPr>
          </a:p>
        </p:txBody>
      </p:sp>
      <p:sp>
        <p:nvSpPr>
          <p:cNvPr id="46" name="TextBox 46"/>
          <p:cNvSpPr txBox="1"/>
          <p:nvPr/>
        </p:nvSpPr>
        <p:spPr>
          <a:xfrm>
            <a:off x="327966" y="8970047"/>
            <a:ext cx="17632069" cy="463781"/>
          </a:xfrm>
          <a:prstGeom prst="rect">
            <a:avLst/>
          </a:prstGeom>
        </p:spPr>
        <p:txBody>
          <a:bodyPr lIns="0" tIns="0" rIns="0" bIns="0" rtlCol="0" anchor="t">
            <a:spAutoFit/>
          </a:bodyPr>
          <a:lstStyle/>
          <a:p>
            <a:pPr algn="ctr">
              <a:lnSpc>
                <a:spcPts val="3919"/>
              </a:lnSpc>
            </a:pPr>
            <a:r>
              <a:rPr lang="en-US" sz="2799" spc="55" dirty="0">
                <a:solidFill>
                  <a:srgbClr val="000000"/>
                </a:solidFill>
                <a:latin typeface="Ablation"/>
                <a:ea typeface="Ablation"/>
                <a:cs typeface="Ablation"/>
                <a:sym typeface="Ablation"/>
              </a:rPr>
              <a:t>Ashton EdakkunnAthu, Jay Patel, Manan Patel, Lena Tran</a:t>
            </a:r>
          </a:p>
        </p:txBody>
      </p:sp>
      <p:sp>
        <p:nvSpPr>
          <p:cNvPr id="47" name="TextBox 47"/>
          <p:cNvSpPr txBox="1"/>
          <p:nvPr/>
        </p:nvSpPr>
        <p:spPr>
          <a:xfrm>
            <a:off x="4633648" y="1039028"/>
            <a:ext cx="9096905" cy="500347"/>
          </a:xfrm>
          <a:prstGeom prst="rect">
            <a:avLst/>
          </a:prstGeom>
        </p:spPr>
        <p:txBody>
          <a:bodyPr lIns="0" tIns="0" rIns="0" bIns="0" rtlCol="0" anchor="t">
            <a:spAutoFit/>
          </a:bodyPr>
          <a:lstStyle/>
          <a:p>
            <a:pPr algn="ctr">
              <a:lnSpc>
                <a:spcPts val="3919"/>
              </a:lnSpc>
            </a:pPr>
            <a:r>
              <a:rPr lang="en-US" sz="2799" spc="55">
                <a:solidFill>
                  <a:srgbClr val="000000"/>
                </a:solidFill>
                <a:latin typeface="Ablation"/>
                <a:ea typeface="Ablation"/>
                <a:cs typeface="Ablation"/>
                <a:sym typeface="Ablation"/>
              </a:rPr>
              <a:t>CS 440 Group 4 - Design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583233" y="4996654"/>
            <a:ext cx="13034062" cy="1620176"/>
          </a:xfrm>
          <a:prstGeom prst="rect">
            <a:avLst/>
          </a:prstGeom>
        </p:spPr>
        <p:txBody>
          <a:bodyPr lIns="0" tIns="0" rIns="0" bIns="0" rtlCol="0" anchor="t">
            <a:spAutoFit/>
          </a:bodyPr>
          <a:lstStyle/>
          <a:p>
            <a:pPr algn="l">
              <a:lnSpc>
                <a:spcPts val="13839"/>
              </a:lnSpc>
            </a:pPr>
            <a:r>
              <a:rPr lang="en-US" sz="8649" b="1" spc="518" dirty="0">
                <a:solidFill>
                  <a:srgbClr val="000000"/>
                </a:solidFill>
                <a:latin typeface="Open Sauce Bold"/>
                <a:ea typeface="Open Sauce Bold"/>
                <a:cs typeface="Open Sauce Bold"/>
                <a:sym typeface="Open Sauce Bold"/>
              </a:rPr>
              <a:t>PROJECT REFRESHER </a:t>
            </a:r>
          </a:p>
        </p:txBody>
      </p:sp>
      <p:sp>
        <p:nvSpPr>
          <p:cNvPr id="3" name="TextBox 3"/>
          <p:cNvSpPr txBox="1"/>
          <p:nvPr/>
        </p:nvSpPr>
        <p:spPr>
          <a:xfrm>
            <a:off x="1583233" y="2503269"/>
            <a:ext cx="10452483" cy="1889177"/>
          </a:xfrm>
          <a:prstGeom prst="rect">
            <a:avLst/>
          </a:prstGeom>
        </p:spPr>
        <p:txBody>
          <a:bodyPr lIns="0" tIns="0" rIns="0" bIns="0" rtlCol="0" anchor="t">
            <a:spAutoFit/>
          </a:bodyPr>
          <a:lstStyle/>
          <a:p>
            <a:pPr algn="l">
              <a:lnSpc>
                <a:spcPts val="15816"/>
              </a:lnSpc>
            </a:pPr>
            <a:r>
              <a:rPr lang="en-US" sz="9885">
                <a:solidFill>
                  <a:srgbClr val="000000"/>
                </a:solidFill>
                <a:latin typeface="Ablation"/>
                <a:ea typeface="Ablation"/>
                <a:cs typeface="Ablation"/>
                <a:sym typeface="Ablation"/>
              </a:rPr>
              <a:t>1</a:t>
            </a:r>
          </a:p>
        </p:txBody>
      </p:sp>
      <p:sp>
        <p:nvSpPr>
          <p:cNvPr id="4" name="TextBox 4"/>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2</a:t>
            </a:r>
          </a:p>
        </p:txBody>
      </p:sp>
      <p:sp>
        <p:nvSpPr>
          <p:cNvPr id="5" name="AutoShape 5"/>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73"/>
            <a:ext cx="639328" cy="365694"/>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3</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13014933" y="542925"/>
            <a:ext cx="4730092" cy="3146825"/>
          </a:xfrm>
          <a:custGeom>
            <a:avLst/>
            <a:gdLst/>
            <a:ahLst/>
            <a:cxnLst/>
            <a:rect l="l" t="t" r="r" b="b"/>
            <a:pathLst>
              <a:path w="4730092" h="3146825">
                <a:moveTo>
                  <a:pt x="0" y="0"/>
                </a:moveTo>
                <a:lnTo>
                  <a:pt x="4730092" y="0"/>
                </a:lnTo>
                <a:lnTo>
                  <a:pt x="4730092" y="3146825"/>
                </a:lnTo>
                <a:lnTo>
                  <a:pt x="0" y="3146825"/>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028700" y="2505468"/>
            <a:ext cx="12736399" cy="5276065"/>
            <a:chOff x="0" y="0"/>
            <a:chExt cx="16981865" cy="7034753"/>
          </a:xfrm>
        </p:grpSpPr>
        <p:sp>
          <p:nvSpPr>
            <p:cNvPr id="6" name="TextBox 6"/>
            <p:cNvSpPr txBox="1"/>
            <p:nvPr/>
          </p:nvSpPr>
          <p:spPr>
            <a:xfrm>
              <a:off x="0" y="-152400"/>
              <a:ext cx="14272162" cy="1503504"/>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Real-time AR map of underground infrastructure accessible from any smartphone</a:t>
              </a:r>
            </a:p>
          </p:txBody>
        </p:sp>
        <p:sp>
          <p:nvSpPr>
            <p:cNvPr id="7" name="TextBox 7"/>
            <p:cNvSpPr txBox="1"/>
            <p:nvPr/>
          </p:nvSpPr>
          <p:spPr>
            <a:xfrm>
              <a:off x="0" y="2016064"/>
              <a:ext cx="16981865" cy="690881"/>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Instant hazard alerts for gas leaks, structural instabilities, etc.</a:t>
              </a:r>
            </a:p>
          </p:txBody>
        </p:sp>
        <p:sp>
          <p:nvSpPr>
            <p:cNvPr id="8" name="TextBox 8"/>
            <p:cNvSpPr txBox="1"/>
            <p:nvPr/>
          </p:nvSpPr>
          <p:spPr>
            <a:xfrm>
              <a:off x="0" y="3367344"/>
              <a:ext cx="16527243" cy="1503504"/>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Field workers can report and update infrastructure directly from the field</a:t>
              </a:r>
            </a:p>
          </p:txBody>
        </p:sp>
        <p:sp>
          <p:nvSpPr>
            <p:cNvPr id="9" name="TextBox 9"/>
            <p:cNvSpPr txBox="1"/>
            <p:nvPr/>
          </p:nvSpPr>
          <p:spPr>
            <a:xfrm>
              <a:off x="0" y="5531249"/>
              <a:ext cx="14832400" cy="1503504"/>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 30% reduction in accidental utility strikes vs. national average</a:t>
              </a:r>
            </a:p>
          </p:txBody>
        </p:sp>
      </p:grpSp>
      <p:sp>
        <p:nvSpPr>
          <p:cNvPr id="10" name="Freeform 10"/>
          <p:cNvSpPr/>
          <p:nvPr/>
        </p:nvSpPr>
        <p:spPr>
          <a:xfrm>
            <a:off x="13014933" y="6290575"/>
            <a:ext cx="3111126" cy="2840090"/>
          </a:xfrm>
          <a:custGeom>
            <a:avLst/>
            <a:gdLst/>
            <a:ahLst/>
            <a:cxnLst/>
            <a:rect l="l" t="t" r="r" b="b"/>
            <a:pathLst>
              <a:path w="3111126" h="2840090">
                <a:moveTo>
                  <a:pt x="0" y="0"/>
                </a:moveTo>
                <a:lnTo>
                  <a:pt x="3111126" y="0"/>
                </a:lnTo>
                <a:lnTo>
                  <a:pt x="3111126" y="2840090"/>
                </a:lnTo>
                <a:lnTo>
                  <a:pt x="0" y="28400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TextBox 11"/>
          <p:cNvSpPr txBox="1"/>
          <p:nvPr/>
        </p:nvSpPr>
        <p:spPr>
          <a:xfrm>
            <a:off x="574358" y="542925"/>
            <a:ext cx="11303291"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SubterraView Overview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4</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933450" y="3142937"/>
            <a:ext cx="10704121" cy="4321119"/>
          </a:xfrm>
          <a:prstGeom prst="rect">
            <a:avLst/>
          </a:prstGeom>
        </p:spPr>
        <p:txBody>
          <a:bodyPr lIns="0" tIns="0" rIns="0" bIns="0" rtlCol="0" anchor="t">
            <a:spAutoFit/>
          </a:bodyPr>
          <a:lstStyle/>
          <a:p>
            <a:pPr marL="582928" lvl="1" indent="-291464" algn="l">
              <a:lnSpc>
                <a:spcPts val="4859"/>
              </a:lnSpc>
              <a:buFont typeface="Arial"/>
              <a:buChar char="•"/>
            </a:pPr>
            <a:r>
              <a:rPr lang="en-US" sz="2699" spc="161" dirty="0">
                <a:solidFill>
                  <a:srgbClr val="000000"/>
                </a:solidFill>
                <a:latin typeface="Open Sauce"/>
                <a:ea typeface="Open Sauce"/>
                <a:cs typeface="Open Sauce"/>
                <a:sym typeface="Open Sauce"/>
              </a:rPr>
              <a:t>Functional Requirements</a:t>
            </a:r>
          </a:p>
          <a:p>
            <a:pPr marL="1165857" lvl="2" indent="-388619" algn="l">
              <a:lnSpc>
                <a:spcPts val="4859"/>
              </a:lnSpc>
              <a:buFont typeface="Arial"/>
              <a:buChar char="⚬"/>
            </a:pPr>
            <a:r>
              <a:rPr lang="en-US" sz="2699" spc="161" dirty="0">
                <a:solidFill>
                  <a:srgbClr val="000000"/>
                </a:solidFill>
                <a:latin typeface="Open Sauce"/>
                <a:ea typeface="Open Sauce"/>
                <a:cs typeface="Open Sauce"/>
                <a:sym typeface="Open Sauce"/>
              </a:rPr>
              <a:t>AR Visualization Display</a:t>
            </a:r>
          </a:p>
          <a:p>
            <a:pPr marL="1165857" lvl="2" indent="-388619" algn="l">
              <a:lnSpc>
                <a:spcPts val="4859"/>
              </a:lnSpc>
              <a:buFont typeface="Arial"/>
              <a:buChar char="⚬"/>
            </a:pPr>
            <a:r>
              <a:rPr lang="en-US" sz="2699" spc="161" dirty="0">
                <a:solidFill>
                  <a:srgbClr val="000000"/>
                </a:solidFill>
                <a:latin typeface="Open Sauce"/>
                <a:ea typeface="Open Sauce"/>
                <a:cs typeface="Open Sauce"/>
                <a:sym typeface="Open Sauce"/>
              </a:rPr>
              <a:t>Hazard Alert Detection</a:t>
            </a:r>
          </a:p>
          <a:p>
            <a:pPr marL="777238" lvl="2" algn="l">
              <a:lnSpc>
                <a:spcPts val="4859"/>
              </a:lnSpc>
            </a:pPr>
            <a:endParaRPr lang="en-US" sz="2699" spc="161" dirty="0">
              <a:solidFill>
                <a:srgbClr val="000000"/>
              </a:solidFill>
              <a:latin typeface="Open Sauce"/>
              <a:ea typeface="Open Sauce"/>
              <a:cs typeface="Open Sauce"/>
              <a:sym typeface="Open Sauce"/>
            </a:endParaRPr>
          </a:p>
          <a:p>
            <a:pPr marL="582928" lvl="1" indent="-291464" algn="l">
              <a:lnSpc>
                <a:spcPts val="4859"/>
              </a:lnSpc>
              <a:buFont typeface="Arial"/>
              <a:buChar char="•"/>
            </a:pPr>
            <a:r>
              <a:rPr lang="en-US" sz="2699" spc="161" dirty="0">
                <a:solidFill>
                  <a:srgbClr val="000000"/>
                </a:solidFill>
                <a:latin typeface="Open Sauce"/>
                <a:ea typeface="Open Sauce"/>
                <a:cs typeface="Open Sauce"/>
                <a:sym typeface="Open Sauce"/>
              </a:rPr>
              <a:t>Non-Functional Requirements</a:t>
            </a:r>
          </a:p>
          <a:p>
            <a:pPr marL="1165857" lvl="2" indent="-388619" algn="l">
              <a:lnSpc>
                <a:spcPts val="4859"/>
              </a:lnSpc>
              <a:buFont typeface="Arial"/>
              <a:buChar char="⚬"/>
            </a:pPr>
            <a:r>
              <a:rPr lang="en-US" sz="2699" spc="161" dirty="0">
                <a:solidFill>
                  <a:srgbClr val="000000"/>
                </a:solidFill>
                <a:latin typeface="Open Sauce"/>
                <a:ea typeface="Open Sauce"/>
                <a:cs typeface="Open Sauce"/>
                <a:sym typeface="Open Sauce"/>
              </a:rPr>
              <a:t>Performance</a:t>
            </a:r>
          </a:p>
          <a:p>
            <a:pPr marL="1165857" lvl="2" indent="-388619" algn="l">
              <a:lnSpc>
                <a:spcPts val="4859"/>
              </a:lnSpc>
              <a:buFont typeface="Arial"/>
              <a:buChar char="⚬"/>
            </a:pPr>
            <a:r>
              <a:rPr lang="en-US" sz="2699" spc="161" dirty="0">
                <a:solidFill>
                  <a:srgbClr val="000000"/>
                </a:solidFill>
                <a:latin typeface="Open Sauce"/>
                <a:ea typeface="Open Sauce"/>
                <a:cs typeface="Open Sauce"/>
                <a:sym typeface="Open Sauce"/>
              </a:rPr>
              <a:t>Reliability</a:t>
            </a:r>
          </a:p>
        </p:txBody>
      </p:sp>
      <p:sp>
        <p:nvSpPr>
          <p:cNvPr id="5" name="Freeform 5"/>
          <p:cNvSpPr/>
          <p:nvPr/>
        </p:nvSpPr>
        <p:spPr>
          <a:xfrm>
            <a:off x="11877648" y="2632397"/>
            <a:ext cx="3119767" cy="4114800"/>
          </a:xfrm>
          <a:custGeom>
            <a:avLst/>
            <a:gdLst/>
            <a:ahLst/>
            <a:cxnLst/>
            <a:rect l="l" t="t" r="r" b="b"/>
            <a:pathLst>
              <a:path w="3119767" h="4114800">
                <a:moveTo>
                  <a:pt x="0" y="0"/>
                </a:moveTo>
                <a:lnTo>
                  <a:pt x="3119767" y="0"/>
                </a:lnTo>
                <a:lnTo>
                  <a:pt x="311976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574358" y="542925"/>
            <a:ext cx="11303291"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Requirements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583233" y="4996654"/>
            <a:ext cx="13034062" cy="3346371"/>
          </a:xfrm>
          <a:prstGeom prst="rect">
            <a:avLst/>
          </a:prstGeom>
        </p:spPr>
        <p:txBody>
          <a:bodyPr lIns="0" tIns="0" rIns="0" bIns="0" rtlCol="0" anchor="t">
            <a:spAutoFit/>
          </a:bodyPr>
          <a:lstStyle/>
          <a:p>
            <a:pPr algn="l">
              <a:lnSpc>
                <a:spcPts val="13839"/>
              </a:lnSpc>
            </a:pPr>
            <a:r>
              <a:rPr lang="en-US" sz="8649" b="1" spc="518">
                <a:solidFill>
                  <a:srgbClr val="000000"/>
                </a:solidFill>
                <a:latin typeface="Open Sauce Bold"/>
                <a:ea typeface="Open Sauce Bold"/>
                <a:cs typeface="Open Sauce Bold"/>
                <a:sym typeface="Open Sauce Bold"/>
              </a:rPr>
              <a:t>SYSTEM ARCHITECTURE</a:t>
            </a:r>
          </a:p>
        </p:txBody>
      </p:sp>
      <p:sp>
        <p:nvSpPr>
          <p:cNvPr id="3" name="TextBox 3"/>
          <p:cNvSpPr txBox="1"/>
          <p:nvPr/>
        </p:nvSpPr>
        <p:spPr>
          <a:xfrm>
            <a:off x="1583233" y="2503269"/>
            <a:ext cx="10452483" cy="1889177"/>
          </a:xfrm>
          <a:prstGeom prst="rect">
            <a:avLst/>
          </a:prstGeom>
        </p:spPr>
        <p:txBody>
          <a:bodyPr lIns="0" tIns="0" rIns="0" bIns="0" rtlCol="0" anchor="t">
            <a:spAutoFit/>
          </a:bodyPr>
          <a:lstStyle/>
          <a:p>
            <a:pPr algn="l">
              <a:lnSpc>
                <a:spcPts val="15816"/>
              </a:lnSpc>
            </a:pPr>
            <a:r>
              <a:rPr lang="en-US" sz="9885">
                <a:solidFill>
                  <a:srgbClr val="000000"/>
                </a:solidFill>
                <a:latin typeface="Ablation"/>
                <a:ea typeface="Ablation"/>
                <a:cs typeface="Ablation"/>
                <a:sym typeface="Ablation"/>
              </a:rPr>
              <a:t>2</a:t>
            </a:r>
          </a:p>
        </p:txBody>
      </p:sp>
      <p:sp>
        <p:nvSpPr>
          <p:cNvPr id="4" name="TextBox 4"/>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5</a:t>
            </a:r>
          </a:p>
        </p:txBody>
      </p:sp>
      <p:sp>
        <p:nvSpPr>
          <p:cNvPr id="5" name="AutoShape 5"/>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6</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8444255" y="2552658"/>
            <a:ext cx="1426379" cy="1620885"/>
          </a:xfrm>
          <a:custGeom>
            <a:avLst/>
            <a:gdLst/>
            <a:ahLst/>
            <a:cxnLst/>
            <a:rect l="l" t="t" r="r" b="b"/>
            <a:pathLst>
              <a:path w="1426379" h="1620885">
                <a:moveTo>
                  <a:pt x="0" y="0"/>
                </a:moveTo>
                <a:lnTo>
                  <a:pt x="1426378" y="0"/>
                </a:lnTo>
                <a:lnTo>
                  <a:pt x="1426378" y="1620885"/>
                </a:lnTo>
                <a:lnTo>
                  <a:pt x="0" y="16208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7432045" y="2078861"/>
            <a:ext cx="3450799" cy="377793"/>
          </a:xfrm>
          <a:prstGeom prst="rect">
            <a:avLst/>
          </a:prstGeom>
        </p:spPr>
        <p:txBody>
          <a:bodyPr lIns="0" tIns="0" rIns="0" bIns="0" rtlCol="0" anchor="t">
            <a:spAutoFit/>
          </a:bodyPr>
          <a:lstStyle/>
          <a:p>
            <a:pPr algn="l">
              <a:lnSpc>
                <a:spcPts val="3061"/>
              </a:lnSpc>
            </a:pPr>
            <a:r>
              <a:rPr lang="en-US" sz="2551" spc="-102">
                <a:solidFill>
                  <a:srgbClr val="000000"/>
                </a:solidFill>
                <a:latin typeface="Open Sauce"/>
                <a:ea typeface="Open Sauce"/>
                <a:cs typeface="Open Sauce"/>
                <a:sym typeface="Open Sauce"/>
              </a:rPr>
              <a:t>Infrastructure Database</a:t>
            </a:r>
          </a:p>
        </p:txBody>
      </p:sp>
      <p:grpSp>
        <p:nvGrpSpPr>
          <p:cNvPr id="6" name="Group 6"/>
          <p:cNvGrpSpPr/>
          <p:nvPr/>
        </p:nvGrpSpPr>
        <p:grpSpPr>
          <a:xfrm>
            <a:off x="7405157" y="6007583"/>
            <a:ext cx="3477687" cy="2503478"/>
            <a:chOff x="0" y="0"/>
            <a:chExt cx="1080119" cy="777544"/>
          </a:xfrm>
        </p:grpSpPr>
        <p:sp>
          <p:nvSpPr>
            <p:cNvPr id="7" name="Freeform 7"/>
            <p:cNvSpPr/>
            <p:nvPr/>
          </p:nvSpPr>
          <p:spPr>
            <a:xfrm>
              <a:off x="0" y="0"/>
              <a:ext cx="1080119" cy="777544"/>
            </a:xfrm>
            <a:custGeom>
              <a:avLst/>
              <a:gdLst/>
              <a:ahLst/>
              <a:cxnLst/>
              <a:rect l="l" t="t" r="r" b="b"/>
              <a:pathLst>
                <a:path w="1080119" h="777544">
                  <a:moveTo>
                    <a:pt x="0" y="0"/>
                  </a:moveTo>
                  <a:lnTo>
                    <a:pt x="1080119" y="0"/>
                  </a:lnTo>
                  <a:lnTo>
                    <a:pt x="1080119" y="777544"/>
                  </a:lnTo>
                  <a:lnTo>
                    <a:pt x="0" y="777544"/>
                  </a:lnTo>
                  <a:close/>
                </a:path>
              </a:pathLst>
            </a:custGeom>
            <a:ln w="104775" cap="sq">
              <a:solidFill>
                <a:srgbClr val="000000"/>
              </a:solidFill>
              <a:prstDash val="solid"/>
              <a:miter/>
            </a:ln>
          </p:spPr>
          <p:txBody>
            <a:bodyPr/>
            <a:lstStyle/>
            <a:p>
              <a:endParaRPr lang="en-US"/>
            </a:p>
          </p:txBody>
        </p:sp>
        <p:sp>
          <p:nvSpPr>
            <p:cNvPr id="8" name="TextBox 8"/>
            <p:cNvSpPr txBox="1"/>
            <p:nvPr/>
          </p:nvSpPr>
          <p:spPr>
            <a:xfrm>
              <a:off x="0" y="-47625"/>
              <a:ext cx="1080119" cy="825169"/>
            </a:xfrm>
            <a:prstGeom prst="rect">
              <a:avLst/>
            </a:prstGeom>
          </p:spPr>
          <p:txBody>
            <a:bodyPr lIns="43078" tIns="43078" rIns="43078" bIns="43078" rtlCol="0" anchor="ctr"/>
            <a:lstStyle/>
            <a:p>
              <a:pPr algn="ctr">
                <a:lnSpc>
                  <a:spcPts val="2940"/>
                </a:lnSpc>
              </a:pPr>
              <a:endParaRPr/>
            </a:p>
          </p:txBody>
        </p:sp>
      </p:grpSp>
      <p:sp>
        <p:nvSpPr>
          <p:cNvPr id="9" name="TextBox 9"/>
          <p:cNvSpPr txBox="1"/>
          <p:nvPr/>
        </p:nvSpPr>
        <p:spPr>
          <a:xfrm>
            <a:off x="7405157" y="5546944"/>
            <a:ext cx="3477687" cy="379625"/>
          </a:xfrm>
          <a:prstGeom prst="rect">
            <a:avLst/>
          </a:prstGeom>
        </p:spPr>
        <p:txBody>
          <a:bodyPr lIns="0" tIns="0" rIns="0" bIns="0" rtlCol="0" anchor="t">
            <a:spAutoFit/>
          </a:bodyPr>
          <a:lstStyle/>
          <a:p>
            <a:pPr algn="ctr">
              <a:lnSpc>
                <a:spcPts val="3006"/>
              </a:lnSpc>
            </a:pPr>
            <a:r>
              <a:rPr lang="en-US" sz="2505" b="1" spc="-100">
                <a:solidFill>
                  <a:srgbClr val="000000"/>
                </a:solidFill>
                <a:latin typeface="Open Sauce Bold"/>
                <a:ea typeface="Open Sauce Bold"/>
                <a:cs typeface="Open Sauce Bold"/>
                <a:sym typeface="Open Sauce Bold"/>
              </a:rPr>
              <a:t>Controller</a:t>
            </a:r>
          </a:p>
        </p:txBody>
      </p:sp>
      <p:sp>
        <p:nvSpPr>
          <p:cNvPr id="10" name="TextBox 10"/>
          <p:cNvSpPr txBox="1"/>
          <p:nvPr/>
        </p:nvSpPr>
        <p:spPr>
          <a:xfrm>
            <a:off x="7449775" y="6867010"/>
            <a:ext cx="3388451" cy="636646"/>
          </a:xfrm>
          <a:prstGeom prst="rect">
            <a:avLst/>
          </a:prstGeom>
        </p:spPr>
        <p:txBody>
          <a:bodyPr lIns="0" tIns="0" rIns="0" bIns="0" rtlCol="0" anchor="t">
            <a:spAutoFit/>
          </a:bodyPr>
          <a:lstStyle/>
          <a:p>
            <a:pPr algn="ctr">
              <a:lnSpc>
                <a:spcPts val="2594"/>
              </a:lnSpc>
            </a:pPr>
            <a:r>
              <a:rPr lang="en-US" sz="2162" spc="-86">
                <a:solidFill>
                  <a:srgbClr val="000000"/>
                </a:solidFill>
                <a:latin typeface="Open Sauce"/>
                <a:ea typeface="Open Sauce"/>
                <a:cs typeface="Open Sauce"/>
                <a:sym typeface="Open Sauce"/>
              </a:rPr>
              <a:t>ValidationEngine</a:t>
            </a:r>
          </a:p>
          <a:p>
            <a:pPr algn="ctr">
              <a:lnSpc>
                <a:spcPts val="2594"/>
              </a:lnSpc>
            </a:pPr>
            <a:r>
              <a:rPr lang="en-US" sz="2162" spc="-86">
                <a:solidFill>
                  <a:srgbClr val="000000"/>
                </a:solidFill>
                <a:latin typeface="Open Sauce"/>
                <a:ea typeface="Open Sauce"/>
                <a:cs typeface="Open Sauce"/>
                <a:sym typeface="Open Sauce"/>
              </a:rPr>
              <a:t>HazardMonitoringSystem</a:t>
            </a:r>
          </a:p>
        </p:txBody>
      </p:sp>
      <p:grpSp>
        <p:nvGrpSpPr>
          <p:cNvPr id="11" name="Group 11"/>
          <p:cNvGrpSpPr/>
          <p:nvPr/>
        </p:nvGrpSpPr>
        <p:grpSpPr>
          <a:xfrm>
            <a:off x="2262281" y="1965751"/>
            <a:ext cx="3477687" cy="2503478"/>
            <a:chOff x="0" y="0"/>
            <a:chExt cx="1080119" cy="777544"/>
          </a:xfrm>
        </p:grpSpPr>
        <p:sp>
          <p:nvSpPr>
            <p:cNvPr id="12" name="Freeform 12"/>
            <p:cNvSpPr/>
            <p:nvPr/>
          </p:nvSpPr>
          <p:spPr>
            <a:xfrm>
              <a:off x="0" y="0"/>
              <a:ext cx="1080119" cy="777544"/>
            </a:xfrm>
            <a:custGeom>
              <a:avLst/>
              <a:gdLst/>
              <a:ahLst/>
              <a:cxnLst/>
              <a:rect l="l" t="t" r="r" b="b"/>
              <a:pathLst>
                <a:path w="1080119" h="777544">
                  <a:moveTo>
                    <a:pt x="0" y="0"/>
                  </a:moveTo>
                  <a:lnTo>
                    <a:pt x="1080119" y="0"/>
                  </a:lnTo>
                  <a:lnTo>
                    <a:pt x="1080119" y="777544"/>
                  </a:lnTo>
                  <a:lnTo>
                    <a:pt x="0" y="777544"/>
                  </a:lnTo>
                  <a:close/>
                </a:path>
              </a:pathLst>
            </a:custGeom>
            <a:ln w="104775" cap="sq">
              <a:solidFill>
                <a:srgbClr val="000000"/>
              </a:solidFill>
              <a:prstDash val="solid"/>
              <a:miter/>
            </a:ln>
          </p:spPr>
          <p:txBody>
            <a:bodyPr/>
            <a:lstStyle/>
            <a:p>
              <a:endParaRPr lang="en-US"/>
            </a:p>
          </p:txBody>
        </p:sp>
        <p:sp>
          <p:nvSpPr>
            <p:cNvPr id="13" name="TextBox 13"/>
            <p:cNvSpPr txBox="1"/>
            <p:nvPr/>
          </p:nvSpPr>
          <p:spPr>
            <a:xfrm>
              <a:off x="0" y="-47625"/>
              <a:ext cx="1080119" cy="825169"/>
            </a:xfrm>
            <a:prstGeom prst="rect">
              <a:avLst/>
            </a:prstGeom>
          </p:spPr>
          <p:txBody>
            <a:bodyPr lIns="43078" tIns="43078" rIns="43078" bIns="43078" rtlCol="0" anchor="ctr"/>
            <a:lstStyle/>
            <a:p>
              <a:pPr algn="ctr">
                <a:lnSpc>
                  <a:spcPts val="2940"/>
                </a:lnSpc>
              </a:pPr>
              <a:endParaRPr/>
            </a:p>
          </p:txBody>
        </p:sp>
      </p:grpSp>
      <p:sp>
        <p:nvSpPr>
          <p:cNvPr id="14" name="TextBox 14"/>
          <p:cNvSpPr txBox="1"/>
          <p:nvPr/>
        </p:nvSpPr>
        <p:spPr>
          <a:xfrm>
            <a:off x="2262281" y="1514475"/>
            <a:ext cx="3477687" cy="379625"/>
          </a:xfrm>
          <a:prstGeom prst="rect">
            <a:avLst/>
          </a:prstGeom>
        </p:spPr>
        <p:txBody>
          <a:bodyPr lIns="0" tIns="0" rIns="0" bIns="0" rtlCol="0" anchor="t">
            <a:spAutoFit/>
          </a:bodyPr>
          <a:lstStyle/>
          <a:p>
            <a:pPr algn="ctr">
              <a:lnSpc>
                <a:spcPts val="3006"/>
              </a:lnSpc>
            </a:pPr>
            <a:r>
              <a:rPr lang="en-US" sz="2505" b="1" spc="-100">
                <a:solidFill>
                  <a:srgbClr val="000000"/>
                </a:solidFill>
                <a:latin typeface="Open Sauce Bold"/>
                <a:ea typeface="Open Sauce Bold"/>
                <a:cs typeface="Open Sauce Bold"/>
                <a:sym typeface="Open Sauce Bold"/>
              </a:rPr>
              <a:t>Model</a:t>
            </a:r>
          </a:p>
        </p:txBody>
      </p:sp>
      <p:sp>
        <p:nvSpPr>
          <p:cNvPr id="15" name="TextBox 15"/>
          <p:cNvSpPr txBox="1"/>
          <p:nvPr/>
        </p:nvSpPr>
        <p:spPr>
          <a:xfrm>
            <a:off x="2589751" y="2612444"/>
            <a:ext cx="2822746" cy="1282817"/>
          </a:xfrm>
          <a:prstGeom prst="rect">
            <a:avLst/>
          </a:prstGeom>
        </p:spPr>
        <p:txBody>
          <a:bodyPr lIns="0" tIns="0" rIns="0" bIns="0" rtlCol="0" anchor="t">
            <a:spAutoFit/>
          </a:bodyPr>
          <a:lstStyle/>
          <a:p>
            <a:pPr algn="ctr">
              <a:lnSpc>
                <a:spcPts val="2591"/>
              </a:lnSpc>
            </a:pPr>
            <a:r>
              <a:rPr lang="en-US" sz="2159" spc="-86">
                <a:solidFill>
                  <a:srgbClr val="000000"/>
                </a:solidFill>
                <a:latin typeface="Open Sauce"/>
                <a:ea typeface="Open Sauce"/>
                <a:cs typeface="Open Sauce"/>
                <a:sym typeface="Open Sauce"/>
              </a:rPr>
              <a:t>Infrastructure Record</a:t>
            </a:r>
          </a:p>
          <a:p>
            <a:pPr algn="ctr">
              <a:lnSpc>
                <a:spcPts val="2591"/>
              </a:lnSpc>
            </a:pPr>
            <a:r>
              <a:rPr lang="en-US" sz="2159" spc="-86">
                <a:solidFill>
                  <a:srgbClr val="000000"/>
                </a:solidFill>
                <a:latin typeface="Open Sauce"/>
                <a:ea typeface="Open Sauce"/>
                <a:cs typeface="Open Sauce"/>
                <a:sym typeface="Open Sauce"/>
              </a:rPr>
              <a:t>HazardAlert</a:t>
            </a:r>
          </a:p>
          <a:p>
            <a:pPr algn="ctr">
              <a:lnSpc>
                <a:spcPts val="2591"/>
              </a:lnSpc>
            </a:pPr>
            <a:r>
              <a:rPr lang="en-US" sz="2159" spc="-86">
                <a:solidFill>
                  <a:srgbClr val="000000"/>
                </a:solidFill>
                <a:latin typeface="Open Sauce"/>
                <a:ea typeface="Open Sauce"/>
                <a:cs typeface="Open Sauce"/>
                <a:sym typeface="Open Sauce"/>
              </a:rPr>
              <a:t>FieldReport</a:t>
            </a:r>
          </a:p>
          <a:p>
            <a:pPr algn="ctr">
              <a:lnSpc>
                <a:spcPts val="2591"/>
              </a:lnSpc>
            </a:pPr>
            <a:r>
              <a:rPr lang="en-US" sz="2159" spc="-86">
                <a:solidFill>
                  <a:srgbClr val="000000"/>
                </a:solidFill>
                <a:latin typeface="Open Sauce"/>
                <a:ea typeface="Open Sauce"/>
                <a:cs typeface="Open Sauce"/>
                <a:sym typeface="Open Sauce"/>
              </a:rPr>
              <a:t>CrowdsourcedReport</a:t>
            </a:r>
          </a:p>
        </p:txBody>
      </p:sp>
      <p:sp>
        <p:nvSpPr>
          <p:cNvPr id="16" name="TextBox 16"/>
          <p:cNvSpPr txBox="1"/>
          <p:nvPr/>
        </p:nvSpPr>
        <p:spPr>
          <a:xfrm>
            <a:off x="12548032" y="2849845"/>
            <a:ext cx="3388451" cy="620491"/>
          </a:xfrm>
          <a:prstGeom prst="rect">
            <a:avLst/>
          </a:prstGeom>
        </p:spPr>
        <p:txBody>
          <a:bodyPr lIns="0" tIns="0" rIns="0" bIns="0" rtlCol="0" anchor="t">
            <a:spAutoFit/>
          </a:bodyPr>
          <a:lstStyle/>
          <a:p>
            <a:pPr algn="ctr">
              <a:lnSpc>
                <a:spcPts val="2543"/>
              </a:lnSpc>
            </a:pPr>
            <a:r>
              <a:rPr lang="en-US" sz="2119" spc="-84">
                <a:solidFill>
                  <a:srgbClr val="000000"/>
                </a:solidFill>
                <a:latin typeface="Open Sauce"/>
                <a:ea typeface="Open Sauce"/>
                <a:cs typeface="Open Sauce"/>
                <a:sym typeface="Open Sauce"/>
              </a:rPr>
              <a:t>SubterraViewApp</a:t>
            </a:r>
          </a:p>
          <a:p>
            <a:pPr algn="ctr">
              <a:lnSpc>
                <a:spcPts val="2543"/>
              </a:lnSpc>
            </a:pPr>
            <a:r>
              <a:rPr lang="en-US" sz="2119" spc="-84">
                <a:solidFill>
                  <a:srgbClr val="000000"/>
                </a:solidFill>
                <a:latin typeface="Open Sauce"/>
                <a:ea typeface="Open Sauce"/>
                <a:cs typeface="Open Sauce"/>
                <a:sym typeface="Open Sauce"/>
              </a:rPr>
              <a:t>AROverlay</a:t>
            </a:r>
          </a:p>
        </p:txBody>
      </p:sp>
      <p:grpSp>
        <p:nvGrpSpPr>
          <p:cNvPr id="17" name="Group 17"/>
          <p:cNvGrpSpPr/>
          <p:nvPr/>
        </p:nvGrpSpPr>
        <p:grpSpPr>
          <a:xfrm>
            <a:off x="12548032" y="1963463"/>
            <a:ext cx="3477687" cy="2503478"/>
            <a:chOff x="0" y="0"/>
            <a:chExt cx="1080119" cy="777544"/>
          </a:xfrm>
        </p:grpSpPr>
        <p:sp>
          <p:nvSpPr>
            <p:cNvPr id="18" name="Freeform 18"/>
            <p:cNvSpPr/>
            <p:nvPr/>
          </p:nvSpPr>
          <p:spPr>
            <a:xfrm>
              <a:off x="0" y="0"/>
              <a:ext cx="1080119" cy="777544"/>
            </a:xfrm>
            <a:custGeom>
              <a:avLst/>
              <a:gdLst/>
              <a:ahLst/>
              <a:cxnLst/>
              <a:rect l="l" t="t" r="r" b="b"/>
              <a:pathLst>
                <a:path w="1080119" h="777544">
                  <a:moveTo>
                    <a:pt x="0" y="0"/>
                  </a:moveTo>
                  <a:lnTo>
                    <a:pt x="1080119" y="0"/>
                  </a:lnTo>
                  <a:lnTo>
                    <a:pt x="1080119" y="777544"/>
                  </a:lnTo>
                  <a:lnTo>
                    <a:pt x="0" y="777544"/>
                  </a:lnTo>
                  <a:close/>
                </a:path>
              </a:pathLst>
            </a:custGeom>
            <a:ln w="104775" cap="sq">
              <a:solidFill>
                <a:srgbClr val="000000"/>
              </a:solidFill>
              <a:prstDash val="solid"/>
              <a:miter/>
            </a:ln>
          </p:spPr>
          <p:txBody>
            <a:bodyPr/>
            <a:lstStyle/>
            <a:p>
              <a:endParaRPr lang="en-US"/>
            </a:p>
          </p:txBody>
        </p:sp>
        <p:sp>
          <p:nvSpPr>
            <p:cNvPr id="19" name="TextBox 19"/>
            <p:cNvSpPr txBox="1"/>
            <p:nvPr/>
          </p:nvSpPr>
          <p:spPr>
            <a:xfrm>
              <a:off x="0" y="-47625"/>
              <a:ext cx="1080119" cy="825169"/>
            </a:xfrm>
            <a:prstGeom prst="rect">
              <a:avLst/>
            </a:prstGeom>
          </p:spPr>
          <p:txBody>
            <a:bodyPr lIns="43078" tIns="43078" rIns="43078" bIns="43078" rtlCol="0" anchor="ctr"/>
            <a:lstStyle/>
            <a:p>
              <a:pPr algn="ctr">
                <a:lnSpc>
                  <a:spcPts val="2940"/>
                </a:lnSpc>
              </a:pPr>
              <a:endParaRPr/>
            </a:p>
          </p:txBody>
        </p:sp>
      </p:grpSp>
      <p:sp>
        <p:nvSpPr>
          <p:cNvPr id="20" name="TextBox 20"/>
          <p:cNvSpPr txBox="1"/>
          <p:nvPr/>
        </p:nvSpPr>
        <p:spPr>
          <a:xfrm>
            <a:off x="12548032" y="1514475"/>
            <a:ext cx="3477687" cy="379625"/>
          </a:xfrm>
          <a:prstGeom prst="rect">
            <a:avLst/>
          </a:prstGeom>
        </p:spPr>
        <p:txBody>
          <a:bodyPr lIns="0" tIns="0" rIns="0" bIns="0" rtlCol="0" anchor="t">
            <a:spAutoFit/>
          </a:bodyPr>
          <a:lstStyle/>
          <a:p>
            <a:pPr algn="ctr">
              <a:lnSpc>
                <a:spcPts val="3006"/>
              </a:lnSpc>
            </a:pPr>
            <a:r>
              <a:rPr lang="en-US" sz="2505" b="1" spc="-100">
                <a:solidFill>
                  <a:srgbClr val="000000"/>
                </a:solidFill>
                <a:latin typeface="Open Sauce Bold"/>
                <a:ea typeface="Open Sauce Bold"/>
                <a:cs typeface="Open Sauce Bold"/>
                <a:sym typeface="Open Sauce Bold"/>
              </a:rPr>
              <a:t>View</a:t>
            </a:r>
          </a:p>
        </p:txBody>
      </p:sp>
      <p:sp>
        <p:nvSpPr>
          <p:cNvPr id="21" name="AutoShape 21"/>
          <p:cNvSpPr/>
          <p:nvPr/>
        </p:nvSpPr>
        <p:spPr>
          <a:xfrm flipV="1">
            <a:off x="6117886" y="3155328"/>
            <a:ext cx="1861436" cy="7642"/>
          </a:xfrm>
          <a:prstGeom prst="line">
            <a:avLst/>
          </a:prstGeom>
          <a:ln w="76200" cap="flat">
            <a:solidFill>
              <a:srgbClr val="000000"/>
            </a:solidFill>
            <a:prstDash val="solid"/>
            <a:headEnd type="arrow" w="med" len="sm"/>
            <a:tailEnd type="arrow" w="med" len="sm"/>
          </a:ln>
        </p:spPr>
        <p:txBody>
          <a:bodyPr/>
          <a:lstStyle/>
          <a:p>
            <a:endParaRPr lang="en-US"/>
          </a:p>
        </p:txBody>
      </p:sp>
      <p:sp>
        <p:nvSpPr>
          <p:cNvPr id="22" name="AutoShape 22"/>
          <p:cNvSpPr/>
          <p:nvPr/>
        </p:nvSpPr>
        <p:spPr>
          <a:xfrm>
            <a:off x="5896142" y="4476943"/>
            <a:ext cx="1665942" cy="1202351"/>
          </a:xfrm>
          <a:prstGeom prst="line">
            <a:avLst/>
          </a:prstGeom>
          <a:ln w="76200" cap="rnd">
            <a:solidFill>
              <a:srgbClr val="000000"/>
            </a:solidFill>
            <a:prstDash val="solid"/>
            <a:headEnd type="none" w="sm" len="sm"/>
            <a:tailEnd type="arrow" w="med" len="sm"/>
          </a:ln>
        </p:spPr>
        <p:txBody>
          <a:bodyPr/>
          <a:lstStyle/>
          <a:p>
            <a:endParaRPr lang="en-US"/>
          </a:p>
        </p:txBody>
      </p:sp>
      <p:sp>
        <p:nvSpPr>
          <p:cNvPr id="23" name="AutoShape 23"/>
          <p:cNvSpPr/>
          <p:nvPr/>
        </p:nvSpPr>
        <p:spPr>
          <a:xfrm flipH="1">
            <a:off x="10687216" y="4444195"/>
            <a:ext cx="1747767" cy="1341477"/>
          </a:xfrm>
          <a:prstGeom prst="line">
            <a:avLst/>
          </a:prstGeom>
          <a:ln w="76200" cap="rnd">
            <a:solidFill>
              <a:srgbClr val="000000"/>
            </a:solidFill>
            <a:prstDash val="solid"/>
            <a:headEnd type="none" w="sm" len="sm"/>
            <a:tailEnd type="arrow" w="med" len="sm"/>
          </a:ln>
        </p:spPr>
        <p:txBody>
          <a:bodyPr/>
          <a:lstStyle/>
          <a:p>
            <a:endParaRPr lang="en-US"/>
          </a:p>
        </p:txBody>
      </p:sp>
      <p:sp>
        <p:nvSpPr>
          <p:cNvPr id="24" name="AutoShape 24"/>
          <p:cNvSpPr/>
          <p:nvPr/>
        </p:nvSpPr>
        <p:spPr>
          <a:xfrm>
            <a:off x="5649886" y="4729807"/>
            <a:ext cx="1665942" cy="1202351"/>
          </a:xfrm>
          <a:prstGeom prst="line">
            <a:avLst/>
          </a:prstGeom>
          <a:ln w="76200" cap="rnd">
            <a:solidFill>
              <a:srgbClr val="000000"/>
            </a:solidFill>
            <a:prstDash val="solid"/>
            <a:headEnd type="arrow" w="med" len="sm"/>
            <a:tailEnd type="none" w="sm" len="sm"/>
          </a:ln>
        </p:spPr>
        <p:txBody>
          <a:bodyPr/>
          <a:lstStyle/>
          <a:p>
            <a:endParaRPr lang="en-US"/>
          </a:p>
        </p:txBody>
      </p:sp>
      <p:sp>
        <p:nvSpPr>
          <p:cNvPr id="25" name="AutoShape 25"/>
          <p:cNvSpPr/>
          <p:nvPr/>
        </p:nvSpPr>
        <p:spPr>
          <a:xfrm flipH="1">
            <a:off x="10986274" y="4641964"/>
            <a:ext cx="1747767" cy="1341477"/>
          </a:xfrm>
          <a:prstGeom prst="line">
            <a:avLst/>
          </a:prstGeom>
          <a:ln w="76200" cap="rnd">
            <a:solidFill>
              <a:srgbClr val="000000"/>
            </a:solidFill>
            <a:prstDash val="solid"/>
            <a:headEnd type="arrow" w="med" len="sm"/>
            <a:tailEnd type="none" w="sm" len="sm"/>
          </a:ln>
        </p:spPr>
        <p:txBody>
          <a:bodyPr/>
          <a:lstStyle/>
          <a:p>
            <a:endParaRPr lang="en-US"/>
          </a:p>
        </p:txBody>
      </p:sp>
      <p:sp>
        <p:nvSpPr>
          <p:cNvPr id="26" name="AutoShape 26"/>
          <p:cNvSpPr/>
          <p:nvPr/>
        </p:nvSpPr>
        <p:spPr>
          <a:xfrm>
            <a:off x="5409559" y="7425502"/>
            <a:ext cx="1732033" cy="0"/>
          </a:xfrm>
          <a:prstGeom prst="line">
            <a:avLst/>
          </a:prstGeom>
          <a:ln w="76200" cap="rnd">
            <a:solidFill>
              <a:srgbClr val="000000"/>
            </a:solidFill>
            <a:prstDash val="solid"/>
            <a:headEnd type="arrow" w="med" len="sm"/>
            <a:tailEnd type="none" w="sm" len="sm"/>
          </a:ln>
        </p:spPr>
        <p:txBody>
          <a:bodyPr/>
          <a:lstStyle/>
          <a:p>
            <a:endParaRPr lang="en-US"/>
          </a:p>
        </p:txBody>
      </p:sp>
      <p:sp>
        <p:nvSpPr>
          <p:cNvPr id="27" name="AutoShape 27"/>
          <p:cNvSpPr/>
          <p:nvPr/>
        </p:nvSpPr>
        <p:spPr>
          <a:xfrm>
            <a:off x="5409559" y="7063738"/>
            <a:ext cx="1732033" cy="0"/>
          </a:xfrm>
          <a:prstGeom prst="line">
            <a:avLst/>
          </a:prstGeom>
          <a:ln w="76200" cap="rnd">
            <a:solidFill>
              <a:srgbClr val="000000"/>
            </a:solidFill>
            <a:prstDash val="solid"/>
            <a:headEnd type="none" w="sm" len="sm"/>
            <a:tailEnd type="arrow" w="med" len="sm"/>
          </a:ln>
        </p:spPr>
        <p:txBody>
          <a:bodyPr/>
          <a:lstStyle/>
          <a:p>
            <a:endParaRPr lang="en-US"/>
          </a:p>
        </p:txBody>
      </p:sp>
      <p:sp>
        <p:nvSpPr>
          <p:cNvPr id="28" name="AutoShape 28"/>
          <p:cNvSpPr/>
          <p:nvPr/>
        </p:nvSpPr>
        <p:spPr>
          <a:xfrm>
            <a:off x="4567738" y="6295468"/>
            <a:ext cx="296888" cy="374847"/>
          </a:xfrm>
          <a:prstGeom prst="line">
            <a:avLst/>
          </a:prstGeom>
          <a:ln w="28575" cap="rnd">
            <a:solidFill>
              <a:srgbClr val="000000"/>
            </a:solidFill>
            <a:prstDash val="solid"/>
            <a:headEnd type="none" w="sm" len="sm"/>
            <a:tailEnd type="none" w="sm" len="sm"/>
          </a:ln>
        </p:spPr>
        <p:txBody>
          <a:bodyPr/>
          <a:lstStyle/>
          <a:p>
            <a:endParaRPr lang="en-US"/>
          </a:p>
        </p:txBody>
      </p:sp>
      <p:sp>
        <p:nvSpPr>
          <p:cNvPr id="29" name="AutoShape 29"/>
          <p:cNvSpPr/>
          <p:nvPr/>
        </p:nvSpPr>
        <p:spPr>
          <a:xfrm>
            <a:off x="4580401" y="6482891"/>
            <a:ext cx="296888" cy="374847"/>
          </a:xfrm>
          <a:prstGeom prst="line">
            <a:avLst/>
          </a:prstGeom>
          <a:ln w="28575" cap="rnd">
            <a:solidFill>
              <a:srgbClr val="000000"/>
            </a:solidFill>
            <a:prstDash val="solid"/>
            <a:headEnd type="none" w="sm" len="sm"/>
            <a:tailEnd type="none" w="sm" len="sm"/>
          </a:ln>
        </p:spPr>
        <p:txBody>
          <a:bodyPr/>
          <a:lstStyle/>
          <a:p>
            <a:endParaRPr lang="en-US"/>
          </a:p>
        </p:txBody>
      </p:sp>
      <p:sp>
        <p:nvSpPr>
          <p:cNvPr id="30" name="Freeform 30"/>
          <p:cNvSpPr/>
          <p:nvPr/>
        </p:nvSpPr>
        <p:spPr>
          <a:xfrm>
            <a:off x="3762143" y="5926570"/>
            <a:ext cx="1260688" cy="2113959"/>
          </a:xfrm>
          <a:custGeom>
            <a:avLst/>
            <a:gdLst/>
            <a:ahLst/>
            <a:cxnLst/>
            <a:rect l="l" t="t" r="r" b="b"/>
            <a:pathLst>
              <a:path w="1260688" h="2113959">
                <a:moveTo>
                  <a:pt x="0" y="0"/>
                </a:moveTo>
                <a:lnTo>
                  <a:pt x="1260688" y="0"/>
                </a:lnTo>
                <a:lnTo>
                  <a:pt x="1260688" y="2113958"/>
                </a:lnTo>
                <a:lnTo>
                  <a:pt x="0" y="2113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1" name="TextBox 31"/>
          <p:cNvSpPr txBox="1"/>
          <p:nvPr/>
        </p:nvSpPr>
        <p:spPr>
          <a:xfrm>
            <a:off x="2667087" y="8132884"/>
            <a:ext cx="3450799" cy="378177"/>
          </a:xfrm>
          <a:prstGeom prst="rect">
            <a:avLst/>
          </a:prstGeom>
        </p:spPr>
        <p:txBody>
          <a:bodyPr lIns="0" tIns="0" rIns="0" bIns="0" rtlCol="0" anchor="t">
            <a:spAutoFit/>
          </a:bodyPr>
          <a:lstStyle/>
          <a:p>
            <a:pPr algn="ctr">
              <a:lnSpc>
                <a:spcPts val="3061"/>
              </a:lnSpc>
            </a:pPr>
            <a:r>
              <a:rPr lang="en-US" sz="2551" spc="-102">
                <a:solidFill>
                  <a:srgbClr val="000000"/>
                </a:solidFill>
                <a:latin typeface="Open Sauce"/>
                <a:ea typeface="Open Sauce"/>
                <a:cs typeface="Open Sauce"/>
                <a:sym typeface="Open Sauce"/>
              </a:rPr>
              <a:t>End User</a:t>
            </a:r>
          </a:p>
        </p:txBody>
      </p:sp>
      <p:sp>
        <p:nvSpPr>
          <p:cNvPr id="32" name="TextBox 32"/>
          <p:cNvSpPr txBox="1"/>
          <p:nvPr/>
        </p:nvSpPr>
        <p:spPr>
          <a:xfrm>
            <a:off x="574358" y="542925"/>
            <a:ext cx="11303291"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MVC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7</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1201674" y="3053247"/>
            <a:ext cx="15884652" cy="4606549"/>
          </a:xfrm>
          <a:custGeom>
            <a:avLst/>
            <a:gdLst/>
            <a:ahLst/>
            <a:cxnLst/>
            <a:rect l="l" t="t" r="r" b="b"/>
            <a:pathLst>
              <a:path w="15884652" h="4606549">
                <a:moveTo>
                  <a:pt x="0" y="0"/>
                </a:moveTo>
                <a:lnTo>
                  <a:pt x="15884652" y="0"/>
                </a:lnTo>
                <a:lnTo>
                  <a:pt x="15884652" y="4606549"/>
                </a:lnTo>
                <a:lnTo>
                  <a:pt x="0" y="4606549"/>
                </a:lnTo>
                <a:lnTo>
                  <a:pt x="0" y="0"/>
                </a:lnTo>
                <a:close/>
              </a:path>
            </a:pathLst>
          </a:custGeom>
          <a:blipFill>
            <a:blip r:embed="rId3"/>
            <a:stretch>
              <a:fillRect/>
            </a:stretch>
          </a:blipFill>
          <a:ln w="28575" cap="sq">
            <a:solidFill>
              <a:srgbClr val="000000"/>
            </a:solidFill>
            <a:prstDash val="solid"/>
            <a:miter/>
          </a:ln>
        </p:spPr>
        <p:txBody>
          <a:bodyPr/>
          <a:lstStyle/>
          <a:p>
            <a:endParaRPr lang="en-US"/>
          </a:p>
        </p:txBody>
      </p:sp>
      <p:sp>
        <p:nvSpPr>
          <p:cNvPr id="5" name="TextBox 5"/>
          <p:cNvSpPr txBox="1"/>
          <p:nvPr/>
        </p:nvSpPr>
        <p:spPr>
          <a:xfrm>
            <a:off x="574358" y="542925"/>
            <a:ext cx="11303291"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Client-Server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8</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028700" y="1019175"/>
            <a:ext cx="4287806" cy="1704975"/>
          </a:xfrm>
          <a:prstGeom prst="rect">
            <a:avLst/>
          </a:prstGeom>
        </p:spPr>
        <p:txBody>
          <a:bodyPr lIns="0" tIns="0" rIns="0" bIns="0" rtlCol="0" anchor="t">
            <a:spAutoFit/>
          </a:bodyPr>
          <a:lstStyle/>
          <a:p>
            <a:pPr algn="l">
              <a:lnSpc>
                <a:spcPts val="6720"/>
              </a:lnSpc>
            </a:pPr>
            <a:r>
              <a:rPr lang="en-US" sz="5600" b="1" spc="-224">
                <a:solidFill>
                  <a:srgbClr val="000000"/>
                </a:solidFill>
                <a:latin typeface="Open Sauce Bold"/>
                <a:ea typeface="Open Sauce Bold"/>
                <a:cs typeface="Open Sauce Bold"/>
                <a:sym typeface="Open Sauce Bold"/>
              </a:rPr>
              <a:t>Subsystems Overview</a:t>
            </a:r>
          </a:p>
        </p:txBody>
      </p:sp>
      <p:sp>
        <p:nvSpPr>
          <p:cNvPr id="5" name="Freeform 5"/>
          <p:cNvSpPr/>
          <p:nvPr/>
        </p:nvSpPr>
        <p:spPr>
          <a:xfrm>
            <a:off x="5704721" y="1113287"/>
            <a:ext cx="12293070" cy="7852199"/>
          </a:xfrm>
          <a:custGeom>
            <a:avLst/>
            <a:gdLst/>
            <a:ahLst/>
            <a:cxnLst/>
            <a:rect l="l" t="t" r="r" b="b"/>
            <a:pathLst>
              <a:path w="12293070" h="7852199">
                <a:moveTo>
                  <a:pt x="0" y="0"/>
                </a:moveTo>
                <a:lnTo>
                  <a:pt x="12293070" y="0"/>
                </a:lnTo>
                <a:lnTo>
                  <a:pt x="12293070" y="7852199"/>
                </a:lnTo>
                <a:lnTo>
                  <a:pt x="0" y="7852199"/>
                </a:lnTo>
                <a:lnTo>
                  <a:pt x="0" y="0"/>
                </a:lnTo>
                <a:close/>
              </a:path>
            </a:pathLst>
          </a:custGeom>
          <a:blipFill>
            <a:blip r:embed="rId3"/>
            <a:stretch>
              <a:fillRect/>
            </a:stretch>
          </a:blipFill>
        </p:spPr>
        <p:txBody>
          <a:bodyPr/>
          <a:lstStyle/>
          <a:p>
            <a:endParaRPr lang="en-US"/>
          </a:p>
        </p:txBody>
      </p:sp>
      <p:grpSp>
        <p:nvGrpSpPr>
          <p:cNvPr id="6" name="Group 6"/>
          <p:cNvGrpSpPr/>
          <p:nvPr/>
        </p:nvGrpSpPr>
        <p:grpSpPr>
          <a:xfrm>
            <a:off x="7461102" y="2436453"/>
            <a:ext cx="575394" cy="57539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txBody>
            <a:bodyPr/>
            <a:lstStyle/>
            <a:p>
              <a:endParaRPr 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940"/>
                </a:lnSpc>
              </a:pPr>
              <a:r>
                <a:rPr lang="en-US" sz="2100" spc="42">
                  <a:solidFill>
                    <a:srgbClr val="000000"/>
                  </a:solidFill>
                  <a:latin typeface="Open Sauce"/>
                  <a:ea typeface="Open Sauce"/>
                  <a:cs typeface="Open Sauce"/>
                  <a:sym typeface="Open Sauce"/>
                </a:rPr>
                <a:t>2</a:t>
              </a:r>
            </a:p>
          </p:txBody>
        </p:sp>
      </p:grpSp>
      <p:grpSp>
        <p:nvGrpSpPr>
          <p:cNvPr id="9" name="Group 9"/>
          <p:cNvGrpSpPr/>
          <p:nvPr/>
        </p:nvGrpSpPr>
        <p:grpSpPr>
          <a:xfrm>
            <a:off x="14600869" y="1113287"/>
            <a:ext cx="575394" cy="57539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940"/>
                </a:lnSpc>
              </a:pPr>
              <a:r>
                <a:rPr lang="en-US" sz="2100" spc="42">
                  <a:solidFill>
                    <a:srgbClr val="000000"/>
                  </a:solidFill>
                  <a:latin typeface="Open Sauce"/>
                  <a:ea typeface="Open Sauce"/>
                  <a:cs typeface="Open Sauce"/>
                  <a:sym typeface="Open Sauce"/>
                </a:rPr>
                <a:t>1</a:t>
              </a:r>
            </a:p>
          </p:txBody>
        </p:sp>
      </p:grpSp>
      <p:grpSp>
        <p:nvGrpSpPr>
          <p:cNvPr id="12" name="Group 12"/>
          <p:cNvGrpSpPr/>
          <p:nvPr/>
        </p:nvGrpSpPr>
        <p:grpSpPr>
          <a:xfrm>
            <a:off x="10990840" y="4279469"/>
            <a:ext cx="575394" cy="57539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940"/>
                </a:lnSpc>
              </a:pPr>
              <a:r>
                <a:rPr lang="en-US" sz="2100" spc="42">
                  <a:solidFill>
                    <a:srgbClr val="000000"/>
                  </a:solidFill>
                  <a:latin typeface="Open Sauce"/>
                  <a:ea typeface="Open Sauce"/>
                  <a:cs typeface="Open Sauce"/>
                  <a:sym typeface="Open Sauce"/>
                </a:rPr>
                <a:t>3</a:t>
              </a:r>
            </a:p>
          </p:txBody>
        </p:sp>
      </p:grpSp>
      <p:grpSp>
        <p:nvGrpSpPr>
          <p:cNvPr id="15" name="Group 15"/>
          <p:cNvGrpSpPr/>
          <p:nvPr/>
        </p:nvGrpSpPr>
        <p:grpSpPr>
          <a:xfrm>
            <a:off x="14025475" y="5317305"/>
            <a:ext cx="575394" cy="572977"/>
            <a:chOff x="0" y="0"/>
            <a:chExt cx="812800" cy="809386"/>
          </a:xfrm>
        </p:grpSpPr>
        <p:sp>
          <p:nvSpPr>
            <p:cNvPr id="16" name="Freeform 16"/>
            <p:cNvSpPr/>
            <p:nvPr/>
          </p:nvSpPr>
          <p:spPr>
            <a:xfrm>
              <a:off x="0" y="0"/>
              <a:ext cx="812800" cy="809386"/>
            </a:xfrm>
            <a:custGeom>
              <a:avLst/>
              <a:gdLst/>
              <a:ahLst/>
              <a:cxnLst/>
              <a:rect l="l" t="t" r="r" b="b"/>
              <a:pathLst>
                <a:path w="812800" h="809386">
                  <a:moveTo>
                    <a:pt x="406400" y="0"/>
                  </a:moveTo>
                  <a:cubicBezTo>
                    <a:pt x="181951" y="0"/>
                    <a:pt x="0" y="181187"/>
                    <a:pt x="0" y="404693"/>
                  </a:cubicBezTo>
                  <a:cubicBezTo>
                    <a:pt x="0" y="628198"/>
                    <a:pt x="181951" y="809386"/>
                    <a:pt x="406400" y="809386"/>
                  </a:cubicBezTo>
                  <a:cubicBezTo>
                    <a:pt x="630849" y="809386"/>
                    <a:pt x="812800" y="628198"/>
                    <a:pt x="812800" y="404693"/>
                  </a:cubicBezTo>
                  <a:cubicBezTo>
                    <a:pt x="812800" y="181187"/>
                    <a:pt x="630849" y="0"/>
                    <a:pt x="406400" y="0"/>
                  </a:cubicBezTo>
                  <a:close/>
                </a:path>
              </a:pathLst>
            </a:custGeom>
            <a:solidFill>
              <a:srgbClr val="0CC0DF"/>
            </a:solidFill>
          </p:spPr>
          <p:txBody>
            <a:bodyPr/>
            <a:lstStyle/>
            <a:p>
              <a:endParaRPr lang="en-US"/>
            </a:p>
          </p:txBody>
        </p:sp>
        <p:sp>
          <p:nvSpPr>
            <p:cNvPr id="17" name="TextBox 17"/>
            <p:cNvSpPr txBox="1"/>
            <p:nvPr/>
          </p:nvSpPr>
          <p:spPr>
            <a:xfrm>
              <a:off x="76200" y="28255"/>
              <a:ext cx="660400" cy="705251"/>
            </a:xfrm>
            <a:prstGeom prst="rect">
              <a:avLst/>
            </a:prstGeom>
          </p:spPr>
          <p:txBody>
            <a:bodyPr lIns="50800" tIns="50800" rIns="50800" bIns="50800" rtlCol="0" anchor="ctr"/>
            <a:lstStyle/>
            <a:p>
              <a:pPr algn="ctr">
                <a:lnSpc>
                  <a:spcPts val="2940"/>
                </a:lnSpc>
              </a:pPr>
              <a:r>
                <a:rPr lang="en-US" sz="2100" spc="42">
                  <a:solidFill>
                    <a:srgbClr val="000000"/>
                  </a:solidFill>
                  <a:latin typeface="Open Sauce"/>
                  <a:ea typeface="Open Sauce"/>
                  <a:cs typeface="Open Sauce"/>
                  <a:sym typeface="Open Sauce"/>
                </a:rPr>
                <a:t>5</a:t>
              </a:r>
            </a:p>
          </p:txBody>
        </p:sp>
      </p:grpSp>
      <p:grpSp>
        <p:nvGrpSpPr>
          <p:cNvPr id="18" name="Group 18"/>
          <p:cNvGrpSpPr/>
          <p:nvPr/>
        </p:nvGrpSpPr>
        <p:grpSpPr>
          <a:xfrm>
            <a:off x="16971603" y="4281886"/>
            <a:ext cx="575394" cy="572977"/>
            <a:chOff x="0" y="0"/>
            <a:chExt cx="812800" cy="809386"/>
          </a:xfrm>
        </p:grpSpPr>
        <p:sp>
          <p:nvSpPr>
            <p:cNvPr id="19" name="Freeform 19"/>
            <p:cNvSpPr/>
            <p:nvPr/>
          </p:nvSpPr>
          <p:spPr>
            <a:xfrm>
              <a:off x="0" y="0"/>
              <a:ext cx="812800" cy="809386"/>
            </a:xfrm>
            <a:custGeom>
              <a:avLst/>
              <a:gdLst/>
              <a:ahLst/>
              <a:cxnLst/>
              <a:rect l="l" t="t" r="r" b="b"/>
              <a:pathLst>
                <a:path w="812800" h="809386">
                  <a:moveTo>
                    <a:pt x="406400" y="0"/>
                  </a:moveTo>
                  <a:cubicBezTo>
                    <a:pt x="181951" y="0"/>
                    <a:pt x="0" y="181187"/>
                    <a:pt x="0" y="404693"/>
                  </a:cubicBezTo>
                  <a:cubicBezTo>
                    <a:pt x="0" y="628198"/>
                    <a:pt x="181951" y="809386"/>
                    <a:pt x="406400" y="809386"/>
                  </a:cubicBezTo>
                  <a:cubicBezTo>
                    <a:pt x="630849" y="809386"/>
                    <a:pt x="812800" y="628198"/>
                    <a:pt x="812800" y="404693"/>
                  </a:cubicBezTo>
                  <a:cubicBezTo>
                    <a:pt x="812800" y="181187"/>
                    <a:pt x="630849" y="0"/>
                    <a:pt x="406400" y="0"/>
                  </a:cubicBezTo>
                  <a:close/>
                </a:path>
              </a:pathLst>
            </a:custGeom>
            <a:solidFill>
              <a:srgbClr val="7ED957"/>
            </a:solidFill>
          </p:spPr>
          <p:txBody>
            <a:bodyPr/>
            <a:lstStyle/>
            <a:p>
              <a:endParaRPr lang="en-US"/>
            </a:p>
          </p:txBody>
        </p:sp>
        <p:sp>
          <p:nvSpPr>
            <p:cNvPr id="20" name="TextBox 20"/>
            <p:cNvSpPr txBox="1"/>
            <p:nvPr/>
          </p:nvSpPr>
          <p:spPr>
            <a:xfrm>
              <a:off x="76200" y="28255"/>
              <a:ext cx="660400" cy="705251"/>
            </a:xfrm>
            <a:prstGeom prst="rect">
              <a:avLst/>
            </a:prstGeom>
          </p:spPr>
          <p:txBody>
            <a:bodyPr lIns="50800" tIns="50800" rIns="50800" bIns="50800" rtlCol="0" anchor="ctr"/>
            <a:lstStyle/>
            <a:p>
              <a:pPr algn="ctr">
                <a:lnSpc>
                  <a:spcPts val="2940"/>
                </a:lnSpc>
              </a:pPr>
              <a:r>
                <a:rPr lang="en-US" sz="2100" spc="42">
                  <a:solidFill>
                    <a:srgbClr val="000000"/>
                  </a:solidFill>
                  <a:latin typeface="Open Sauce"/>
                  <a:ea typeface="Open Sauce"/>
                  <a:cs typeface="Open Sauce"/>
                  <a:sym typeface="Open Sauce"/>
                </a:rPr>
                <a:t>4</a:t>
              </a:r>
            </a:p>
          </p:txBody>
        </p:sp>
      </p:grpSp>
      <p:grpSp>
        <p:nvGrpSpPr>
          <p:cNvPr id="21" name="Group 21"/>
          <p:cNvGrpSpPr/>
          <p:nvPr/>
        </p:nvGrpSpPr>
        <p:grpSpPr>
          <a:xfrm>
            <a:off x="16619972" y="6948970"/>
            <a:ext cx="575394" cy="572977"/>
            <a:chOff x="0" y="0"/>
            <a:chExt cx="812800" cy="809386"/>
          </a:xfrm>
        </p:grpSpPr>
        <p:sp>
          <p:nvSpPr>
            <p:cNvPr id="22" name="Freeform 22"/>
            <p:cNvSpPr/>
            <p:nvPr/>
          </p:nvSpPr>
          <p:spPr>
            <a:xfrm>
              <a:off x="0" y="0"/>
              <a:ext cx="812800" cy="809386"/>
            </a:xfrm>
            <a:custGeom>
              <a:avLst/>
              <a:gdLst/>
              <a:ahLst/>
              <a:cxnLst/>
              <a:rect l="l" t="t" r="r" b="b"/>
              <a:pathLst>
                <a:path w="812800" h="809386">
                  <a:moveTo>
                    <a:pt x="406400" y="0"/>
                  </a:moveTo>
                  <a:cubicBezTo>
                    <a:pt x="181951" y="0"/>
                    <a:pt x="0" y="181187"/>
                    <a:pt x="0" y="404693"/>
                  </a:cubicBezTo>
                  <a:cubicBezTo>
                    <a:pt x="0" y="628198"/>
                    <a:pt x="181951" y="809386"/>
                    <a:pt x="406400" y="809386"/>
                  </a:cubicBezTo>
                  <a:cubicBezTo>
                    <a:pt x="630849" y="809386"/>
                    <a:pt x="812800" y="628198"/>
                    <a:pt x="812800" y="404693"/>
                  </a:cubicBezTo>
                  <a:cubicBezTo>
                    <a:pt x="812800" y="181187"/>
                    <a:pt x="630849" y="0"/>
                    <a:pt x="406400" y="0"/>
                  </a:cubicBezTo>
                  <a:close/>
                </a:path>
              </a:pathLst>
            </a:custGeom>
            <a:solidFill>
              <a:srgbClr val="E2A9F1"/>
            </a:solidFill>
          </p:spPr>
          <p:txBody>
            <a:bodyPr/>
            <a:lstStyle/>
            <a:p>
              <a:endParaRPr lang="en-US"/>
            </a:p>
          </p:txBody>
        </p:sp>
        <p:sp>
          <p:nvSpPr>
            <p:cNvPr id="23" name="TextBox 23"/>
            <p:cNvSpPr txBox="1"/>
            <p:nvPr/>
          </p:nvSpPr>
          <p:spPr>
            <a:xfrm>
              <a:off x="76200" y="28255"/>
              <a:ext cx="660400" cy="705251"/>
            </a:xfrm>
            <a:prstGeom prst="rect">
              <a:avLst/>
            </a:prstGeom>
          </p:spPr>
          <p:txBody>
            <a:bodyPr lIns="50800" tIns="50800" rIns="50800" bIns="50800" rtlCol="0" anchor="ctr"/>
            <a:lstStyle/>
            <a:p>
              <a:pPr algn="ctr">
                <a:lnSpc>
                  <a:spcPts val="2940"/>
                </a:lnSpc>
              </a:pPr>
              <a:r>
                <a:rPr lang="en-US" sz="2100" spc="42">
                  <a:solidFill>
                    <a:srgbClr val="000000"/>
                  </a:solidFill>
                  <a:latin typeface="Open Sauce"/>
                  <a:ea typeface="Open Sauce"/>
                  <a:cs typeface="Open Sauce"/>
                  <a:sym typeface="Open Sauce"/>
                </a:rPr>
                <a:t>7</a:t>
              </a:r>
            </a:p>
          </p:txBody>
        </p:sp>
      </p:grpSp>
      <p:grpSp>
        <p:nvGrpSpPr>
          <p:cNvPr id="24" name="Group 24"/>
          <p:cNvGrpSpPr/>
          <p:nvPr/>
        </p:nvGrpSpPr>
        <p:grpSpPr>
          <a:xfrm>
            <a:off x="9144000" y="6948970"/>
            <a:ext cx="575394" cy="572977"/>
            <a:chOff x="0" y="0"/>
            <a:chExt cx="812800" cy="809386"/>
          </a:xfrm>
        </p:grpSpPr>
        <p:sp>
          <p:nvSpPr>
            <p:cNvPr id="25" name="Freeform 25"/>
            <p:cNvSpPr/>
            <p:nvPr/>
          </p:nvSpPr>
          <p:spPr>
            <a:xfrm>
              <a:off x="0" y="0"/>
              <a:ext cx="812800" cy="809386"/>
            </a:xfrm>
            <a:custGeom>
              <a:avLst/>
              <a:gdLst/>
              <a:ahLst/>
              <a:cxnLst/>
              <a:rect l="l" t="t" r="r" b="b"/>
              <a:pathLst>
                <a:path w="812800" h="809386">
                  <a:moveTo>
                    <a:pt x="406400" y="0"/>
                  </a:moveTo>
                  <a:cubicBezTo>
                    <a:pt x="181951" y="0"/>
                    <a:pt x="0" y="181187"/>
                    <a:pt x="0" y="404693"/>
                  </a:cubicBezTo>
                  <a:cubicBezTo>
                    <a:pt x="0" y="628198"/>
                    <a:pt x="181951" y="809386"/>
                    <a:pt x="406400" y="809386"/>
                  </a:cubicBezTo>
                  <a:cubicBezTo>
                    <a:pt x="630849" y="809386"/>
                    <a:pt x="812800" y="628198"/>
                    <a:pt x="812800" y="404693"/>
                  </a:cubicBezTo>
                  <a:cubicBezTo>
                    <a:pt x="812800" y="181187"/>
                    <a:pt x="630849" y="0"/>
                    <a:pt x="406400" y="0"/>
                  </a:cubicBezTo>
                  <a:close/>
                </a:path>
              </a:pathLst>
            </a:custGeom>
            <a:solidFill>
              <a:srgbClr val="8C52FF"/>
            </a:solidFill>
          </p:spPr>
          <p:txBody>
            <a:bodyPr/>
            <a:lstStyle/>
            <a:p>
              <a:endParaRPr lang="en-US"/>
            </a:p>
          </p:txBody>
        </p:sp>
        <p:sp>
          <p:nvSpPr>
            <p:cNvPr id="26" name="TextBox 26"/>
            <p:cNvSpPr txBox="1"/>
            <p:nvPr/>
          </p:nvSpPr>
          <p:spPr>
            <a:xfrm>
              <a:off x="76200" y="28255"/>
              <a:ext cx="660400" cy="705251"/>
            </a:xfrm>
            <a:prstGeom prst="rect">
              <a:avLst/>
            </a:prstGeom>
          </p:spPr>
          <p:txBody>
            <a:bodyPr lIns="50800" tIns="50800" rIns="50800" bIns="50800" rtlCol="0" anchor="ctr"/>
            <a:lstStyle/>
            <a:p>
              <a:pPr algn="ctr">
                <a:lnSpc>
                  <a:spcPts val="2940"/>
                </a:lnSpc>
              </a:pPr>
              <a:r>
                <a:rPr lang="en-US" sz="2100" spc="42">
                  <a:solidFill>
                    <a:srgbClr val="000000"/>
                  </a:solidFill>
                  <a:latin typeface="Open Sauce"/>
                  <a:ea typeface="Open Sauce"/>
                  <a:cs typeface="Open Sauce"/>
                  <a:sym typeface="Open Sauce"/>
                </a:rPr>
                <a:t>6</a:t>
              </a:r>
            </a:p>
          </p:txBody>
        </p:sp>
      </p:grpSp>
      <p:grpSp>
        <p:nvGrpSpPr>
          <p:cNvPr id="27" name="Group 27"/>
          <p:cNvGrpSpPr/>
          <p:nvPr/>
        </p:nvGrpSpPr>
        <p:grpSpPr>
          <a:xfrm>
            <a:off x="854100" y="3642153"/>
            <a:ext cx="4637005" cy="3593306"/>
            <a:chOff x="0" y="9525"/>
            <a:chExt cx="6182674" cy="4791075"/>
          </a:xfrm>
        </p:grpSpPr>
        <p:sp>
          <p:nvSpPr>
            <p:cNvPr id="28" name="TextBox 28"/>
            <p:cNvSpPr txBox="1"/>
            <p:nvPr/>
          </p:nvSpPr>
          <p:spPr>
            <a:xfrm>
              <a:off x="0" y="9525"/>
              <a:ext cx="6182674" cy="4791075"/>
            </a:xfrm>
            <a:prstGeom prst="rect">
              <a:avLst/>
            </a:prstGeom>
          </p:spPr>
          <p:txBody>
            <a:bodyPr lIns="0" tIns="0" rIns="0" bIns="0" rtlCol="0" anchor="t">
              <a:spAutoFit/>
            </a:bodyPr>
            <a:lstStyle/>
            <a:p>
              <a:pPr algn="l">
                <a:lnSpc>
                  <a:spcPts val="4090"/>
                </a:lnSpc>
              </a:pPr>
              <a:r>
                <a:rPr lang="en-US" sz="3408" spc="-136">
                  <a:solidFill>
                    <a:srgbClr val="000000"/>
                  </a:solidFill>
                  <a:latin typeface="Open Sauce"/>
                  <a:ea typeface="Open Sauce"/>
                  <a:cs typeface="Open Sauce"/>
                  <a:sym typeface="Open Sauce"/>
                </a:rPr>
                <a:t>1  - User </a:t>
              </a:r>
            </a:p>
            <a:p>
              <a:pPr algn="l">
                <a:lnSpc>
                  <a:spcPts val="4090"/>
                </a:lnSpc>
              </a:pPr>
              <a:r>
                <a:rPr lang="en-US" sz="3408" spc="-136">
                  <a:solidFill>
                    <a:srgbClr val="000000"/>
                  </a:solidFill>
                  <a:latin typeface="Open Sauce"/>
                  <a:ea typeface="Open Sauce"/>
                  <a:cs typeface="Open Sauce"/>
                  <a:sym typeface="Open Sauce"/>
                </a:rPr>
                <a:t>2 - Security </a:t>
              </a:r>
            </a:p>
            <a:p>
              <a:pPr algn="l">
                <a:lnSpc>
                  <a:spcPts val="4090"/>
                </a:lnSpc>
              </a:pPr>
              <a:r>
                <a:rPr lang="en-US" sz="3408" spc="-136">
                  <a:solidFill>
                    <a:srgbClr val="000000"/>
                  </a:solidFill>
                  <a:latin typeface="Open Sauce"/>
                  <a:ea typeface="Open Sauce"/>
                  <a:cs typeface="Open Sauce"/>
                  <a:sym typeface="Open Sauce"/>
                </a:rPr>
                <a:t>3 - Application </a:t>
              </a:r>
            </a:p>
            <a:p>
              <a:pPr algn="l">
                <a:lnSpc>
                  <a:spcPts val="4090"/>
                </a:lnSpc>
              </a:pPr>
              <a:r>
                <a:rPr lang="en-US" sz="3408" spc="-136">
                  <a:solidFill>
                    <a:srgbClr val="000000"/>
                  </a:solidFill>
                  <a:latin typeface="Open Sauce"/>
                  <a:ea typeface="Open Sauce"/>
                  <a:cs typeface="Open Sauce"/>
                  <a:sym typeface="Open Sauce"/>
                </a:rPr>
                <a:t>4 - Field</a:t>
              </a:r>
            </a:p>
            <a:p>
              <a:pPr algn="l">
                <a:lnSpc>
                  <a:spcPts val="4090"/>
                </a:lnSpc>
              </a:pPr>
              <a:r>
                <a:rPr lang="en-US" sz="3408" spc="-136">
                  <a:solidFill>
                    <a:srgbClr val="000000"/>
                  </a:solidFill>
                  <a:latin typeface="Open Sauce"/>
                  <a:ea typeface="Open Sauce"/>
                  <a:cs typeface="Open Sauce"/>
                  <a:sym typeface="Open Sauce"/>
                </a:rPr>
                <a:t>5 - Data Storage</a:t>
              </a:r>
            </a:p>
            <a:p>
              <a:pPr algn="l">
                <a:lnSpc>
                  <a:spcPts val="4090"/>
                </a:lnSpc>
              </a:pPr>
              <a:r>
                <a:rPr lang="en-US" sz="3408" spc="-136">
                  <a:solidFill>
                    <a:srgbClr val="000000"/>
                  </a:solidFill>
                  <a:latin typeface="Open Sauce"/>
                  <a:ea typeface="Open Sauce"/>
                  <a:cs typeface="Open Sauce"/>
                  <a:sym typeface="Open Sauce"/>
                </a:rPr>
                <a:t>6 - Communication</a:t>
              </a:r>
            </a:p>
            <a:p>
              <a:pPr algn="l">
                <a:lnSpc>
                  <a:spcPts val="4090"/>
                </a:lnSpc>
              </a:pPr>
              <a:r>
                <a:rPr lang="en-US" sz="3408" spc="-136">
                  <a:solidFill>
                    <a:srgbClr val="000000"/>
                  </a:solidFill>
                  <a:latin typeface="Open Sauce"/>
                  <a:ea typeface="Open Sauce"/>
                  <a:cs typeface="Open Sauce"/>
                  <a:sym typeface="Open Sauce"/>
                </a:rPr>
                <a:t>7 - Data Processing</a:t>
              </a:r>
            </a:p>
          </p:txBody>
        </p:sp>
        <p:sp>
          <p:nvSpPr>
            <p:cNvPr id="29" name="AutoShape 29"/>
            <p:cNvSpPr/>
            <p:nvPr/>
          </p:nvSpPr>
          <p:spPr>
            <a:xfrm>
              <a:off x="0" y="335581"/>
              <a:ext cx="6064950" cy="0"/>
            </a:xfrm>
            <a:prstGeom prst="line">
              <a:avLst/>
            </a:prstGeom>
            <a:ln w="558800" cap="flat">
              <a:solidFill>
                <a:srgbClr val="FF3131">
                  <a:alpha val="17647"/>
                </a:srgbClr>
              </a:solidFill>
              <a:prstDash val="solid"/>
              <a:headEnd type="none" w="sm" len="sm"/>
              <a:tailEnd type="none" w="sm" len="sm"/>
            </a:ln>
          </p:spPr>
          <p:txBody>
            <a:bodyPr/>
            <a:lstStyle/>
            <a:p>
              <a:endParaRPr lang="en-US"/>
            </a:p>
          </p:txBody>
        </p:sp>
        <p:sp>
          <p:nvSpPr>
            <p:cNvPr id="30" name="AutoShape 30"/>
            <p:cNvSpPr/>
            <p:nvPr/>
          </p:nvSpPr>
          <p:spPr>
            <a:xfrm flipV="1">
              <a:off x="0" y="995755"/>
              <a:ext cx="6064950" cy="20764"/>
            </a:xfrm>
            <a:prstGeom prst="line">
              <a:avLst/>
            </a:prstGeom>
            <a:ln w="558800" cap="flat">
              <a:solidFill>
                <a:srgbClr val="FF914D">
                  <a:alpha val="17647"/>
                </a:srgbClr>
              </a:solidFill>
              <a:prstDash val="solid"/>
              <a:headEnd type="none" w="sm" len="sm"/>
              <a:tailEnd type="none" w="sm" len="sm"/>
            </a:ln>
          </p:spPr>
          <p:txBody>
            <a:bodyPr/>
            <a:lstStyle/>
            <a:p>
              <a:endParaRPr lang="en-US"/>
            </a:p>
          </p:txBody>
        </p:sp>
        <p:sp>
          <p:nvSpPr>
            <p:cNvPr id="31" name="AutoShape 31"/>
            <p:cNvSpPr/>
            <p:nvPr/>
          </p:nvSpPr>
          <p:spPr>
            <a:xfrm>
              <a:off x="38865" y="1702318"/>
              <a:ext cx="6026085" cy="12235"/>
            </a:xfrm>
            <a:prstGeom prst="line">
              <a:avLst/>
            </a:prstGeom>
            <a:ln w="558800" cap="flat">
              <a:solidFill>
                <a:srgbClr val="FFDE59">
                  <a:alpha val="17647"/>
                </a:srgbClr>
              </a:solidFill>
              <a:prstDash val="solid"/>
              <a:headEnd type="none" w="sm" len="sm"/>
              <a:tailEnd type="none" w="sm" len="sm"/>
            </a:ln>
          </p:spPr>
          <p:txBody>
            <a:bodyPr/>
            <a:lstStyle/>
            <a:p>
              <a:endParaRPr lang="en-US"/>
            </a:p>
          </p:txBody>
        </p:sp>
        <p:sp>
          <p:nvSpPr>
            <p:cNvPr id="32" name="AutoShape 32"/>
            <p:cNvSpPr/>
            <p:nvPr/>
          </p:nvSpPr>
          <p:spPr>
            <a:xfrm flipV="1">
              <a:off x="19433" y="2384718"/>
              <a:ext cx="6045517" cy="3399"/>
            </a:xfrm>
            <a:prstGeom prst="line">
              <a:avLst/>
            </a:prstGeom>
            <a:ln w="558800" cap="flat">
              <a:solidFill>
                <a:srgbClr val="7ED957">
                  <a:alpha val="17647"/>
                </a:srgbClr>
              </a:solidFill>
              <a:prstDash val="solid"/>
              <a:headEnd type="none" w="sm" len="sm"/>
              <a:tailEnd type="none" w="sm" len="sm"/>
            </a:ln>
          </p:spPr>
          <p:txBody>
            <a:bodyPr/>
            <a:lstStyle/>
            <a:p>
              <a:endParaRPr lang="en-US"/>
            </a:p>
          </p:txBody>
        </p:sp>
        <p:sp>
          <p:nvSpPr>
            <p:cNvPr id="33" name="AutoShape 33"/>
            <p:cNvSpPr/>
            <p:nvPr/>
          </p:nvSpPr>
          <p:spPr>
            <a:xfrm>
              <a:off x="19433" y="3061684"/>
              <a:ext cx="6045517" cy="21057"/>
            </a:xfrm>
            <a:prstGeom prst="line">
              <a:avLst/>
            </a:prstGeom>
            <a:ln w="558800" cap="flat">
              <a:solidFill>
                <a:srgbClr val="0CC0DF">
                  <a:alpha val="17647"/>
                </a:srgbClr>
              </a:solidFill>
              <a:prstDash val="solid"/>
              <a:headEnd type="none" w="sm" len="sm"/>
              <a:tailEnd type="none" w="sm" len="sm"/>
            </a:ln>
          </p:spPr>
          <p:txBody>
            <a:bodyPr/>
            <a:lstStyle/>
            <a:p>
              <a:endParaRPr lang="en-US"/>
            </a:p>
          </p:txBody>
        </p:sp>
        <p:sp>
          <p:nvSpPr>
            <p:cNvPr id="34" name="AutoShape 34"/>
            <p:cNvSpPr/>
            <p:nvPr/>
          </p:nvSpPr>
          <p:spPr>
            <a:xfrm>
              <a:off x="38865" y="3734785"/>
              <a:ext cx="6026085" cy="0"/>
            </a:xfrm>
            <a:prstGeom prst="line">
              <a:avLst/>
            </a:prstGeom>
            <a:ln w="558800" cap="flat">
              <a:solidFill>
                <a:srgbClr val="8C52FF">
                  <a:alpha val="17647"/>
                </a:srgbClr>
              </a:solidFill>
              <a:prstDash val="solid"/>
              <a:headEnd type="none" w="sm" len="sm"/>
              <a:tailEnd type="none" w="sm" len="sm"/>
            </a:ln>
          </p:spPr>
          <p:txBody>
            <a:bodyPr/>
            <a:lstStyle/>
            <a:p>
              <a:endParaRPr lang="en-US"/>
            </a:p>
          </p:txBody>
        </p:sp>
        <p:sp>
          <p:nvSpPr>
            <p:cNvPr id="35" name="AutoShape 35"/>
            <p:cNvSpPr/>
            <p:nvPr/>
          </p:nvSpPr>
          <p:spPr>
            <a:xfrm>
              <a:off x="38865" y="4420584"/>
              <a:ext cx="6026085" cy="20761"/>
            </a:xfrm>
            <a:prstGeom prst="line">
              <a:avLst/>
            </a:prstGeom>
            <a:ln w="558800" cap="flat">
              <a:solidFill>
                <a:srgbClr val="E2A9F1">
                  <a:alpha val="17647"/>
                </a:srgbClr>
              </a:solidFill>
              <a:prstDash val="solid"/>
              <a:headEnd type="none" w="sm" len="sm"/>
              <a:tailEnd type="none" w="sm" len="sm"/>
            </a:ln>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583233" y="4996654"/>
            <a:ext cx="13034062" cy="3346371"/>
          </a:xfrm>
          <a:prstGeom prst="rect">
            <a:avLst/>
          </a:prstGeom>
        </p:spPr>
        <p:txBody>
          <a:bodyPr lIns="0" tIns="0" rIns="0" bIns="0" rtlCol="0" anchor="t">
            <a:spAutoFit/>
          </a:bodyPr>
          <a:lstStyle/>
          <a:p>
            <a:pPr algn="l">
              <a:lnSpc>
                <a:spcPts val="13839"/>
              </a:lnSpc>
            </a:pPr>
            <a:r>
              <a:rPr lang="en-US" sz="8649" b="1" spc="518">
                <a:solidFill>
                  <a:srgbClr val="000000"/>
                </a:solidFill>
                <a:latin typeface="Open Sauce Bold"/>
                <a:ea typeface="Open Sauce Bold"/>
                <a:cs typeface="Open Sauce Bold"/>
                <a:sym typeface="Open Sauce Bold"/>
              </a:rPr>
              <a:t>SYSTEM DESIGN </a:t>
            </a:r>
          </a:p>
          <a:p>
            <a:pPr algn="l">
              <a:lnSpc>
                <a:spcPts val="13839"/>
              </a:lnSpc>
            </a:pPr>
            <a:endParaRPr lang="en-US" sz="8649" b="1" spc="518">
              <a:solidFill>
                <a:srgbClr val="000000"/>
              </a:solidFill>
              <a:latin typeface="Open Sauce Bold"/>
              <a:ea typeface="Open Sauce Bold"/>
              <a:cs typeface="Open Sauce Bold"/>
              <a:sym typeface="Open Sauce Bold"/>
            </a:endParaRPr>
          </a:p>
        </p:txBody>
      </p:sp>
      <p:sp>
        <p:nvSpPr>
          <p:cNvPr id="3" name="TextBox 3"/>
          <p:cNvSpPr txBox="1"/>
          <p:nvPr/>
        </p:nvSpPr>
        <p:spPr>
          <a:xfrm>
            <a:off x="1583233" y="2503269"/>
            <a:ext cx="10452483" cy="1889177"/>
          </a:xfrm>
          <a:prstGeom prst="rect">
            <a:avLst/>
          </a:prstGeom>
        </p:spPr>
        <p:txBody>
          <a:bodyPr lIns="0" tIns="0" rIns="0" bIns="0" rtlCol="0" anchor="t">
            <a:spAutoFit/>
          </a:bodyPr>
          <a:lstStyle/>
          <a:p>
            <a:pPr algn="l">
              <a:lnSpc>
                <a:spcPts val="15816"/>
              </a:lnSpc>
            </a:pPr>
            <a:r>
              <a:rPr lang="en-US" sz="9885">
                <a:solidFill>
                  <a:srgbClr val="000000"/>
                </a:solidFill>
                <a:latin typeface="Ablation"/>
                <a:ea typeface="Ablation"/>
                <a:cs typeface="Ablation"/>
                <a:sym typeface="Ablation"/>
              </a:rPr>
              <a:t>3</a:t>
            </a:r>
          </a:p>
        </p:txBody>
      </p:sp>
      <p:sp>
        <p:nvSpPr>
          <p:cNvPr id="4" name="TextBox 4"/>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9</a:t>
            </a:r>
          </a:p>
        </p:txBody>
      </p:sp>
      <p:sp>
        <p:nvSpPr>
          <p:cNvPr id="5" name="AutoShape 5"/>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Freeform 2"/>
          <p:cNvSpPr/>
          <p:nvPr/>
        </p:nvSpPr>
        <p:spPr>
          <a:xfrm>
            <a:off x="5571115" y="393992"/>
            <a:ext cx="12371580" cy="8556248"/>
          </a:xfrm>
          <a:custGeom>
            <a:avLst/>
            <a:gdLst/>
            <a:ahLst/>
            <a:cxnLst/>
            <a:rect l="l" t="t" r="r" b="b"/>
            <a:pathLst>
              <a:path w="12371580" h="8556248">
                <a:moveTo>
                  <a:pt x="0" y="0"/>
                </a:moveTo>
                <a:lnTo>
                  <a:pt x="12371579" y="0"/>
                </a:lnTo>
                <a:lnTo>
                  <a:pt x="12371579" y="8556248"/>
                </a:lnTo>
                <a:lnTo>
                  <a:pt x="0" y="8556248"/>
                </a:lnTo>
                <a:lnTo>
                  <a:pt x="0" y="0"/>
                </a:lnTo>
                <a:close/>
              </a:path>
            </a:pathLst>
          </a:custGeom>
          <a:blipFill>
            <a:blip r:embed="rId3"/>
            <a:stretch>
              <a:fillRect t="-968" b="-968"/>
            </a:stretch>
          </a:blipFill>
          <a:ln w="38100" cap="rnd">
            <a:solidFill>
              <a:srgbClr val="000000"/>
            </a:solidFill>
            <a:prstDash val="solid"/>
            <a:round/>
          </a:ln>
        </p:spPr>
        <p:txBody>
          <a:bodyPr/>
          <a:lstStyle/>
          <a:p>
            <a:endParaRPr lang="en-US"/>
          </a:p>
        </p:txBody>
      </p:sp>
      <p:sp>
        <p:nvSpPr>
          <p:cNvPr id="3" name="TextBox 3"/>
          <p:cNvSpPr txBox="1"/>
          <p:nvPr/>
        </p:nvSpPr>
        <p:spPr>
          <a:xfrm>
            <a:off x="574357" y="542925"/>
            <a:ext cx="8850514"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Classes</a:t>
            </a:r>
          </a:p>
        </p:txBody>
      </p:sp>
      <p:sp>
        <p:nvSpPr>
          <p:cNvPr id="4" name="TextBox 4"/>
          <p:cNvSpPr txBox="1"/>
          <p:nvPr/>
        </p:nvSpPr>
        <p:spPr>
          <a:xfrm>
            <a:off x="574358" y="3189023"/>
            <a:ext cx="5682377" cy="2975712"/>
          </a:xfrm>
          <a:prstGeom prst="rect">
            <a:avLst/>
          </a:prstGeom>
        </p:spPr>
        <p:txBody>
          <a:bodyPr lIns="0" tIns="0" rIns="0" bIns="0" rtlCol="0" anchor="t">
            <a:spAutoFit/>
          </a:bodyPr>
          <a:lstStyle/>
          <a:p>
            <a:pPr algn="l">
              <a:lnSpc>
                <a:spcPts val="4090"/>
              </a:lnSpc>
            </a:pPr>
            <a:r>
              <a:rPr lang="en-US" sz="3408" spc="-136">
                <a:solidFill>
                  <a:srgbClr val="000000"/>
                </a:solidFill>
                <a:latin typeface="Open Sauce"/>
                <a:ea typeface="Open Sauce"/>
                <a:cs typeface="Open Sauce"/>
                <a:sym typeface="Open Sauce"/>
              </a:rPr>
              <a:t>Groups:</a:t>
            </a:r>
          </a:p>
          <a:p>
            <a:pPr marL="590876" lvl="1" indent="-295438" algn="l">
              <a:lnSpc>
                <a:spcPts val="5172"/>
              </a:lnSpc>
              <a:buFont typeface="Arial"/>
              <a:buChar char="•"/>
            </a:pPr>
            <a:r>
              <a:rPr lang="en-US" sz="2736" spc="-109">
                <a:solidFill>
                  <a:srgbClr val="000000"/>
                </a:solidFill>
                <a:latin typeface="Open Sauce"/>
                <a:ea typeface="Open Sauce"/>
                <a:cs typeface="Open Sauce"/>
                <a:sym typeface="Open Sauce"/>
              </a:rPr>
              <a:t>Users</a:t>
            </a:r>
          </a:p>
          <a:p>
            <a:pPr marL="590876" lvl="1" indent="-295438" algn="l">
              <a:lnSpc>
                <a:spcPts val="5172"/>
              </a:lnSpc>
              <a:buFont typeface="Arial"/>
              <a:buChar char="•"/>
            </a:pPr>
            <a:r>
              <a:rPr lang="en-US" sz="2736" spc="-109">
                <a:solidFill>
                  <a:srgbClr val="000000"/>
                </a:solidFill>
                <a:latin typeface="Open Sauce"/>
                <a:ea typeface="Open Sauce"/>
                <a:cs typeface="Open Sauce"/>
                <a:sym typeface="Open Sauce"/>
              </a:rPr>
              <a:t>Main Application</a:t>
            </a:r>
          </a:p>
          <a:p>
            <a:pPr marL="590876" lvl="1" indent="-295438" algn="l">
              <a:lnSpc>
                <a:spcPts val="5172"/>
              </a:lnSpc>
              <a:buFont typeface="Arial"/>
              <a:buChar char="•"/>
            </a:pPr>
            <a:r>
              <a:rPr lang="en-US" sz="2736" spc="-109">
                <a:solidFill>
                  <a:srgbClr val="000000"/>
                </a:solidFill>
                <a:latin typeface="Open Sauce"/>
                <a:ea typeface="Open Sauce"/>
                <a:cs typeface="Open Sauce"/>
                <a:sym typeface="Open Sauce"/>
              </a:rPr>
              <a:t>Data Handling Pipeline</a:t>
            </a:r>
          </a:p>
          <a:p>
            <a:pPr marL="590876" lvl="1" indent="-295438" algn="l">
              <a:lnSpc>
                <a:spcPts val="5172"/>
              </a:lnSpc>
              <a:buFont typeface="Arial"/>
              <a:buChar char="•"/>
            </a:pPr>
            <a:r>
              <a:rPr lang="en-US" sz="2736" spc="-109">
                <a:solidFill>
                  <a:srgbClr val="000000"/>
                </a:solidFill>
                <a:latin typeface="Open Sauce"/>
                <a:ea typeface="Open Sauce"/>
                <a:cs typeface="Open Sauce"/>
                <a:sym typeface="Open Sauce"/>
              </a:rPr>
              <a:t>Hazard Monitoring System</a:t>
            </a:r>
          </a:p>
        </p:txBody>
      </p:sp>
      <p:sp>
        <p:nvSpPr>
          <p:cNvPr id="5" name="TextBox 5"/>
          <p:cNvSpPr txBox="1"/>
          <p:nvPr/>
        </p:nvSpPr>
        <p:spPr>
          <a:xfrm>
            <a:off x="16619972" y="9210675"/>
            <a:ext cx="639328" cy="365694"/>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10</a:t>
            </a:r>
          </a:p>
        </p:txBody>
      </p:sp>
      <p:sp>
        <p:nvSpPr>
          <p:cNvPr id="6" name="AutoShape 6"/>
          <p:cNvSpPr/>
          <p:nvPr/>
        </p:nvSpPr>
        <p:spPr>
          <a:xfrm>
            <a:off x="838200" y="939352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11</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1824495" y="1718216"/>
            <a:ext cx="14639009" cy="7118218"/>
          </a:xfrm>
          <a:custGeom>
            <a:avLst/>
            <a:gdLst/>
            <a:ahLst/>
            <a:cxnLst/>
            <a:rect l="l" t="t" r="r" b="b"/>
            <a:pathLst>
              <a:path w="14639009" h="7118218">
                <a:moveTo>
                  <a:pt x="0" y="0"/>
                </a:moveTo>
                <a:lnTo>
                  <a:pt x="14639010" y="0"/>
                </a:lnTo>
                <a:lnTo>
                  <a:pt x="14639010" y="7118218"/>
                </a:lnTo>
                <a:lnTo>
                  <a:pt x="0" y="7118218"/>
                </a:lnTo>
                <a:lnTo>
                  <a:pt x="0" y="0"/>
                </a:lnTo>
                <a:close/>
              </a:path>
            </a:pathLst>
          </a:custGeom>
          <a:blipFill>
            <a:blip r:embed="rId3"/>
            <a:stretch>
              <a:fillRect/>
            </a:stretch>
          </a:blipFill>
          <a:ln w="38100" cap="rnd">
            <a:solidFill>
              <a:srgbClr val="000000"/>
            </a:solidFill>
            <a:prstDash val="solid"/>
            <a:round/>
          </a:ln>
        </p:spPr>
        <p:txBody>
          <a:bodyPr/>
          <a:lstStyle/>
          <a:p>
            <a:endParaRPr lang="en-US"/>
          </a:p>
        </p:txBody>
      </p:sp>
      <p:sp>
        <p:nvSpPr>
          <p:cNvPr id="5" name="TextBox 5"/>
          <p:cNvSpPr txBox="1"/>
          <p:nvPr/>
        </p:nvSpPr>
        <p:spPr>
          <a:xfrm>
            <a:off x="574358" y="542925"/>
            <a:ext cx="11303291"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UC-4: Recieve Data Alert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583233" y="4996654"/>
            <a:ext cx="13034062" cy="1620176"/>
          </a:xfrm>
          <a:prstGeom prst="rect">
            <a:avLst/>
          </a:prstGeom>
        </p:spPr>
        <p:txBody>
          <a:bodyPr lIns="0" tIns="0" rIns="0" bIns="0" rtlCol="0" anchor="t">
            <a:spAutoFit/>
          </a:bodyPr>
          <a:lstStyle/>
          <a:p>
            <a:pPr algn="l">
              <a:lnSpc>
                <a:spcPts val="13839"/>
              </a:lnSpc>
            </a:pPr>
            <a:r>
              <a:rPr lang="en-US" sz="8649" b="1" spc="518">
                <a:solidFill>
                  <a:srgbClr val="000000"/>
                </a:solidFill>
                <a:latin typeface="Open Sauce Bold"/>
                <a:ea typeface="Open Sauce Bold"/>
                <a:cs typeface="Open Sauce Bold"/>
                <a:sym typeface="Open Sauce Bold"/>
              </a:rPr>
              <a:t>OBJECT DESIGN</a:t>
            </a:r>
          </a:p>
        </p:txBody>
      </p:sp>
      <p:sp>
        <p:nvSpPr>
          <p:cNvPr id="3" name="TextBox 3"/>
          <p:cNvSpPr txBox="1"/>
          <p:nvPr/>
        </p:nvSpPr>
        <p:spPr>
          <a:xfrm>
            <a:off x="1583233" y="2503269"/>
            <a:ext cx="10452483" cy="1889449"/>
          </a:xfrm>
          <a:prstGeom prst="rect">
            <a:avLst/>
          </a:prstGeom>
        </p:spPr>
        <p:txBody>
          <a:bodyPr lIns="0" tIns="0" rIns="0" bIns="0" rtlCol="0" anchor="t">
            <a:spAutoFit/>
          </a:bodyPr>
          <a:lstStyle/>
          <a:p>
            <a:pPr algn="l">
              <a:lnSpc>
                <a:spcPts val="15816"/>
              </a:lnSpc>
            </a:pPr>
            <a:r>
              <a:rPr lang="en-US" sz="9885">
                <a:solidFill>
                  <a:srgbClr val="000000"/>
                </a:solidFill>
                <a:latin typeface="Ablation"/>
                <a:ea typeface="Ablation"/>
                <a:cs typeface="Ablation"/>
                <a:sym typeface="Ablation"/>
              </a:rPr>
              <a:t>4</a:t>
            </a:r>
          </a:p>
        </p:txBody>
      </p:sp>
      <p:sp>
        <p:nvSpPr>
          <p:cNvPr id="4" name="TextBox 4"/>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12</a:t>
            </a:r>
          </a:p>
        </p:txBody>
      </p:sp>
      <p:sp>
        <p:nvSpPr>
          <p:cNvPr id="5" name="AutoShape 5"/>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Freeform 2"/>
          <p:cNvSpPr/>
          <p:nvPr/>
        </p:nvSpPr>
        <p:spPr>
          <a:xfrm>
            <a:off x="2382195" y="2501465"/>
            <a:ext cx="13175330" cy="6484856"/>
          </a:xfrm>
          <a:custGeom>
            <a:avLst/>
            <a:gdLst/>
            <a:ahLst/>
            <a:cxnLst/>
            <a:rect l="l" t="t" r="r" b="b"/>
            <a:pathLst>
              <a:path w="13175330" h="6484856">
                <a:moveTo>
                  <a:pt x="0" y="0"/>
                </a:moveTo>
                <a:lnTo>
                  <a:pt x="13175330" y="0"/>
                </a:lnTo>
                <a:lnTo>
                  <a:pt x="13175330" y="6484856"/>
                </a:lnTo>
                <a:lnTo>
                  <a:pt x="0" y="6484856"/>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574358" y="542925"/>
            <a:ext cx="11303291"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UC-4 Continued</a:t>
            </a:r>
          </a:p>
        </p:txBody>
      </p:sp>
      <p:sp>
        <p:nvSpPr>
          <p:cNvPr id="4" name="TextBox 4"/>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13</a:t>
            </a:r>
          </a:p>
        </p:txBody>
      </p:sp>
      <p:sp>
        <p:nvSpPr>
          <p:cNvPr id="5" name="AutoShape 5"/>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14</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028700" y="2305845"/>
            <a:ext cx="13860669" cy="6686550"/>
          </a:xfrm>
          <a:prstGeom prst="rect">
            <a:avLst/>
          </a:prstGeom>
        </p:spPr>
        <p:txBody>
          <a:bodyPr lIns="0" tIns="0" rIns="0" bIns="0" rtlCol="0" anchor="t">
            <a:spAutoFit/>
          </a:bodyPr>
          <a:lstStyle/>
          <a:p>
            <a:pPr algn="l">
              <a:lnSpc>
                <a:spcPts val="4080"/>
              </a:lnSpc>
            </a:pPr>
            <a:r>
              <a:rPr lang="en-US" sz="3400" spc="-136">
                <a:solidFill>
                  <a:srgbClr val="000000"/>
                </a:solidFill>
                <a:latin typeface="Open Sauce"/>
                <a:ea typeface="Open Sauce"/>
                <a:cs typeface="Open Sauce"/>
                <a:sym typeface="Open Sauce"/>
              </a:rPr>
              <a:t>public class HazardMonitoringSystem {</a:t>
            </a:r>
          </a:p>
          <a:p>
            <a:pPr algn="l">
              <a:lnSpc>
                <a:spcPts val="4080"/>
              </a:lnSpc>
            </a:pPr>
            <a:r>
              <a:rPr lang="en-US" sz="3400" spc="-136">
                <a:solidFill>
                  <a:srgbClr val="000000"/>
                </a:solidFill>
                <a:latin typeface="Open Sauce"/>
                <a:ea typeface="Open Sauce"/>
                <a:cs typeface="Open Sauce"/>
                <a:sym typeface="Open Sauce"/>
              </a:rPr>
              <a:t>    private List&lt;SensorUnit&gt; activeSensors;</a:t>
            </a:r>
          </a:p>
          <a:p>
            <a:pPr algn="l">
              <a:lnSpc>
                <a:spcPts val="4080"/>
              </a:lnSpc>
              <a:spcBef>
                <a:spcPct val="0"/>
              </a:spcBef>
            </a:pPr>
            <a:r>
              <a:rPr lang="en-US" sz="3400" spc="-136">
                <a:solidFill>
                  <a:srgbClr val="000000"/>
                </a:solidFill>
                <a:latin typeface="Open Sauce"/>
                <a:ea typeface="Open Sauce"/>
                <a:cs typeface="Open Sauce"/>
                <a:sym typeface="Open Sauce"/>
              </a:rPr>
              <a:t>    private double alertThreshold;</a:t>
            </a:r>
          </a:p>
          <a:p>
            <a:pPr algn="l">
              <a:lnSpc>
                <a:spcPts val="4080"/>
              </a:lnSpc>
              <a:spcBef>
                <a:spcPct val="0"/>
              </a:spcBef>
            </a:pPr>
            <a:r>
              <a:rPr lang="en-US" sz="3400" spc="-136">
                <a:solidFill>
                  <a:srgbClr val="000000"/>
                </a:solidFill>
                <a:latin typeface="Open Sauce"/>
                <a:ea typeface="Open Sauce"/>
                <a:cs typeface="Open Sauce"/>
                <a:sym typeface="Open Sauce"/>
              </a:rPr>
              <a:t>    private List&lt;Observer&gt; observers;</a:t>
            </a:r>
          </a:p>
          <a:p>
            <a:pPr algn="ctr">
              <a:lnSpc>
                <a:spcPts val="4080"/>
              </a:lnSpc>
              <a:spcBef>
                <a:spcPct val="0"/>
              </a:spcBef>
            </a:pPr>
            <a:endParaRPr lang="en-US" sz="3400" spc="-136">
              <a:solidFill>
                <a:srgbClr val="000000"/>
              </a:solidFill>
              <a:latin typeface="Open Sauce"/>
              <a:ea typeface="Open Sauce"/>
              <a:cs typeface="Open Sauce"/>
              <a:sym typeface="Open Sauce"/>
            </a:endParaRPr>
          </a:p>
          <a:p>
            <a:pPr algn="l">
              <a:lnSpc>
                <a:spcPts val="4080"/>
              </a:lnSpc>
              <a:spcBef>
                <a:spcPct val="0"/>
              </a:spcBef>
            </a:pPr>
            <a:r>
              <a:rPr lang="en-US" sz="3400" spc="-136">
                <a:solidFill>
                  <a:srgbClr val="000000"/>
                </a:solidFill>
                <a:latin typeface="Open Sauce"/>
                <a:ea typeface="Open Sauce"/>
                <a:cs typeface="Open Sauce"/>
                <a:sym typeface="Open Sauce"/>
              </a:rPr>
              <a:t>    public void receiveReading(SensorUnit sensor, double reading)</a:t>
            </a:r>
          </a:p>
          <a:p>
            <a:pPr algn="l">
              <a:lnSpc>
                <a:spcPts val="4080"/>
              </a:lnSpc>
              <a:spcBef>
                <a:spcPct val="0"/>
              </a:spcBef>
            </a:pPr>
            <a:r>
              <a:rPr lang="en-US" sz="3400" spc="-136">
                <a:solidFill>
                  <a:srgbClr val="000000"/>
                </a:solidFill>
                <a:latin typeface="Open Sauce"/>
                <a:ea typeface="Open Sauce"/>
                <a:cs typeface="Open Sauce"/>
                <a:sym typeface="Open Sauce"/>
              </a:rPr>
              <a:t>    public void analyzeReading(double reading)</a:t>
            </a:r>
          </a:p>
          <a:p>
            <a:pPr algn="l">
              <a:lnSpc>
                <a:spcPts val="4080"/>
              </a:lnSpc>
              <a:spcBef>
                <a:spcPct val="0"/>
              </a:spcBef>
            </a:pPr>
            <a:r>
              <a:rPr lang="en-US" sz="3400" spc="-136">
                <a:solidFill>
                  <a:srgbClr val="000000"/>
                </a:solidFill>
                <a:latin typeface="Open Sauce"/>
                <a:ea typeface="Open Sauce"/>
                <a:cs typeface="Open Sauce"/>
                <a:sym typeface="Open Sauce"/>
              </a:rPr>
              <a:t>    public HazardAlert generateAlert(String location, String hazardType)</a:t>
            </a:r>
          </a:p>
          <a:p>
            <a:pPr algn="l">
              <a:lnSpc>
                <a:spcPts val="4080"/>
              </a:lnSpc>
              <a:spcBef>
                <a:spcPct val="0"/>
              </a:spcBef>
            </a:pPr>
            <a:r>
              <a:rPr lang="en-US" sz="3400" spc="-136">
                <a:solidFill>
                  <a:srgbClr val="000000"/>
                </a:solidFill>
                <a:latin typeface="Open Sauce"/>
                <a:ea typeface="Open Sauce"/>
                <a:cs typeface="Open Sauce"/>
                <a:sym typeface="Open Sauce"/>
              </a:rPr>
              <a:t>    </a:t>
            </a:r>
            <a:r>
              <a:rPr lang="en-US" sz="3400" u="sng" spc="-136">
                <a:solidFill>
                  <a:srgbClr val="000000"/>
                </a:solidFill>
                <a:latin typeface="Open Sauce"/>
                <a:ea typeface="Open Sauce"/>
                <a:cs typeface="Open Sauce"/>
                <a:sym typeface="Open Sauce"/>
              </a:rPr>
              <a:t>public void registerObserver(Observer observer)</a:t>
            </a:r>
          </a:p>
          <a:p>
            <a:pPr algn="l">
              <a:lnSpc>
                <a:spcPts val="4080"/>
              </a:lnSpc>
              <a:spcBef>
                <a:spcPct val="0"/>
              </a:spcBef>
            </a:pPr>
            <a:r>
              <a:rPr lang="en-US" sz="3400" spc="-136">
                <a:solidFill>
                  <a:srgbClr val="000000"/>
                </a:solidFill>
                <a:latin typeface="Open Sauce"/>
                <a:ea typeface="Open Sauce"/>
                <a:cs typeface="Open Sauce"/>
                <a:sym typeface="Open Sauce"/>
              </a:rPr>
              <a:t>    </a:t>
            </a:r>
            <a:r>
              <a:rPr lang="en-US" sz="3400" u="sng" spc="-136">
                <a:solidFill>
                  <a:srgbClr val="000000"/>
                </a:solidFill>
                <a:latin typeface="Open Sauce"/>
                <a:ea typeface="Open Sauce"/>
                <a:cs typeface="Open Sauce"/>
                <a:sym typeface="Open Sauce"/>
              </a:rPr>
              <a:t>public void removeObserver(Observer observer) </a:t>
            </a:r>
          </a:p>
          <a:p>
            <a:pPr algn="l">
              <a:lnSpc>
                <a:spcPts val="4080"/>
              </a:lnSpc>
              <a:spcBef>
                <a:spcPct val="0"/>
              </a:spcBef>
            </a:pPr>
            <a:r>
              <a:rPr lang="en-US" sz="3400" spc="-136">
                <a:solidFill>
                  <a:srgbClr val="000000"/>
                </a:solidFill>
                <a:latin typeface="Open Sauce"/>
                <a:ea typeface="Open Sauce"/>
                <a:cs typeface="Open Sauce"/>
                <a:sym typeface="Open Sauce"/>
              </a:rPr>
              <a:t>    </a:t>
            </a:r>
            <a:r>
              <a:rPr lang="en-US" sz="3400" u="sng" spc="-136">
                <a:solidFill>
                  <a:srgbClr val="000000"/>
                </a:solidFill>
                <a:latin typeface="Open Sauce"/>
                <a:ea typeface="Open Sauce"/>
                <a:cs typeface="Open Sauce"/>
                <a:sym typeface="Open Sauce"/>
              </a:rPr>
              <a:t>public void notifyObservers(HazardAlert alert) </a:t>
            </a:r>
          </a:p>
          <a:p>
            <a:pPr algn="l">
              <a:lnSpc>
                <a:spcPts val="4080"/>
              </a:lnSpc>
              <a:spcBef>
                <a:spcPct val="0"/>
              </a:spcBef>
            </a:pPr>
            <a:r>
              <a:rPr lang="en-US" sz="3400" spc="-136">
                <a:solidFill>
                  <a:srgbClr val="000000"/>
                </a:solidFill>
                <a:latin typeface="Open Sauce"/>
                <a:ea typeface="Open Sauce"/>
                <a:cs typeface="Open Sauce"/>
                <a:sym typeface="Open Sauce"/>
              </a:rPr>
              <a:t>}</a:t>
            </a:r>
          </a:p>
          <a:p>
            <a:pPr algn="ctr">
              <a:lnSpc>
                <a:spcPts val="4080"/>
              </a:lnSpc>
              <a:spcBef>
                <a:spcPct val="0"/>
              </a:spcBef>
            </a:pPr>
            <a:endParaRPr lang="en-US" sz="3400" spc="-136">
              <a:solidFill>
                <a:srgbClr val="000000"/>
              </a:solidFill>
              <a:latin typeface="Open Sauce"/>
              <a:ea typeface="Open Sauce"/>
              <a:cs typeface="Open Sauce"/>
              <a:sym typeface="Open Sauce"/>
            </a:endParaRPr>
          </a:p>
        </p:txBody>
      </p:sp>
      <p:sp>
        <p:nvSpPr>
          <p:cNvPr id="5" name="TextBox 5"/>
          <p:cNvSpPr txBox="1"/>
          <p:nvPr/>
        </p:nvSpPr>
        <p:spPr>
          <a:xfrm>
            <a:off x="0" y="605790"/>
            <a:ext cx="12598570" cy="918166"/>
          </a:xfrm>
          <a:prstGeom prst="rect">
            <a:avLst/>
          </a:prstGeom>
        </p:spPr>
        <p:txBody>
          <a:bodyPr lIns="0" tIns="0" rIns="0" bIns="0" rtlCol="0" anchor="t">
            <a:spAutoFit/>
          </a:bodyPr>
          <a:lstStyle/>
          <a:p>
            <a:pPr algn="ctr">
              <a:lnSpc>
                <a:spcPts val="7506"/>
              </a:lnSpc>
              <a:spcBef>
                <a:spcPct val="0"/>
              </a:spcBef>
            </a:pPr>
            <a:r>
              <a:rPr lang="en-US" sz="5361" b="1" spc="107">
                <a:solidFill>
                  <a:srgbClr val="000000"/>
                </a:solidFill>
                <a:latin typeface="Open Sauce Bold"/>
                <a:ea typeface="Open Sauce Bold"/>
                <a:cs typeface="Open Sauce Bold"/>
                <a:sym typeface="Open Sauce Bold"/>
              </a:rPr>
              <a:t>Example Code – For Next Group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583233" y="4996654"/>
            <a:ext cx="13034062" cy="1620176"/>
          </a:xfrm>
          <a:prstGeom prst="rect">
            <a:avLst/>
          </a:prstGeom>
        </p:spPr>
        <p:txBody>
          <a:bodyPr lIns="0" tIns="0" rIns="0" bIns="0" rtlCol="0" anchor="t">
            <a:spAutoFit/>
          </a:bodyPr>
          <a:lstStyle/>
          <a:p>
            <a:pPr algn="l">
              <a:lnSpc>
                <a:spcPts val="13839"/>
              </a:lnSpc>
            </a:pPr>
            <a:r>
              <a:rPr lang="en-US" sz="8649" b="1" spc="518" dirty="0">
                <a:solidFill>
                  <a:srgbClr val="000000"/>
                </a:solidFill>
                <a:latin typeface="Open Sauce Bold"/>
                <a:ea typeface="Open Sauce Bold"/>
                <a:cs typeface="Open Sauce Bold"/>
                <a:sym typeface="Open Sauce Bold"/>
              </a:rPr>
              <a:t>CONCLUSION</a:t>
            </a:r>
          </a:p>
        </p:txBody>
      </p:sp>
      <p:sp>
        <p:nvSpPr>
          <p:cNvPr id="3" name="TextBox 3"/>
          <p:cNvSpPr txBox="1"/>
          <p:nvPr/>
        </p:nvSpPr>
        <p:spPr>
          <a:xfrm>
            <a:off x="1583233" y="2503269"/>
            <a:ext cx="10452483" cy="1889177"/>
          </a:xfrm>
          <a:prstGeom prst="rect">
            <a:avLst/>
          </a:prstGeom>
        </p:spPr>
        <p:txBody>
          <a:bodyPr lIns="0" tIns="0" rIns="0" bIns="0" rtlCol="0" anchor="t">
            <a:spAutoFit/>
          </a:bodyPr>
          <a:lstStyle/>
          <a:p>
            <a:pPr algn="l">
              <a:lnSpc>
                <a:spcPts val="15816"/>
              </a:lnSpc>
            </a:pPr>
            <a:r>
              <a:rPr lang="en-US" sz="9885">
                <a:solidFill>
                  <a:srgbClr val="000000"/>
                </a:solidFill>
                <a:latin typeface="Ablation"/>
                <a:ea typeface="Ablation"/>
                <a:cs typeface="Ablation"/>
                <a:sym typeface="Ablation"/>
              </a:rPr>
              <a:t>5</a:t>
            </a:r>
          </a:p>
        </p:txBody>
      </p:sp>
      <p:sp>
        <p:nvSpPr>
          <p:cNvPr id="4" name="TextBox 4"/>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15</a:t>
            </a:r>
          </a:p>
        </p:txBody>
      </p:sp>
      <p:sp>
        <p:nvSpPr>
          <p:cNvPr id="5" name="AutoShape 5"/>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16</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8471384" y="6159769"/>
            <a:ext cx="2555996" cy="2298465"/>
          </a:xfrm>
          <a:custGeom>
            <a:avLst/>
            <a:gdLst/>
            <a:ahLst/>
            <a:cxnLst/>
            <a:rect l="l" t="t" r="r" b="b"/>
            <a:pathLst>
              <a:path w="2555996" h="2298465">
                <a:moveTo>
                  <a:pt x="0" y="0"/>
                </a:moveTo>
                <a:lnTo>
                  <a:pt x="2555996" y="0"/>
                </a:lnTo>
                <a:lnTo>
                  <a:pt x="2555996" y="2298465"/>
                </a:lnTo>
                <a:lnTo>
                  <a:pt x="0" y="2298465"/>
                </a:lnTo>
                <a:lnTo>
                  <a:pt x="0" y="0"/>
                </a:lnTo>
                <a:close/>
              </a:path>
            </a:pathLst>
          </a:custGeom>
          <a:blipFill>
            <a:blip r:embed="rId3">
              <a:alphaModFix amt="48000"/>
            </a:blip>
            <a:stretch>
              <a:fillRect l="-68990" t="-34558" r="-71868" b="-16104"/>
            </a:stretch>
          </a:blipFill>
        </p:spPr>
        <p:txBody>
          <a:bodyPr/>
          <a:lstStyle/>
          <a:p>
            <a:endParaRPr lang="en-US"/>
          </a:p>
        </p:txBody>
      </p:sp>
      <p:sp>
        <p:nvSpPr>
          <p:cNvPr id="5" name="Freeform 5"/>
          <p:cNvSpPr/>
          <p:nvPr/>
        </p:nvSpPr>
        <p:spPr>
          <a:xfrm>
            <a:off x="12692299" y="4637598"/>
            <a:ext cx="2671403" cy="2671403"/>
          </a:xfrm>
          <a:custGeom>
            <a:avLst/>
            <a:gdLst/>
            <a:ahLst/>
            <a:cxnLst/>
            <a:rect l="l" t="t" r="r" b="b"/>
            <a:pathLst>
              <a:path w="2671403" h="2671403">
                <a:moveTo>
                  <a:pt x="0" y="0"/>
                </a:moveTo>
                <a:lnTo>
                  <a:pt x="2671404" y="0"/>
                </a:lnTo>
                <a:lnTo>
                  <a:pt x="2671404" y="2671404"/>
                </a:lnTo>
                <a:lnTo>
                  <a:pt x="0" y="2671404"/>
                </a:lnTo>
                <a:lnTo>
                  <a:pt x="0" y="0"/>
                </a:lnTo>
                <a:close/>
              </a:path>
            </a:pathLst>
          </a:custGeom>
          <a:blipFill>
            <a:blip r:embed="rId4">
              <a:alphaModFix amt="48000"/>
            </a:blip>
            <a:stretch>
              <a:fillRect/>
            </a:stretch>
          </a:blipFill>
        </p:spPr>
        <p:txBody>
          <a:bodyPr/>
          <a:lstStyle/>
          <a:p>
            <a:endParaRPr lang="en-US"/>
          </a:p>
        </p:txBody>
      </p:sp>
      <p:sp>
        <p:nvSpPr>
          <p:cNvPr id="6" name="Freeform 6"/>
          <p:cNvSpPr/>
          <p:nvPr/>
        </p:nvSpPr>
        <p:spPr>
          <a:xfrm>
            <a:off x="8143773" y="1646763"/>
            <a:ext cx="1112576" cy="1642179"/>
          </a:xfrm>
          <a:custGeom>
            <a:avLst/>
            <a:gdLst/>
            <a:ahLst/>
            <a:cxnLst/>
            <a:rect l="l" t="t" r="r" b="b"/>
            <a:pathLst>
              <a:path w="1112576" h="1642179">
                <a:moveTo>
                  <a:pt x="0" y="0"/>
                </a:moveTo>
                <a:lnTo>
                  <a:pt x="1112576" y="0"/>
                </a:lnTo>
                <a:lnTo>
                  <a:pt x="1112576" y="1642179"/>
                </a:lnTo>
                <a:lnTo>
                  <a:pt x="0" y="1642179"/>
                </a:lnTo>
                <a:lnTo>
                  <a:pt x="0" y="0"/>
                </a:lnTo>
                <a:close/>
              </a:path>
            </a:pathLst>
          </a:custGeom>
          <a:blipFill>
            <a:blip r:embed="rId5">
              <a:alphaModFix amt="48000"/>
            </a:blip>
            <a:stretch>
              <a:fillRect/>
            </a:stretch>
          </a:blipFill>
        </p:spPr>
        <p:txBody>
          <a:bodyPr/>
          <a:lstStyle/>
          <a:p>
            <a:endParaRPr lang="en-US"/>
          </a:p>
        </p:txBody>
      </p:sp>
      <p:sp>
        <p:nvSpPr>
          <p:cNvPr id="7" name="Freeform 7"/>
          <p:cNvSpPr/>
          <p:nvPr/>
        </p:nvSpPr>
        <p:spPr>
          <a:xfrm>
            <a:off x="11629135" y="1563199"/>
            <a:ext cx="2126329" cy="2403129"/>
          </a:xfrm>
          <a:custGeom>
            <a:avLst/>
            <a:gdLst/>
            <a:ahLst/>
            <a:cxnLst/>
            <a:rect l="l" t="t" r="r" b="b"/>
            <a:pathLst>
              <a:path w="2126329" h="2403129">
                <a:moveTo>
                  <a:pt x="0" y="0"/>
                </a:moveTo>
                <a:lnTo>
                  <a:pt x="2126329" y="0"/>
                </a:lnTo>
                <a:lnTo>
                  <a:pt x="2126329" y="2403129"/>
                </a:lnTo>
                <a:lnTo>
                  <a:pt x="0" y="2403129"/>
                </a:lnTo>
                <a:lnTo>
                  <a:pt x="0" y="0"/>
                </a:lnTo>
                <a:close/>
              </a:path>
            </a:pathLst>
          </a:custGeom>
          <a:blipFill>
            <a:blip r:embed="rId6">
              <a:alphaModFix amt="48000"/>
            </a:blip>
            <a:stretch>
              <a:fillRect l="-91684" t="-30726" r="-91218" b="-10076"/>
            </a:stretch>
          </a:blipFill>
        </p:spPr>
        <p:txBody>
          <a:bodyPr/>
          <a:lstStyle/>
          <a:p>
            <a:endParaRPr lang="en-US"/>
          </a:p>
        </p:txBody>
      </p:sp>
      <p:sp>
        <p:nvSpPr>
          <p:cNvPr id="8" name="TextBox 8"/>
          <p:cNvSpPr txBox="1"/>
          <p:nvPr/>
        </p:nvSpPr>
        <p:spPr>
          <a:xfrm>
            <a:off x="933450" y="2565019"/>
            <a:ext cx="6884223" cy="4125901"/>
          </a:xfrm>
          <a:prstGeom prst="rect">
            <a:avLst/>
          </a:prstGeom>
        </p:spPr>
        <p:txBody>
          <a:bodyPr lIns="0" tIns="0" rIns="0" bIns="0" rtlCol="0" anchor="t">
            <a:spAutoFit/>
          </a:bodyPr>
          <a:lstStyle/>
          <a:p>
            <a:pPr marL="582928" lvl="1" indent="-291464" algn="l">
              <a:lnSpc>
                <a:spcPts val="6749"/>
              </a:lnSpc>
              <a:buFont typeface="Arial"/>
              <a:buChar char="•"/>
            </a:pPr>
            <a:r>
              <a:rPr lang="en-US" sz="2699" spc="161">
                <a:solidFill>
                  <a:srgbClr val="000000"/>
                </a:solidFill>
                <a:latin typeface="Open Sauce"/>
                <a:ea typeface="Open Sauce"/>
                <a:cs typeface="Open Sauce"/>
                <a:sym typeface="Open Sauce"/>
              </a:rPr>
              <a:t>Access to accurate utility data</a:t>
            </a:r>
          </a:p>
          <a:p>
            <a:pPr marL="582928" lvl="1" indent="-291464" algn="l">
              <a:lnSpc>
                <a:spcPts val="6749"/>
              </a:lnSpc>
              <a:buFont typeface="Arial"/>
              <a:buChar char="•"/>
            </a:pPr>
            <a:r>
              <a:rPr lang="en-US" sz="2699" spc="161">
                <a:solidFill>
                  <a:srgbClr val="000000"/>
                </a:solidFill>
                <a:latin typeface="Open Sauce"/>
                <a:ea typeface="Open Sauce"/>
                <a:cs typeface="Open Sauce"/>
                <a:sym typeface="Open Sauce"/>
              </a:rPr>
              <a:t>Data Standardization </a:t>
            </a:r>
          </a:p>
          <a:p>
            <a:pPr marL="582928" lvl="1" indent="-291464" algn="l">
              <a:lnSpc>
                <a:spcPts val="6749"/>
              </a:lnSpc>
              <a:buFont typeface="Arial"/>
              <a:buChar char="•"/>
            </a:pPr>
            <a:r>
              <a:rPr lang="en-US" sz="2699" spc="161">
                <a:solidFill>
                  <a:srgbClr val="000000"/>
                </a:solidFill>
                <a:latin typeface="Open Sauce"/>
                <a:ea typeface="Open Sauce"/>
                <a:cs typeface="Open Sauce"/>
                <a:sym typeface="Open Sauce"/>
              </a:rPr>
              <a:t>AR Inaccuracies</a:t>
            </a:r>
          </a:p>
          <a:p>
            <a:pPr marL="582928" lvl="1" indent="-291464" algn="l">
              <a:lnSpc>
                <a:spcPts val="6749"/>
              </a:lnSpc>
              <a:buFont typeface="Arial"/>
              <a:buChar char="•"/>
            </a:pPr>
            <a:r>
              <a:rPr lang="en-US" sz="2699" spc="161">
                <a:solidFill>
                  <a:srgbClr val="000000"/>
                </a:solidFill>
                <a:latin typeface="Open Sauce"/>
                <a:ea typeface="Open Sauce"/>
                <a:cs typeface="Open Sauce"/>
                <a:sym typeface="Open Sauce"/>
              </a:rPr>
              <a:t>Legal Liabilty</a:t>
            </a:r>
          </a:p>
          <a:p>
            <a:pPr marL="582928" lvl="1" indent="-291464" algn="l">
              <a:lnSpc>
                <a:spcPts val="6749"/>
              </a:lnSpc>
              <a:buFont typeface="Arial"/>
              <a:buChar char="•"/>
            </a:pPr>
            <a:r>
              <a:rPr lang="en-US" sz="2699">
                <a:solidFill>
                  <a:srgbClr val="000000"/>
                </a:solidFill>
                <a:latin typeface="Open Sauce"/>
                <a:ea typeface="Open Sauce"/>
                <a:cs typeface="Open Sauce"/>
                <a:sym typeface="Open Sauce"/>
              </a:rPr>
              <a:t>Crowdsourcing Validation</a:t>
            </a:r>
          </a:p>
        </p:txBody>
      </p:sp>
      <p:sp>
        <p:nvSpPr>
          <p:cNvPr id="9" name="TextBox 9"/>
          <p:cNvSpPr txBox="1"/>
          <p:nvPr/>
        </p:nvSpPr>
        <p:spPr>
          <a:xfrm>
            <a:off x="574358" y="542925"/>
            <a:ext cx="11303291"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Open Issues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40"/>
            <a:ext cx="639328" cy="365760"/>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17</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6576891" y="543941"/>
            <a:ext cx="3038869" cy="3418728"/>
          </a:xfrm>
          <a:custGeom>
            <a:avLst/>
            <a:gdLst/>
            <a:ahLst/>
            <a:cxnLst/>
            <a:rect l="l" t="t" r="r" b="b"/>
            <a:pathLst>
              <a:path w="3038869" h="3418728">
                <a:moveTo>
                  <a:pt x="0" y="0"/>
                </a:moveTo>
                <a:lnTo>
                  <a:pt x="3038869" y="0"/>
                </a:lnTo>
                <a:lnTo>
                  <a:pt x="3038869" y="3418728"/>
                </a:lnTo>
                <a:lnTo>
                  <a:pt x="0" y="3418728"/>
                </a:lnTo>
                <a:lnTo>
                  <a:pt x="0" y="0"/>
                </a:lnTo>
                <a:close/>
              </a:path>
            </a:pathLst>
          </a:custGeom>
          <a:blipFill>
            <a:blip r:embed="rId3">
              <a:alphaModFix amt="48000"/>
            </a:blip>
            <a:stretch>
              <a:fillRect l="-12817" t="-6308" r="-14860" b="-15912"/>
            </a:stretch>
          </a:blipFill>
        </p:spPr>
        <p:txBody>
          <a:bodyPr/>
          <a:lstStyle/>
          <a:p>
            <a:endParaRPr lang="en-US"/>
          </a:p>
        </p:txBody>
      </p:sp>
      <p:sp>
        <p:nvSpPr>
          <p:cNvPr id="5" name="Freeform 5"/>
          <p:cNvSpPr/>
          <p:nvPr/>
        </p:nvSpPr>
        <p:spPr>
          <a:xfrm>
            <a:off x="6993383" y="5630269"/>
            <a:ext cx="3930511" cy="2623616"/>
          </a:xfrm>
          <a:custGeom>
            <a:avLst/>
            <a:gdLst/>
            <a:ahLst/>
            <a:cxnLst/>
            <a:rect l="l" t="t" r="r" b="b"/>
            <a:pathLst>
              <a:path w="3930511" h="2623616">
                <a:moveTo>
                  <a:pt x="0" y="0"/>
                </a:moveTo>
                <a:lnTo>
                  <a:pt x="3930511" y="0"/>
                </a:lnTo>
                <a:lnTo>
                  <a:pt x="3930511" y="2623616"/>
                </a:lnTo>
                <a:lnTo>
                  <a:pt x="0" y="2623616"/>
                </a:lnTo>
                <a:lnTo>
                  <a:pt x="0" y="0"/>
                </a:lnTo>
                <a:close/>
              </a:path>
            </a:pathLst>
          </a:custGeom>
          <a:blipFill>
            <a:blip r:embed="rId4"/>
            <a:stretch>
              <a:fillRect/>
            </a:stretch>
          </a:blipFill>
        </p:spPr>
        <p:txBody>
          <a:bodyPr/>
          <a:lstStyle/>
          <a:p>
            <a:endParaRPr lang="en-US"/>
          </a:p>
        </p:txBody>
      </p:sp>
      <p:sp>
        <p:nvSpPr>
          <p:cNvPr id="6" name="Freeform 6"/>
          <p:cNvSpPr/>
          <p:nvPr/>
        </p:nvSpPr>
        <p:spPr>
          <a:xfrm>
            <a:off x="11654628" y="5364226"/>
            <a:ext cx="2889659" cy="2889659"/>
          </a:xfrm>
          <a:custGeom>
            <a:avLst/>
            <a:gdLst/>
            <a:ahLst/>
            <a:cxnLst/>
            <a:rect l="l" t="t" r="r" b="b"/>
            <a:pathLst>
              <a:path w="2889659" h="2889659">
                <a:moveTo>
                  <a:pt x="0" y="0"/>
                </a:moveTo>
                <a:lnTo>
                  <a:pt x="2889659" y="0"/>
                </a:lnTo>
                <a:lnTo>
                  <a:pt x="2889659" y="2889659"/>
                </a:lnTo>
                <a:lnTo>
                  <a:pt x="0" y="2889659"/>
                </a:lnTo>
                <a:lnTo>
                  <a:pt x="0" y="0"/>
                </a:lnTo>
                <a:close/>
              </a:path>
            </a:pathLst>
          </a:custGeom>
          <a:blipFill>
            <a:blip r:embed="rId5"/>
            <a:stretch>
              <a:fillRect/>
            </a:stretch>
          </a:blipFill>
        </p:spPr>
        <p:txBody>
          <a:bodyPr/>
          <a:lstStyle/>
          <a:p>
            <a:endParaRPr lang="en-US"/>
          </a:p>
        </p:txBody>
      </p:sp>
      <p:sp>
        <p:nvSpPr>
          <p:cNvPr id="7" name="Freeform 7"/>
          <p:cNvSpPr/>
          <p:nvPr/>
        </p:nvSpPr>
        <p:spPr>
          <a:xfrm>
            <a:off x="12826987" y="1526495"/>
            <a:ext cx="4590605" cy="3058491"/>
          </a:xfrm>
          <a:custGeom>
            <a:avLst/>
            <a:gdLst/>
            <a:ahLst/>
            <a:cxnLst/>
            <a:rect l="l" t="t" r="r" b="b"/>
            <a:pathLst>
              <a:path w="4590605" h="3058491">
                <a:moveTo>
                  <a:pt x="0" y="0"/>
                </a:moveTo>
                <a:lnTo>
                  <a:pt x="4590605" y="0"/>
                </a:lnTo>
                <a:lnTo>
                  <a:pt x="4590605" y="3058490"/>
                </a:lnTo>
                <a:lnTo>
                  <a:pt x="0" y="3058490"/>
                </a:lnTo>
                <a:lnTo>
                  <a:pt x="0" y="0"/>
                </a:lnTo>
                <a:close/>
              </a:path>
            </a:pathLst>
          </a:custGeom>
          <a:blipFill>
            <a:blip r:embed="rId6">
              <a:alphaModFix amt="51000"/>
            </a:blip>
            <a:stretch>
              <a:fillRect/>
            </a:stretch>
          </a:blipFill>
        </p:spPr>
        <p:txBody>
          <a:bodyPr/>
          <a:lstStyle/>
          <a:p>
            <a:endParaRPr lang="en-US"/>
          </a:p>
        </p:txBody>
      </p:sp>
      <p:sp>
        <p:nvSpPr>
          <p:cNvPr id="8" name="TextBox 8"/>
          <p:cNvSpPr txBox="1"/>
          <p:nvPr/>
        </p:nvSpPr>
        <p:spPr>
          <a:xfrm>
            <a:off x="1028700" y="3203006"/>
            <a:ext cx="4425257" cy="2430583"/>
          </a:xfrm>
          <a:prstGeom prst="rect">
            <a:avLst/>
          </a:prstGeom>
        </p:spPr>
        <p:txBody>
          <a:bodyPr lIns="0" tIns="0" rIns="0" bIns="0" rtlCol="0" anchor="t">
            <a:spAutoFit/>
          </a:bodyPr>
          <a:lstStyle/>
          <a:p>
            <a:pPr marL="582928" lvl="1" indent="-291464" algn="l">
              <a:lnSpc>
                <a:spcPts val="6749"/>
              </a:lnSpc>
              <a:buFont typeface="Arial"/>
              <a:buChar char="•"/>
            </a:pPr>
            <a:r>
              <a:rPr lang="en-US" sz="2699" spc="161">
                <a:solidFill>
                  <a:srgbClr val="000000"/>
                </a:solidFill>
                <a:latin typeface="Open Sauce"/>
                <a:ea typeface="Open Sauce"/>
                <a:cs typeface="Open Sauce"/>
                <a:sym typeface="Open Sauce"/>
              </a:rPr>
              <a:t>Inaccurate data</a:t>
            </a:r>
          </a:p>
          <a:p>
            <a:pPr marL="582928" lvl="1" indent="-291464" algn="l">
              <a:lnSpc>
                <a:spcPts val="6749"/>
              </a:lnSpc>
              <a:buFont typeface="Arial"/>
              <a:buChar char="•"/>
            </a:pPr>
            <a:r>
              <a:rPr lang="en-US" sz="2699" spc="161">
                <a:solidFill>
                  <a:srgbClr val="000000"/>
                </a:solidFill>
                <a:latin typeface="Open Sauce"/>
                <a:ea typeface="Open Sauce"/>
                <a:cs typeface="Open Sauce"/>
                <a:sym typeface="Open Sauce"/>
              </a:rPr>
              <a:t>Senor malfunctions</a:t>
            </a:r>
          </a:p>
          <a:p>
            <a:pPr marL="582928" lvl="1" indent="-291464" algn="l">
              <a:lnSpc>
                <a:spcPts val="6749"/>
              </a:lnSpc>
              <a:buFont typeface="Arial"/>
              <a:buChar char="•"/>
            </a:pPr>
            <a:r>
              <a:rPr lang="en-US" sz="2699">
                <a:solidFill>
                  <a:srgbClr val="000000"/>
                </a:solidFill>
                <a:latin typeface="Open Sauce"/>
                <a:ea typeface="Open Sauce"/>
                <a:cs typeface="Open Sauce"/>
                <a:sym typeface="Open Sauce"/>
              </a:rPr>
              <a:t>Legal leeway</a:t>
            </a:r>
          </a:p>
        </p:txBody>
      </p:sp>
      <p:sp>
        <p:nvSpPr>
          <p:cNvPr id="9" name="TextBox 9"/>
          <p:cNvSpPr txBox="1"/>
          <p:nvPr/>
        </p:nvSpPr>
        <p:spPr>
          <a:xfrm>
            <a:off x="574358" y="542925"/>
            <a:ext cx="11303291"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Risks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2341887" y="2632478"/>
            <a:ext cx="13948719" cy="2472690"/>
          </a:xfrm>
          <a:prstGeom prst="rect">
            <a:avLst/>
          </a:prstGeom>
        </p:spPr>
        <p:txBody>
          <a:bodyPr wrap="square" lIns="0" tIns="0" rIns="0" bIns="0" rtlCol="0" anchor="t">
            <a:spAutoFit/>
          </a:bodyPr>
          <a:lstStyle/>
          <a:p>
            <a:pPr algn="ctr">
              <a:lnSpc>
                <a:spcPts val="20160"/>
              </a:lnSpc>
            </a:pPr>
            <a:r>
              <a:rPr lang="en-US" sz="14400" spc="-863" dirty="0">
                <a:solidFill>
                  <a:srgbClr val="000000"/>
                </a:solidFill>
                <a:latin typeface="Ablation"/>
                <a:ea typeface="Ablation"/>
                <a:cs typeface="Ablation"/>
                <a:sym typeface="Ablation"/>
              </a:rPr>
              <a:t>Thank You</a:t>
            </a:r>
          </a:p>
        </p:txBody>
      </p:sp>
      <p:sp>
        <p:nvSpPr>
          <p:cNvPr id="3" name="TextBox 3"/>
          <p:cNvSpPr txBox="1"/>
          <p:nvPr/>
        </p:nvSpPr>
        <p:spPr>
          <a:xfrm>
            <a:off x="3572944" y="5010377"/>
            <a:ext cx="11133439" cy="405765"/>
          </a:xfrm>
          <a:prstGeom prst="rect">
            <a:avLst/>
          </a:prstGeom>
        </p:spPr>
        <p:txBody>
          <a:bodyPr lIns="0" tIns="0" rIns="0" bIns="0" rtlCol="0" anchor="t">
            <a:spAutoFit/>
          </a:bodyPr>
          <a:lstStyle/>
          <a:p>
            <a:pPr algn="ctr">
              <a:lnSpc>
                <a:spcPts val="3359"/>
              </a:lnSpc>
            </a:pPr>
            <a:r>
              <a:rPr lang="en-US" sz="2400" b="1" spc="384" dirty="0">
                <a:solidFill>
                  <a:srgbClr val="000000"/>
                </a:solidFill>
                <a:latin typeface="Open Sauce Bold"/>
                <a:ea typeface="Open Sauce Bold"/>
                <a:cs typeface="Open Sauce Bold"/>
                <a:sym typeface="Open Sauce Bold"/>
              </a:rPr>
              <a:t>FOR LISTENING =)</a:t>
            </a:r>
          </a:p>
        </p:txBody>
      </p:sp>
      <p:grpSp>
        <p:nvGrpSpPr>
          <p:cNvPr id="4" name="Group 4"/>
          <p:cNvGrpSpPr/>
          <p:nvPr/>
        </p:nvGrpSpPr>
        <p:grpSpPr>
          <a:xfrm>
            <a:off x="6542724" y="5812007"/>
            <a:ext cx="5202552" cy="2347518"/>
            <a:chOff x="0" y="0"/>
            <a:chExt cx="6936736" cy="3130023"/>
          </a:xfrm>
        </p:grpSpPr>
        <p:sp>
          <p:nvSpPr>
            <p:cNvPr id="5" name="Freeform 5"/>
            <p:cNvSpPr/>
            <p:nvPr/>
          </p:nvSpPr>
          <p:spPr>
            <a:xfrm>
              <a:off x="39236" y="837537"/>
              <a:ext cx="6897500" cy="1261668"/>
            </a:xfrm>
            <a:custGeom>
              <a:avLst/>
              <a:gdLst/>
              <a:ahLst/>
              <a:cxnLst/>
              <a:rect l="l" t="t" r="r" b="b"/>
              <a:pathLst>
                <a:path w="6897500" h="1261668">
                  <a:moveTo>
                    <a:pt x="0" y="0"/>
                  </a:moveTo>
                  <a:lnTo>
                    <a:pt x="6897500" y="0"/>
                  </a:lnTo>
                  <a:lnTo>
                    <a:pt x="6897500" y="1261668"/>
                  </a:lnTo>
                  <a:lnTo>
                    <a:pt x="0" y="12616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AutoShape 6"/>
            <p:cNvSpPr/>
            <p:nvPr/>
          </p:nvSpPr>
          <p:spPr>
            <a:xfrm>
              <a:off x="445427" y="2575659"/>
              <a:ext cx="2613892" cy="564"/>
            </a:xfrm>
            <a:prstGeom prst="line">
              <a:avLst/>
            </a:prstGeom>
            <a:ln w="50800" cap="flat">
              <a:solidFill>
                <a:srgbClr val="000000"/>
              </a:solidFill>
              <a:prstDash val="solid"/>
              <a:headEnd type="none" w="sm" len="sm"/>
              <a:tailEnd type="none" w="sm" len="sm"/>
            </a:ln>
          </p:spPr>
          <p:txBody>
            <a:bodyPr/>
            <a:lstStyle/>
            <a:p>
              <a:endParaRPr lang="en-US"/>
            </a:p>
          </p:txBody>
        </p:sp>
        <p:sp>
          <p:nvSpPr>
            <p:cNvPr id="7" name="AutoShape 7"/>
            <p:cNvSpPr/>
            <p:nvPr/>
          </p:nvSpPr>
          <p:spPr>
            <a:xfrm>
              <a:off x="2742005" y="2576224"/>
              <a:ext cx="634628" cy="0"/>
            </a:xfrm>
            <a:prstGeom prst="line">
              <a:avLst/>
            </a:prstGeom>
            <a:ln w="50800" cap="flat">
              <a:solidFill>
                <a:srgbClr val="000000"/>
              </a:solidFill>
              <a:prstDash val="solid"/>
              <a:headEnd type="none" w="sm" len="sm"/>
              <a:tailEnd type="none" w="sm" len="sm"/>
            </a:ln>
          </p:spPr>
          <p:txBody>
            <a:bodyPr/>
            <a:lstStyle/>
            <a:p>
              <a:endParaRPr lang="en-US"/>
            </a:p>
          </p:txBody>
        </p:sp>
        <p:sp>
          <p:nvSpPr>
            <p:cNvPr id="8" name="AutoShape 8"/>
            <p:cNvSpPr/>
            <p:nvPr/>
          </p:nvSpPr>
          <p:spPr>
            <a:xfrm flipH="1">
              <a:off x="3462586" y="2355745"/>
              <a:ext cx="0" cy="384430"/>
            </a:xfrm>
            <a:prstGeom prst="line">
              <a:avLst/>
            </a:prstGeom>
            <a:ln w="50800" cap="flat">
              <a:solidFill>
                <a:srgbClr val="000000"/>
              </a:solidFill>
              <a:prstDash val="solid"/>
              <a:headEnd type="none" w="sm" len="sm"/>
              <a:tailEnd type="none" w="sm" len="sm"/>
            </a:ln>
          </p:spPr>
          <p:txBody>
            <a:bodyPr/>
            <a:lstStyle/>
            <a:p>
              <a:endParaRPr lang="en-US"/>
            </a:p>
          </p:txBody>
        </p:sp>
        <p:sp>
          <p:nvSpPr>
            <p:cNvPr id="9" name="AutoShape 9"/>
            <p:cNvSpPr/>
            <p:nvPr/>
          </p:nvSpPr>
          <p:spPr>
            <a:xfrm>
              <a:off x="3564186" y="2576224"/>
              <a:ext cx="1649393" cy="0"/>
            </a:xfrm>
            <a:prstGeom prst="line">
              <a:avLst/>
            </a:prstGeom>
            <a:ln w="50800" cap="flat">
              <a:solidFill>
                <a:srgbClr val="000000"/>
              </a:solidFill>
              <a:prstDash val="solid"/>
              <a:headEnd type="none" w="sm" len="sm"/>
              <a:tailEnd type="none" w="sm" len="sm"/>
            </a:ln>
          </p:spPr>
          <p:txBody>
            <a:bodyPr/>
            <a:lstStyle/>
            <a:p>
              <a:endParaRPr lang="en-US"/>
            </a:p>
          </p:txBody>
        </p:sp>
        <p:sp>
          <p:nvSpPr>
            <p:cNvPr id="10" name="AutoShape 10"/>
            <p:cNvSpPr/>
            <p:nvPr/>
          </p:nvSpPr>
          <p:spPr>
            <a:xfrm>
              <a:off x="5315179" y="2135475"/>
              <a:ext cx="0" cy="604700"/>
            </a:xfrm>
            <a:prstGeom prst="line">
              <a:avLst/>
            </a:prstGeom>
            <a:ln w="50800" cap="flat">
              <a:solidFill>
                <a:srgbClr val="000000"/>
              </a:solidFill>
              <a:prstDash val="solid"/>
              <a:headEnd type="none" w="sm" len="sm"/>
              <a:tailEnd type="none" w="sm" len="sm"/>
            </a:ln>
          </p:spPr>
          <p:txBody>
            <a:bodyPr/>
            <a:lstStyle/>
            <a:p>
              <a:endParaRPr lang="en-US"/>
            </a:p>
          </p:txBody>
        </p:sp>
        <p:sp>
          <p:nvSpPr>
            <p:cNvPr id="11" name="AutoShape 11"/>
            <p:cNvSpPr/>
            <p:nvPr/>
          </p:nvSpPr>
          <p:spPr>
            <a:xfrm flipV="1">
              <a:off x="5416779" y="2576224"/>
              <a:ext cx="1519957" cy="0"/>
            </a:xfrm>
            <a:prstGeom prst="line">
              <a:avLst/>
            </a:prstGeom>
            <a:ln w="50800" cap="flat">
              <a:solidFill>
                <a:srgbClr val="000000"/>
              </a:solidFill>
              <a:prstDash val="solid"/>
              <a:headEnd type="none" w="sm" len="sm"/>
              <a:tailEnd type="none" w="sm" len="sm"/>
            </a:ln>
          </p:spPr>
          <p:txBody>
            <a:bodyPr/>
            <a:lstStyle/>
            <a:p>
              <a:endParaRPr lang="en-US"/>
            </a:p>
          </p:txBody>
        </p:sp>
        <p:sp>
          <p:nvSpPr>
            <p:cNvPr id="12" name="AutoShape 12"/>
            <p:cNvSpPr/>
            <p:nvPr/>
          </p:nvSpPr>
          <p:spPr>
            <a:xfrm flipH="1">
              <a:off x="1814905" y="2355745"/>
              <a:ext cx="0" cy="117374"/>
            </a:xfrm>
            <a:prstGeom prst="line">
              <a:avLst/>
            </a:prstGeom>
            <a:ln w="50800" cap="flat">
              <a:solidFill>
                <a:srgbClr val="000000"/>
              </a:solidFill>
              <a:prstDash val="solid"/>
              <a:headEnd type="none" w="sm" len="sm"/>
              <a:tailEnd type="none" w="sm" len="sm"/>
            </a:ln>
          </p:spPr>
          <p:txBody>
            <a:bodyPr/>
            <a:lstStyle/>
            <a:p>
              <a:endParaRPr lang="en-US"/>
            </a:p>
          </p:txBody>
        </p:sp>
        <p:sp>
          <p:nvSpPr>
            <p:cNvPr id="13" name="AutoShape 13"/>
            <p:cNvSpPr/>
            <p:nvPr/>
          </p:nvSpPr>
          <p:spPr>
            <a:xfrm flipH="1">
              <a:off x="1814905" y="2677824"/>
              <a:ext cx="0" cy="452200"/>
            </a:xfrm>
            <a:prstGeom prst="line">
              <a:avLst/>
            </a:prstGeom>
            <a:ln w="50800" cap="flat">
              <a:solidFill>
                <a:srgbClr val="000000"/>
              </a:solidFill>
              <a:prstDash val="solid"/>
              <a:headEnd type="none" w="sm" len="sm"/>
              <a:tailEnd type="none" w="sm" len="sm"/>
            </a:ln>
          </p:spPr>
          <p:txBody>
            <a:bodyPr/>
            <a:lstStyle/>
            <a:p>
              <a:endParaRPr lang="en-US"/>
            </a:p>
          </p:txBody>
        </p:sp>
        <p:sp>
          <p:nvSpPr>
            <p:cNvPr id="14" name="AutoShape 14"/>
            <p:cNvSpPr/>
            <p:nvPr/>
          </p:nvSpPr>
          <p:spPr>
            <a:xfrm>
              <a:off x="348523" y="2355745"/>
              <a:ext cx="0" cy="384430"/>
            </a:xfrm>
            <a:prstGeom prst="line">
              <a:avLst/>
            </a:prstGeom>
            <a:ln w="50800" cap="flat">
              <a:solidFill>
                <a:srgbClr val="000000"/>
              </a:solidFill>
              <a:prstDash val="solid"/>
              <a:headEnd type="none" w="sm" len="sm"/>
              <a:tailEnd type="none" w="sm" len="sm"/>
            </a:ln>
          </p:spPr>
          <p:txBody>
            <a:bodyPr/>
            <a:lstStyle/>
            <a:p>
              <a:endParaRPr lang="en-US"/>
            </a:p>
          </p:txBody>
        </p:sp>
        <p:sp>
          <p:nvSpPr>
            <p:cNvPr id="15" name="AutoShape 15"/>
            <p:cNvSpPr/>
            <p:nvPr/>
          </p:nvSpPr>
          <p:spPr>
            <a:xfrm>
              <a:off x="0" y="2576224"/>
              <a:ext cx="255424" cy="0"/>
            </a:xfrm>
            <a:prstGeom prst="line">
              <a:avLst/>
            </a:prstGeom>
            <a:ln w="50800" cap="flat">
              <a:solidFill>
                <a:srgbClr val="000000"/>
              </a:solidFill>
              <a:prstDash val="solid"/>
              <a:headEnd type="none" w="sm" len="sm"/>
              <a:tailEnd type="none" w="sm" len="sm"/>
            </a:ln>
          </p:spPr>
          <p:txBody>
            <a:bodyPr/>
            <a:lstStyle/>
            <a:p>
              <a:endParaRPr lang="en-US"/>
            </a:p>
          </p:txBody>
        </p:sp>
        <p:sp>
          <p:nvSpPr>
            <p:cNvPr id="16" name="AutoShape 16"/>
            <p:cNvSpPr/>
            <p:nvPr/>
          </p:nvSpPr>
          <p:spPr>
            <a:xfrm flipH="1">
              <a:off x="1374319" y="2135475"/>
              <a:ext cx="0" cy="337643"/>
            </a:xfrm>
            <a:prstGeom prst="line">
              <a:avLst/>
            </a:prstGeom>
            <a:ln w="50800" cap="flat">
              <a:solidFill>
                <a:srgbClr val="000000"/>
              </a:solidFill>
              <a:prstDash val="solid"/>
              <a:headEnd type="none" w="sm" len="sm"/>
              <a:tailEnd type="none" w="sm" len="sm"/>
            </a:ln>
          </p:spPr>
          <p:txBody>
            <a:bodyPr/>
            <a:lstStyle/>
            <a:p>
              <a:endParaRPr lang="en-US"/>
            </a:p>
          </p:txBody>
        </p:sp>
        <p:sp>
          <p:nvSpPr>
            <p:cNvPr id="17" name="AutoShape 17"/>
            <p:cNvSpPr/>
            <p:nvPr/>
          </p:nvSpPr>
          <p:spPr>
            <a:xfrm flipH="1">
              <a:off x="1374319" y="2677824"/>
              <a:ext cx="0" cy="452200"/>
            </a:xfrm>
            <a:prstGeom prst="line">
              <a:avLst/>
            </a:prstGeom>
            <a:ln w="50800" cap="flat">
              <a:solidFill>
                <a:srgbClr val="000000"/>
              </a:solidFill>
              <a:prstDash val="solid"/>
              <a:headEnd type="none" w="sm" len="sm"/>
              <a:tailEnd type="none" w="sm" len="sm"/>
            </a:ln>
          </p:spPr>
          <p:txBody>
            <a:bodyPr/>
            <a:lstStyle/>
            <a:p>
              <a:endParaRPr lang="en-US"/>
            </a:p>
          </p:txBody>
        </p:sp>
        <p:sp>
          <p:nvSpPr>
            <p:cNvPr id="18" name="AutoShape 18"/>
            <p:cNvSpPr/>
            <p:nvPr/>
          </p:nvSpPr>
          <p:spPr>
            <a:xfrm>
              <a:off x="4229151" y="2135475"/>
              <a:ext cx="0" cy="47024"/>
            </a:xfrm>
            <a:prstGeom prst="line">
              <a:avLst/>
            </a:prstGeom>
            <a:ln w="50800" cap="flat">
              <a:solidFill>
                <a:srgbClr val="000000"/>
              </a:solidFill>
              <a:prstDash val="solid"/>
              <a:headEnd type="none" w="sm" len="sm"/>
              <a:tailEnd type="none" w="sm" len="sm"/>
            </a:ln>
          </p:spPr>
          <p:txBody>
            <a:bodyPr/>
            <a:lstStyle/>
            <a:p>
              <a:endParaRPr lang="en-US"/>
            </a:p>
          </p:txBody>
        </p:sp>
        <p:sp>
          <p:nvSpPr>
            <p:cNvPr id="19" name="AutoShape 19"/>
            <p:cNvSpPr/>
            <p:nvPr/>
          </p:nvSpPr>
          <p:spPr>
            <a:xfrm>
              <a:off x="4229151" y="2646648"/>
              <a:ext cx="0" cy="483376"/>
            </a:xfrm>
            <a:prstGeom prst="line">
              <a:avLst/>
            </a:prstGeom>
            <a:ln w="50800" cap="flat">
              <a:solidFill>
                <a:srgbClr val="000000"/>
              </a:solidFill>
              <a:prstDash val="solid"/>
              <a:headEnd type="none" w="sm" len="sm"/>
              <a:tailEnd type="none" w="sm" len="sm"/>
            </a:ln>
          </p:spPr>
          <p:txBody>
            <a:bodyPr/>
            <a:lstStyle/>
            <a:p>
              <a:endParaRPr lang="en-US"/>
            </a:p>
          </p:txBody>
        </p:sp>
        <p:sp>
          <p:nvSpPr>
            <p:cNvPr id="20" name="AutoShape 20"/>
            <p:cNvSpPr/>
            <p:nvPr/>
          </p:nvSpPr>
          <p:spPr>
            <a:xfrm>
              <a:off x="5" y="2839282"/>
              <a:ext cx="1268067" cy="0"/>
            </a:xfrm>
            <a:prstGeom prst="line">
              <a:avLst/>
            </a:prstGeom>
            <a:ln w="50800" cap="flat">
              <a:solidFill>
                <a:srgbClr val="000000"/>
              </a:solidFill>
              <a:prstDash val="solid"/>
              <a:headEnd type="none" w="sm" len="sm"/>
              <a:tailEnd type="none" w="sm" len="sm"/>
            </a:ln>
          </p:spPr>
          <p:txBody>
            <a:bodyPr/>
            <a:lstStyle/>
            <a:p>
              <a:endParaRPr lang="en-US"/>
            </a:p>
          </p:txBody>
        </p:sp>
        <p:sp>
          <p:nvSpPr>
            <p:cNvPr id="21" name="AutoShape 21"/>
            <p:cNvSpPr/>
            <p:nvPr/>
          </p:nvSpPr>
          <p:spPr>
            <a:xfrm>
              <a:off x="348523" y="2941447"/>
              <a:ext cx="0" cy="188577"/>
            </a:xfrm>
            <a:prstGeom prst="line">
              <a:avLst/>
            </a:prstGeom>
            <a:ln w="50800" cap="flat">
              <a:solidFill>
                <a:srgbClr val="000000"/>
              </a:solidFill>
              <a:prstDash val="solid"/>
              <a:headEnd type="none" w="sm" len="sm"/>
              <a:tailEnd type="none" w="sm" len="sm"/>
            </a:ln>
          </p:spPr>
          <p:txBody>
            <a:bodyPr/>
            <a:lstStyle/>
            <a:p>
              <a:endParaRPr lang="en-US"/>
            </a:p>
          </p:txBody>
        </p:sp>
        <p:sp>
          <p:nvSpPr>
            <p:cNvPr id="22" name="AutoShape 22"/>
            <p:cNvSpPr/>
            <p:nvPr/>
          </p:nvSpPr>
          <p:spPr>
            <a:xfrm>
              <a:off x="1475919" y="2839282"/>
              <a:ext cx="232322" cy="0"/>
            </a:xfrm>
            <a:prstGeom prst="line">
              <a:avLst/>
            </a:prstGeom>
            <a:ln w="50800" cap="flat">
              <a:solidFill>
                <a:srgbClr val="000000"/>
              </a:solidFill>
              <a:prstDash val="solid"/>
              <a:headEnd type="none" w="sm" len="sm"/>
              <a:tailEnd type="none" w="sm" len="sm"/>
            </a:ln>
          </p:spPr>
          <p:txBody>
            <a:bodyPr/>
            <a:lstStyle/>
            <a:p>
              <a:endParaRPr lang="en-US"/>
            </a:p>
          </p:txBody>
        </p:sp>
        <p:sp>
          <p:nvSpPr>
            <p:cNvPr id="23" name="AutoShape 23"/>
            <p:cNvSpPr/>
            <p:nvPr/>
          </p:nvSpPr>
          <p:spPr>
            <a:xfrm>
              <a:off x="1916505" y="2839282"/>
              <a:ext cx="2207911" cy="0"/>
            </a:xfrm>
            <a:prstGeom prst="line">
              <a:avLst/>
            </a:prstGeom>
            <a:ln w="50800" cap="flat">
              <a:solidFill>
                <a:srgbClr val="000000"/>
              </a:solidFill>
              <a:prstDash val="solid"/>
              <a:headEnd type="none" w="sm" len="sm"/>
              <a:tailEnd type="none" w="sm" len="sm"/>
            </a:ln>
          </p:spPr>
          <p:txBody>
            <a:bodyPr/>
            <a:lstStyle/>
            <a:p>
              <a:endParaRPr lang="en-US"/>
            </a:p>
          </p:txBody>
        </p:sp>
        <p:sp>
          <p:nvSpPr>
            <p:cNvPr id="24" name="AutoShape 24"/>
            <p:cNvSpPr/>
            <p:nvPr/>
          </p:nvSpPr>
          <p:spPr>
            <a:xfrm>
              <a:off x="3462586" y="2940882"/>
              <a:ext cx="0" cy="189141"/>
            </a:xfrm>
            <a:prstGeom prst="line">
              <a:avLst/>
            </a:prstGeom>
            <a:ln w="50800" cap="flat">
              <a:solidFill>
                <a:srgbClr val="000000"/>
              </a:solidFill>
              <a:prstDash val="solid"/>
              <a:headEnd type="none" w="sm" len="sm"/>
              <a:tailEnd type="none" w="sm" len="sm"/>
            </a:ln>
          </p:spPr>
          <p:txBody>
            <a:bodyPr/>
            <a:lstStyle/>
            <a:p>
              <a:endParaRPr lang="en-US"/>
            </a:p>
          </p:txBody>
        </p:sp>
        <p:sp>
          <p:nvSpPr>
            <p:cNvPr id="25" name="AutoShape 25"/>
            <p:cNvSpPr/>
            <p:nvPr/>
          </p:nvSpPr>
          <p:spPr>
            <a:xfrm>
              <a:off x="4330751" y="2839282"/>
              <a:ext cx="2605985" cy="0"/>
            </a:xfrm>
            <a:prstGeom prst="line">
              <a:avLst/>
            </a:prstGeom>
            <a:ln w="50800" cap="flat">
              <a:solidFill>
                <a:srgbClr val="000000"/>
              </a:solidFill>
              <a:prstDash val="solid"/>
              <a:headEnd type="none" w="sm" len="sm"/>
              <a:tailEnd type="none" w="sm" len="sm"/>
            </a:ln>
          </p:spPr>
          <p:txBody>
            <a:bodyPr/>
            <a:lstStyle/>
            <a:p>
              <a:endParaRPr lang="en-US"/>
            </a:p>
          </p:txBody>
        </p:sp>
        <p:sp>
          <p:nvSpPr>
            <p:cNvPr id="26" name="AutoShape 26"/>
            <p:cNvSpPr/>
            <p:nvPr/>
          </p:nvSpPr>
          <p:spPr>
            <a:xfrm>
              <a:off x="5315179" y="2902782"/>
              <a:ext cx="0" cy="227241"/>
            </a:xfrm>
            <a:prstGeom prst="line">
              <a:avLst/>
            </a:prstGeom>
            <a:ln w="50800" cap="flat">
              <a:solidFill>
                <a:srgbClr val="000000"/>
              </a:solidFill>
              <a:prstDash val="solid"/>
              <a:headEnd type="none" w="sm" len="sm"/>
              <a:tailEnd type="none" w="sm" len="sm"/>
            </a:ln>
          </p:spPr>
          <p:txBody>
            <a:bodyPr/>
            <a:lstStyle/>
            <a:p>
              <a:endParaRPr lang="en-US"/>
            </a:p>
          </p:txBody>
        </p:sp>
        <p:sp>
          <p:nvSpPr>
            <p:cNvPr id="27" name="AutoShape 27"/>
            <p:cNvSpPr/>
            <p:nvPr/>
          </p:nvSpPr>
          <p:spPr>
            <a:xfrm>
              <a:off x="11" y="2271399"/>
              <a:ext cx="1268062" cy="0"/>
            </a:xfrm>
            <a:prstGeom prst="line">
              <a:avLst/>
            </a:prstGeom>
            <a:ln w="50800" cap="flat">
              <a:solidFill>
                <a:srgbClr val="000000"/>
              </a:solidFill>
              <a:prstDash val="solid"/>
              <a:headEnd type="none" w="sm" len="sm"/>
              <a:tailEnd type="none" w="sm" len="sm"/>
            </a:ln>
          </p:spPr>
          <p:txBody>
            <a:bodyPr/>
            <a:lstStyle/>
            <a:p>
              <a:endParaRPr lang="en-US"/>
            </a:p>
          </p:txBody>
        </p:sp>
        <p:sp>
          <p:nvSpPr>
            <p:cNvPr id="28" name="AutoShape 28"/>
            <p:cNvSpPr/>
            <p:nvPr/>
          </p:nvSpPr>
          <p:spPr>
            <a:xfrm>
              <a:off x="348523" y="2135475"/>
              <a:ext cx="0" cy="47024"/>
            </a:xfrm>
            <a:prstGeom prst="line">
              <a:avLst/>
            </a:prstGeom>
            <a:ln w="50800" cap="flat">
              <a:solidFill>
                <a:srgbClr val="000000"/>
              </a:solidFill>
              <a:prstDash val="solid"/>
              <a:headEnd type="none" w="sm" len="sm"/>
              <a:tailEnd type="none" w="sm" len="sm"/>
            </a:ln>
          </p:spPr>
          <p:txBody>
            <a:bodyPr/>
            <a:lstStyle/>
            <a:p>
              <a:endParaRPr lang="en-US"/>
            </a:p>
          </p:txBody>
        </p:sp>
        <p:sp>
          <p:nvSpPr>
            <p:cNvPr id="29" name="AutoShape 29"/>
            <p:cNvSpPr/>
            <p:nvPr/>
          </p:nvSpPr>
          <p:spPr>
            <a:xfrm>
              <a:off x="1478451" y="2271399"/>
              <a:ext cx="3735128" cy="0"/>
            </a:xfrm>
            <a:prstGeom prst="line">
              <a:avLst/>
            </a:prstGeom>
            <a:ln w="50800" cap="flat">
              <a:solidFill>
                <a:srgbClr val="000000"/>
              </a:solidFill>
              <a:prstDash val="solid"/>
              <a:headEnd type="none" w="sm" len="sm"/>
              <a:tailEnd type="none" w="sm" len="sm"/>
            </a:ln>
          </p:spPr>
          <p:txBody>
            <a:bodyPr/>
            <a:lstStyle/>
            <a:p>
              <a:endParaRPr lang="en-US"/>
            </a:p>
          </p:txBody>
        </p:sp>
        <p:sp>
          <p:nvSpPr>
            <p:cNvPr id="30" name="AutoShape 30"/>
            <p:cNvSpPr/>
            <p:nvPr/>
          </p:nvSpPr>
          <p:spPr>
            <a:xfrm>
              <a:off x="1814905" y="2135475"/>
              <a:ext cx="0" cy="47024"/>
            </a:xfrm>
            <a:prstGeom prst="line">
              <a:avLst/>
            </a:prstGeom>
            <a:ln w="50800" cap="flat">
              <a:solidFill>
                <a:srgbClr val="000000"/>
              </a:solidFill>
              <a:prstDash val="solid"/>
              <a:headEnd type="none" w="sm" len="sm"/>
              <a:tailEnd type="none" w="sm" len="sm"/>
            </a:ln>
          </p:spPr>
          <p:txBody>
            <a:bodyPr/>
            <a:lstStyle/>
            <a:p>
              <a:endParaRPr lang="en-US"/>
            </a:p>
          </p:txBody>
        </p:sp>
        <p:sp>
          <p:nvSpPr>
            <p:cNvPr id="31" name="AutoShape 31"/>
            <p:cNvSpPr/>
            <p:nvPr/>
          </p:nvSpPr>
          <p:spPr>
            <a:xfrm>
              <a:off x="4229151" y="2355745"/>
              <a:ext cx="0" cy="117374"/>
            </a:xfrm>
            <a:prstGeom prst="line">
              <a:avLst/>
            </a:prstGeom>
            <a:ln w="50800" cap="flat">
              <a:solidFill>
                <a:srgbClr val="000000"/>
              </a:solidFill>
              <a:prstDash val="solid"/>
              <a:headEnd type="none" w="sm" len="sm"/>
              <a:tailEnd type="none" w="sm" len="sm"/>
            </a:ln>
          </p:spPr>
          <p:txBody>
            <a:bodyPr/>
            <a:lstStyle/>
            <a:p>
              <a:endParaRPr lang="en-US"/>
            </a:p>
          </p:txBody>
        </p:sp>
        <p:sp>
          <p:nvSpPr>
            <p:cNvPr id="32" name="AutoShape 32"/>
            <p:cNvSpPr/>
            <p:nvPr/>
          </p:nvSpPr>
          <p:spPr>
            <a:xfrm>
              <a:off x="5416779" y="2271399"/>
              <a:ext cx="604520" cy="0"/>
            </a:xfrm>
            <a:prstGeom prst="line">
              <a:avLst/>
            </a:prstGeom>
            <a:ln w="50800" cap="flat">
              <a:solidFill>
                <a:srgbClr val="000000"/>
              </a:solidFill>
              <a:prstDash val="solid"/>
              <a:headEnd type="none" w="sm" len="sm"/>
              <a:tailEnd type="none" w="sm" len="sm"/>
            </a:ln>
          </p:spPr>
          <p:txBody>
            <a:bodyPr/>
            <a:lstStyle/>
            <a:p>
              <a:endParaRPr lang="en-US"/>
            </a:p>
          </p:txBody>
        </p:sp>
        <p:sp>
          <p:nvSpPr>
            <p:cNvPr id="33" name="AutoShape 33"/>
            <p:cNvSpPr/>
            <p:nvPr/>
          </p:nvSpPr>
          <p:spPr>
            <a:xfrm>
              <a:off x="3462586" y="2135475"/>
              <a:ext cx="0" cy="47024"/>
            </a:xfrm>
            <a:prstGeom prst="line">
              <a:avLst/>
            </a:prstGeom>
            <a:ln w="50800" cap="flat">
              <a:solidFill>
                <a:srgbClr val="000000"/>
              </a:solidFill>
              <a:prstDash val="solid"/>
              <a:headEnd type="none" w="sm" len="sm"/>
              <a:tailEnd type="none" w="sm" len="sm"/>
            </a:ln>
          </p:spPr>
          <p:txBody>
            <a:bodyPr/>
            <a:lstStyle/>
            <a:p>
              <a:endParaRPr lang="en-US"/>
            </a:p>
          </p:txBody>
        </p:sp>
        <p:sp>
          <p:nvSpPr>
            <p:cNvPr id="34" name="AutoShape 34"/>
            <p:cNvSpPr/>
            <p:nvPr/>
          </p:nvSpPr>
          <p:spPr>
            <a:xfrm flipH="1">
              <a:off x="6122899" y="2646648"/>
              <a:ext cx="0" cy="93528"/>
            </a:xfrm>
            <a:prstGeom prst="line">
              <a:avLst/>
            </a:prstGeom>
            <a:ln w="50800" cap="flat">
              <a:solidFill>
                <a:srgbClr val="000000"/>
              </a:solidFill>
              <a:prstDash val="solid"/>
              <a:headEnd type="none" w="sm" len="sm"/>
              <a:tailEnd type="none" w="sm" len="sm"/>
            </a:ln>
          </p:spPr>
          <p:txBody>
            <a:bodyPr/>
            <a:lstStyle/>
            <a:p>
              <a:endParaRPr lang="en-US"/>
            </a:p>
          </p:txBody>
        </p:sp>
        <p:sp>
          <p:nvSpPr>
            <p:cNvPr id="35" name="AutoShape 35"/>
            <p:cNvSpPr/>
            <p:nvPr/>
          </p:nvSpPr>
          <p:spPr>
            <a:xfrm>
              <a:off x="6122899" y="2135475"/>
              <a:ext cx="0" cy="337643"/>
            </a:xfrm>
            <a:prstGeom prst="line">
              <a:avLst/>
            </a:prstGeom>
            <a:ln w="50800" cap="flat">
              <a:solidFill>
                <a:srgbClr val="000000"/>
              </a:solidFill>
              <a:prstDash val="solid"/>
              <a:headEnd type="none" w="sm" len="sm"/>
              <a:tailEnd type="none" w="sm" len="sm"/>
            </a:ln>
          </p:spPr>
          <p:txBody>
            <a:bodyPr/>
            <a:lstStyle/>
            <a:p>
              <a:endParaRPr lang="en-US"/>
            </a:p>
          </p:txBody>
        </p:sp>
        <p:sp>
          <p:nvSpPr>
            <p:cNvPr id="36" name="AutoShape 36"/>
            <p:cNvSpPr/>
            <p:nvPr/>
          </p:nvSpPr>
          <p:spPr>
            <a:xfrm>
              <a:off x="6224499" y="2271399"/>
              <a:ext cx="712237" cy="0"/>
            </a:xfrm>
            <a:prstGeom prst="line">
              <a:avLst/>
            </a:prstGeom>
            <a:ln w="50800" cap="flat">
              <a:solidFill>
                <a:srgbClr val="000000"/>
              </a:solidFill>
              <a:prstDash val="solid"/>
              <a:headEnd type="none" w="sm" len="sm"/>
              <a:tailEnd type="none" w="sm" len="sm"/>
            </a:ln>
          </p:spPr>
          <p:txBody>
            <a:bodyPr/>
            <a:lstStyle/>
            <a:p>
              <a:endParaRPr lang="en-US"/>
            </a:p>
          </p:txBody>
        </p:sp>
        <p:sp>
          <p:nvSpPr>
            <p:cNvPr id="37" name="AutoShape 37"/>
            <p:cNvSpPr/>
            <p:nvPr/>
          </p:nvSpPr>
          <p:spPr>
            <a:xfrm>
              <a:off x="6122899" y="2902782"/>
              <a:ext cx="0" cy="227241"/>
            </a:xfrm>
            <a:prstGeom prst="line">
              <a:avLst/>
            </a:prstGeom>
            <a:ln w="50800" cap="flat">
              <a:solidFill>
                <a:srgbClr val="000000"/>
              </a:solidFill>
              <a:prstDash val="solid"/>
              <a:headEnd type="none" w="sm" len="sm"/>
              <a:tailEnd type="none" w="sm" len="sm"/>
            </a:ln>
          </p:spPr>
          <p:txBody>
            <a:bodyPr/>
            <a:lstStyle/>
            <a:p>
              <a:endParaRPr lang="en-US"/>
            </a:p>
          </p:txBody>
        </p:sp>
        <p:sp>
          <p:nvSpPr>
            <p:cNvPr id="38" name="Freeform 38"/>
            <p:cNvSpPr/>
            <p:nvPr/>
          </p:nvSpPr>
          <p:spPr>
            <a:xfrm>
              <a:off x="2099108" y="0"/>
              <a:ext cx="426825" cy="1042783"/>
            </a:xfrm>
            <a:custGeom>
              <a:avLst/>
              <a:gdLst/>
              <a:ahLst/>
              <a:cxnLst/>
              <a:rect l="l" t="t" r="r" b="b"/>
              <a:pathLst>
                <a:path w="426825" h="1042783">
                  <a:moveTo>
                    <a:pt x="0" y="0"/>
                  </a:moveTo>
                  <a:lnTo>
                    <a:pt x="426825" y="0"/>
                  </a:lnTo>
                  <a:lnTo>
                    <a:pt x="426825" y="1042783"/>
                  </a:lnTo>
                  <a:lnTo>
                    <a:pt x="0" y="1042783"/>
                  </a:lnTo>
                  <a:lnTo>
                    <a:pt x="0" y="0"/>
                  </a:lnTo>
                  <a:close/>
                </a:path>
              </a:pathLst>
            </a:custGeom>
            <a:blipFill>
              <a:blip r:embed="rId4">
                <a:extLst>
                  <a:ext uri="{96DAC541-7B7A-43D3-8B79-37D633B846F1}">
                    <asvg:svgBlip xmlns:asvg="http://schemas.microsoft.com/office/drawing/2016/SVG/main" r:embed="rId5"/>
                  </a:ext>
                </a:extLst>
              </a:blip>
              <a:stretch>
                <a:fillRect t="-33086" r="-225146"/>
              </a:stretch>
            </a:blipFill>
          </p:spPr>
          <p:txBody>
            <a:bodyPr/>
            <a:lstStyle/>
            <a:p>
              <a:endParaRPr lang="en-US"/>
            </a:p>
          </p:txBody>
        </p:sp>
        <p:sp>
          <p:nvSpPr>
            <p:cNvPr id="39" name="Freeform 39"/>
            <p:cNvSpPr/>
            <p:nvPr/>
          </p:nvSpPr>
          <p:spPr>
            <a:xfrm>
              <a:off x="687053" y="242091"/>
              <a:ext cx="826348" cy="1190893"/>
            </a:xfrm>
            <a:custGeom>
              <a:avLst/>
              <a:gdLst/>
              <a:ahLst/>
              <a:cxnLst/>
              <a:rect l="l" t="t" r="r" b="b"/>
              <a:pathLst>
                <a:path w="826348" h="1190893">
                  <a:moveTo>
                    <a:pt x="0" y="0"/>
                  </a:moveTo>
                  <a:lnTo>
                    <a:pt x="826347" y="0"/>
                  </a:lnTo>
                  <a:lnTo>
                    <a:pt x="826347" y="1190893"/>
                  </a:lnTo>
                  <a:lnTo>
                    <a:pt x="0" y="1190893"/>
                  </a:lnTo>
                  <a:lnTo>
                    <a:pt x="0" y="0"/>
                  </a:lnTo>
                  <a:close/>
                </a:path>
              </a:pathLst>
            </a:custGeom>
            <a:blipFill>
              <a:blip r:embed="rId6"/>
              <a:stretch>
                <a:fillRect l="-49730"/>
              </a:stretch>
            </a:blipFill>
          </p:spPr>
          <p:txBody>
            <a:bodyPr/>
            <a:lstStyle/>
            <a:p>
              <a:endParaRPr lang="en-US"/>
            </a:p>
          </p:txBody>
        </p:sp>
        <p:sp>
          <p:nvSpPr>
            <p:cNvPr id="40" name="Freeform 40"/>
            <p:cNvSpPr/>
            <p:nvPr/>
          </p:nvSpPr>
          <p:spPr>
            <a:xfrm>
              <a:off x="1635901" y="0"/>
              <a:ext cx="425647" cy="1387807"/>
            </a:xfrm>
            <a:custGeom>
              <a:avLst/>
              <a:gdLst/>
              <a:ahLst/>
              <a:cxnLst/>
              <a:rect l="l" t="t" r="r" b="b"/>
              <a:pathLst>
                <a:path w="425647" h="1387807">
                  <a:moveTo>
                    <a:pt x="0" y="0"/>
                  </a:moveTo>
                  <a:lnTo>
                    <a:pt x="425647" y="0"/>
                  </a:lnTo>
                  <a:lnTo>
                    <a:pt x="425647" y="1387807"/>
                  </a:lnTo>
                  <a:lnTo>
                    <a:pt x="0" y="1387807"/>
                  </a:lnTo>
                  <a:lnTo>
                    <a:pt x="0" y="0"/>
                  </a:lnTo>
                  <a:close/>
                </a:path>
              </a:pathLst>
            </a:custGeom>
            <a:blipFill>
              <a:blip r:embed="rId4">
                <a:extLst>
                  <a:ext uri="{96DAC541-7B7A-43D3-8B79-37D633B846F1}">
                    <asvg:svgBlip xmlns:asvg="http://schemas.microsoft.com/office/drawing/2016/SVG/main" r:embed="rId5"/>
                  </a:ext>
                </a:extLst>
              </a:blip>
              <a:stretch>
                <a:fillRect l="-226046"/>
              </a:stretch>
            </a:blipFill>
          </p:spPr>
          <p:txBody>
            <a:bodyPr/>
            <a:lstStyle/>
            <a:p>
              <a:endParaRPr lang="en-US"/>
            </a:p>
          </p:txBody>
        </p:sp>
        <p:sp>
          <p:nvSpPr>
            <p:cNvPr id="41" name="Freeform 41"/>
            <p:cNvSpPr/>
            <p:nvPr/>
          </p:nvSpPr>
          <p:spPr>
            <a:xfrm>
              <a:off x="5027928" y="277651"/>
              <a:ext cx="383635" cy="918250"/>
            </a:xfrm>
            <a:custGeom>
              <a:avLst/>
              <a:gdLst/>
              <a:ahLst/>
              <a:cxnLst/>
              <a:rect l="l" t="t" r="r" b="b"/>
              <a:pathLst>
                <a:path w="383635" h="918250">
                  <a:moveTo>
                    <a:pt x="0" y="0"/>
                  </a:moveTo>
                  <a:lnTo>
                    <a:pt x="383635" y="0"/>
                  </a:lnTo>
                  <a:lnTo>
                    <a:pt x="383635" y="918250"/>
                  </a:lnTo>
                  <a:lnTo>
                    <a:pt x="0" y="918250"/>
                  </a:lnTo>
                  <a:lnTo>
                    <a:pt x="0" y="0"/>
                  </a:lnTo>
                  <a:close/>
                </a:path>
              </a:pathLst>
            </a:custGeom>
            <a:blipFill>
              <a:blip r:embed="rId7">
                <a:extLst>
                  <a:ext uri="{96DAC541-7B7A-43D3-8B79-37D633B846F1}">
                    <asvg:svgBlip xmlns:asvg="http://schemas.microsoft.com/office/drawing/2016/SVG/main" r:embed="rId8"/>
                  </a:ext>
                </a:extLst>
              </a:blip>
              <a:stretch>
                <a:fillRect r="-229938"/>
              </a:stretch>
            </a:blipFill>
          </p:spPr>
          <p:txBody>
            <a:bodyPr/>
            <a:lstStyle/>
            <a:p>
              <a:endParaRPr lang="en-US"/>
            </a:p>
          </p:txBody>
        </p:sp>
        <p:sp>
          <p:nvSpPr>
            <p:cNvPr id="42" name="Freeform 42"/>
            <p:cNvSpPr/>
            <p:nvPr/>
          </p:nvSpPr>
          <p:spPr>
            <a:xfrm>
              <a:off x="4933948" y="277651"/>
              <a:ext cx="374123" cy="918250"/>
            </a:xfrm>
            <a:custGeom>
              <a:avLst/>
              <a:gdLst/>
              <a:ahLst/>
              <a:cxnLst/>
              <a:rect l="l" t="t" r="r" b="b"/>
              <a:pathLst>
                <a:path w="374123" h="918250">
                  <a:moveTo>
                    <a:pt x="0" y="0"/>
                  </a:moveTo>
                  <a:lnTo>
                    <a:pt x="374123" y="0"/>
                  </a:lnTo>
                  <a:lnTo>
                    <a:pt x="374123" y="918250"/>
                  </a:lnTo>
                  <a:lnTo>
                    <a:pt x="0" y="918250"/>
                  </a:lnTo>
                  <a:lnTo>
                    <a:pt x="0" y="0"/>
                  </a:lnTo>
                  <a:close/>
                </a:path>
              </a:pathLst>
            </a:custGeom>
            <a:blipFill>
              <a:blip r:embed="rId7">
                <a:extLst>
                  <a:ext uri="{96DAC541-7B7A-43D3-8B79-37D633B846F1}">
                    <asvg:svgBlip xmlns:asvg="http://schemas.microsoft.com/office/drawing/2016/SVG/main" r:embed="rId8"/>
                  </a:ext>
                </a:extLst>
              </a:blip>
              <a:stretch>
                <a:fillRect l="-238326"/>
              </a:stretch>
            </a:blipFill>
          </p:spPr>
          <p:txBody>
            <a:bodyPr/>
            <a:lstStyle/>
            <a:p>
              <a:endParaRPr lang="en-US"/>
            </a:p>
          </p:txBody>
        </p:sp>
        <p:sp>
          <p:nvSpPr>
            <p:cNvPr id="43" name="Freeform 43"/>
            <p:cNvSpPr/>
            <p:nvPr/>
          </p:nvSpPr>
          <p:spPr>
            <a:xfrm>
              <a:off x="3698030" y="477549"/>
              <a:ext cx="777372" cy="819070"/>
            </a:xfrm>
            <a:custGeom>
              <a:avLst/>
              <a:gdLst/>
              <a:ahLst/>
              <a:cxnLst/>
              <a:rect l="l" t="t" r="r" b="b"/>
              <a:pathLst>
                <a:path w="777372" h="819070">
                  <a:moveTo>
                    <a:pt x="0" y="0"/>
                  </a:moveTo>
                  <a:lnTo>
                    <a:pt x="777373" y="0"/>
                  </a:lnTo>
                  <a:lnTo>
                    <a:pt x="777373" y="819070"/>
                  </a:lnTo>
                  <a:lnTo>
                    <a:pt x="0" y="8190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4" name="Freeform 44"/>
            <p:cNvSpPr/>
            <p:nvPr/>
          </p:nvSpPr>
          <p:spPr>
            <a:xfrm>
              <a:off x="4488103" y="587210"/>
              <a:ext cx="426720" cy="918250"/>
            </a:xfrm>
            <a:custGeom>
              <a:avLst/>
              <a:gdLst/>
              <a:ahLst/>
              <a:cxnLst/>
              <a:rect l="l" t="t" r="r" b="b"/>
              <a:pathLst>
                <a:path w="426720" h="918250">
                  <a:moveTo>
                    <a:pt x="0" y="0"/>
                  </a:moveTo>
                  <a:lnTo>
                    <a:pt x="426720" y="0"/>
                  </a:lnTo>
                  <a:lnTo>
                    <a:pt x="426720" y="918250"/>
                  </a:lnTo>
                  <a:lnTo>
                    <a:pt x="0" y="918250"/>
                  </a:lnTo>
                  <a:lnTo>
                    <a:pt x="0" y="0"/>
                  </a:lnTo>
                  <a:close/>
                </a:path>
              </a:pathLst>
            </a:custGeom>
            <a:blipFill>
              <a:blip r:embed="rId7">
                <a:extLst>
                  <a:ext uri="{96DAC541-7B7A-43D3-8B79-37D633B846F1}">
                    <asvg:svgBlip xmlns:asvg="http://schemas.microsoft.com/office/drawing/2016/SVG/main" r:embed="rId8"/>
                  </a:ext>
                </a:extLst>
              </a:blip>
              <a:stretch>
                <a:fillRect l="-98236" r="-98388"/>
              </a:stretch>
            </a:blip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1709</Words>
  <Application>Microsoft Macintosh PowerPoint</Application>
  <PresentationFormat>Custom</PresentationFormat>
  <Paragraphs>203</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Open Sauce</vt:lpstr>
      <vt:lpstr>Open Sauce Bold</vt:lpstr>
      <vt:lpstr>Ablation</vt:lpstr>
      <vt:lpstr>Glacial Indifference</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SubterraView</dc:title>
  <cp:lastModifiedBy>Tran, Lena</cp:lastModifiedBy>
  <cp:revision>2</cp:revision>
  <dcterms:created xsi:type="dcterms:W3CDTF">2006-08-16T00:00:00Z</dcterms:created>
  <dcterms:modified xsi:type="dcterms:W3CDTF">2026-04-20T04:07:31Z</dcterms:modified>
  <dc:identifier>DAHHQqCNcw8</dc:identifier>
</cp:coreProperties>
</file>